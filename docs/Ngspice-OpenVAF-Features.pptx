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3.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AD82F49D-8935-5C7F-B68D-44FCD688D914}">
          <p14:sldIdLst>
            <p14:sldId id="256"/>
            <p14:sldId id="257"/>
            <p14:sldId id="258"/>
            <p14:sldId id="259"/>
            <p14:sldId id="260"/>
          </p14:sldIdLst>
        </p14:section>
        <p14:section name="Part 1 · openvaf-r" id="{D16D05A0-F8FA-588D-BB48-FC5C2236B6E2}">
          <p14:sldIdLst>
            <p14:sldId id="261"/>
            <p14:sldId id="262"/>
            <p14:sldId id="263"/>
            <p14:sldId id="264"/>
            <p14:sldId id="265"/>
            <p14:sldId id="266"/>
            <p14:sldId id="267"/>
            <p14:sldId id="268"/>
            <p14:sldId id="269"/>
          </p14:sldIdLst>
        </p14:section>
        <p14:section name="Part 2 · ngspice-46" id="{ED007827-684C-5494-A0CD-B6D43E6BBB06}">
          <p14:sldIdLst>
            <p14:sldId id="270"/>
            <p14:sldId id="271"/>
            <p14:sldId id="272"/>
            <p14:sldId id="273"/>
            <p14:sldId id="274"/>
            <p14:sldId id="275"/>
            <p14:sldId id="276"/>
            <p14:sldId id="277"/>
            <p14:sldId id="278"/>
            <p14:sldId id="279"/>
            <p14:sldId id="280"/>
            <p14:sldId id="281"/>
            <p14:sldId id="282"/>
            <p14:sldId id="283"/>
          </p14:sldIdLst>
        </p14:section>
        <p14:section name="Part 3 · Verification" id="{35B1FD2D-A584-5175-B0FA-5A1D00750D0D}">
          <p14:sldIdLst>
            <p14:sldId id="284"/>
            <p14:sldId id="285"/>
            <p14:sldId id="286"/>
            <p14:sldId id="287"/>
            <p14:sldId id="288"/>
            <p14:sldId id="289"/>
          </p14:sldIdLst>
        </p14:section>
        <p14:section name="Part 4 · Using it" id="{FDB62740-E468-5ABB-B6BF-4B1D218E1543}">
          <p14:sldIdLst>
            <p14:sldId id="290"/>
            <p14:sldId id="291"/>
            <p14:sldId id="292"/>
            <p14:sldId id="293"/>
            <p14:sldId id="294"/>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Enhancements</c:v>
                </c:pt>
              </c:strCache>
            </c:strRef>
          </c:tx>
          <c:dPt>
            <c:idx val="0"/>
            <c:spPr>
              <a:solidFill>
                <a:schemeClr val="accent1"/>
              </a:solidFill>
            </c:spPr>
          </c:dPt>
          <c:dPt>
            <c:idx val="1"/>
            <c:spPr>
              <a:solidFill>
                <a:schemeClr val="accent2"/>
              </a:solidFill>
            </c:spPr>
          </c:dPt>
          <c:dPt>
            <c:idx val="2"/>
            <c:spPr>
              <a:solidFill>
                <a:schemeClr val="accent2"/>
              </a:solidFill>
            </c:spPr>
          </c:dPt>
          <c:dPt>
            <c:idx val="3"/>
            <c:spPr>
              <a:solidFill>
                <a:schemeClr val="accent2"/>
              </a:solidFill>
            </c:spPr>
          </c:dPt>
          <c:dPt>
            <c:idx val="4"/>
            <c:spPr>
              <a:solidFill>
                <a:schemeClr val="accent2"/>
              </a:solidFill>
            </c:spPr>
          </c:dPt>
          <c:dPt>
            <c:idx val="5"/>
            <c:spPr>
              <a:solidFill>
                <a:schemeClr val="accent1"/>
              </a:solidFill>
            </c:spPr>
          </c:dPt>
          <c:dPt>
            <c:idx val="6"/>
            <c:spPr>
              <a:solidFill>
                <a:schemeClr val="accent2"/>
              </a:solidFill>
            </c:spPr>
          </c:dPt>
          <c:dPt>
            <c:idx val="7"/>
            <c:spPr>
              <a:solidFill>
                <a:schemeClr val="accent2"/>
              </a:solidFill>
            </c:spPr>
          </c:dPt>
          <c:dPt>
            <c:idx val="8"/>
            <c:spPr>
              <a:solidFill>
                <a:schemeClr val="accent1"/>
              </a:solidFill>
            </c:spPr>
          </c:dPt>
          <c:dPt>
            <c:idx val="9"/>
            <c:spPr>
              <a:solidFill>
                <a:schemeClr val="accent1"/>
              </a:solidFill>
            </c:spPr>
          </c:dPt>
          <c:dPt>
            <c:idx val="10"/>
            <c:spPr>
              <a:solidFill>
                <a:schemeClr val="accent1"/>
              </a:solidFill>
            </c:spPr>
          </c:dPt>
          <c:dPt>
            <c:idx val="11"/>
            <c:spPr>
              <a:solidFill>
                <a:schemeClr val="accent1"/>
              </a:solidFill>
            </c:spPr>
          </c:dPt>
          <c:dPt>
            <c:idx val="12"/>
            <c:spPr>
              <a:solidFill>
                <a:schemeClr val="accent2"/>
              </a:solidFill>
            </c:spPr>
          </c:dPt>
          <c:dPt>
            <c:idx val="13"/>
            <c:spPr>
              <a:solidFill>
                <a:schemeClr val="accent1"/>
              </a:solidFill>
            </c:spPr>
          </c:dPt>
          <c:dPt>
            <c:idx val="14"/>
            <c:spPr>
              <a:solidFill>
                <a:schemeClr val="accent2"/>
              </a:solidFill>
            </c:spPr>
          </c:dPt>
          <c:dPt>
            <c:idx val="15"/>
            <c:spPr>
              <a:solidFill>
                <a:schemeClr val="accent1"/>
              </a:solidFill>
            </c:spPr>
          </c:dPt>
          <c:dPt>
            <c:idx val="16"/>
            <c:spPr>
              <a:solidFill>
                <a:schemeClr val="accent1"/>
              </a:solidFill>
            </c:spPr>
          </c:dPt>
          <c:dPt>
            <c:idx val="17"/>
            <c:spPr>
              <a:solidFill>
                <a:schemeClr val="accent2"/>
              </a:solidFill>
            </c:spPr>
          </c:dPt>
          <c:dPt>
            <c:idx val="18"/>
            <c:spPr>
              <a:solidFill>
                <a:schemeClr val="accent2"/>
              </a:solidFill>
            </c:spPr>
          </c:dPt>
          <c:cat>
            <c:strRef>
              <c:f>Sheet1!$A$2:$A$20</c:f>
              <c:strCache>
                <c:ptCount val="19"/>
                <c:pt idx="0">
                  <c:v>Compiler correctness &amp; robustness</c:v>
                </c:pt>
                <c:pt idx="1">
                  <c:v>Workflow, docs &amp; benchmarks</c:v>
                </c:pt>
                <c:pt idx="2">
                  <c:v>Standard analyses</c:v>
                </c:pt>
                <c:pt idx="3">
                  <c:v>Statistical / variability / yield</c:v>
                </c:pt>
                <c:pt idx="4">
                  <c:v>RF / periodic steady state</c:v>
                </c:pt>
                <c:pt idx="5">
                  <c:v>Modules, parameters &amp; hierarchy</c:v>
                </c:pt>
                <c:pt idx="6">
                  <c:v>Optimization &amp; sweeps</c:v>
                </c:pt>
                <c:pt idx="7">
                  <c:v>Convergence &amp; integration</c:v>
                </c:pt>
                <c:pt idx="8">
                  <c:v>System tasks &amp; functions</c:v>
                </c:pt>
                <c:pt idx="9">
                  <c:v>Analog operators &amp; dynamics</c:v>
                </c:pt>
                <c:pt idx="10">
                  <c:v>Branches, nets &amp; ports</c:v>
                </c:pt>
                <c:pt idx="11">
                  <c:v>Operators, control flow &amp; preprocessor</c:v>
                </c:pt>
                <c:pt idx="12">
                  <c:v>KLU solver parity &amp; tuning</c:v>
                </c:pt>
                <c:pt idx="13">
                  <c:v>Arrays</c:v>
                </c:pt>
                <c:pt idx="14">
                  <c:v>Physics validation</c:v>
                </c:pt>
                <c:pt idx="15">
                  <c:v>Lookup tables</c:v>
                </c:pt>
                <c:pt idx="16">
                  <c:v>Noise modeling (Verilog-A)</c:v>
                </c:pt>
                <c:pt idx="17">
                  <c:v>Reliability / aging</c:v>
                </c:pt>
                <c:pt idx="18">
                  <c:v>Post-layout parasitics</c:v>
                </c:pt>
              </c:strCache>
            </c:strRef>
          </c:cat>
          <c:val>
            <c:numRef>
              <c:f>Sheet1!$B$2:$B$20</c:f>
              <c:numCache>
                <c:formatCode>General</c:formatCode>
                <c:ptCount val="19"/>
                <c:pt idx="0">
                  <c:v>310</c:v>
                </c:pt>
                <c:pt idx="1">
                  <c:v>91</c:v>
                </c:pt>
                <c:pt idx="2">
                  <c:v>84</c:v>
                </c:pt>
                <c:pt idx="3">
                  <c:v>63</c:v>
                </c:pt>
                <c:pt idx="4">
                  <c:v>62</c:v>
                </c:pt>
                <c:pt idx="5">
                  <c:v>56</c:v>
                </c:pt>
                <c:pt idx="6">
                  <c:v>49</c:v>
                </c:pt>
                <c:pt idx="7">
                  <c:v>43</c:v>
                </c:pt>
                <c:pt idx="8">
                  <c:v>35</c:v>
                </c:pt>
                <c:pt idx="9">
                  <c:v>32</c:v>
                </c:pt>
                <c:pt idx="10">
                  <c:v>18</c:v>
                </c:pt>
                <c:pt idx="11">
                  <c:v>16</c:v>
                </c:pt>
                <c:pt idx="12">
                  <c:v>16</c:v>
                </c:pt>
                <c:pt idx="13">
                  <c:v>11</c:v>
                </c:pt>
                <c:pt idx="14">
                  <c:v>11</c:v>
                </c:pt>
                <c:pt idx="15">
                  <c:v>6</c:v>
                </c:pt>
                <c:pt idx="16">
                  <c:v>5</c:v>
                </c:pt>
                <c:pt idx="17">
                  <c:v>3</c:v>
                </c:pt>
                <c:pt idx="18">
                  <c:v>2</c:v>
                </c:pt>
              </c:numCache>
            </c:numRef>
          </c:val>
        </c:ser>
        <c:dLbls>
          <c:txPr>
            <a:bodyPr/>
            <a:lstStyle/>
            <a:p>
              <a:pPr>
                <a:defRPr sz="1100" b="1">
                  <a:solidFill>
                    <a:schemeClr val="tx1"/>
                  </a:solidFill>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axMin"/>
        </c:scaling>
        <c:delete val="0"/>
        <c:axPos val="l"/>
        <c:majorTickMark val="out"/>
        <c:minorTickMark val="none"/>
        <c:tickLblPos val="nextTo"/>
        <c:spPr>
          <a:ln>
            <a:solidFill>
              <a:schemeClr val="bg2"/>
            </a:solidFill>
          </a:ln>
        </c:spPr>
        <c:txPr>
          <a:bodyPr/>
          <a:lstStyle/>
          <a:p>
            <a:pPr>
              <a:defRPr sz="1100"/>
            </a:pPr>
          </a:p>
        </c:txPr>
        <c:crossAx val="-2113994440"/>
        <c:crosses val="autoZero"/>
        <c:auto val="1"/>
        <c:lblAlgn val="ctr"/>
        <c:lblOffset val="100"/>
        <c:noMultiLvlLbl val="0"/>
      </c:catAx>
      <c:valAx>
        <c:axId val="-2113994440"/>
        <c:scaling>
          <c:max val="360.0"/>
        </c:scaling>
        <c:delete/>
        <c:axPos val="b"/>
        <c:majorTickMark val="out"/>
        <c:minorTickMark val="none"/>
        <c:tickLblPos val="nextTo"/>
        <c:crossAx val="-2068027336"/>
        <c:crosses val="autoZero"/>
      </c:valAx>
    </c:plotArea>
    <c:dispBlanksAs val="gap"/>
  </c:chart>
  <c:txPr>
    <a:bodyPr/>
    <a:lstStyle/>
    <a:p>
      <a:pPr>
        <a:defRPr sz="1100">
          <a:solidFill>
            <a:schemeClr val="tx1"/>
          </a:solidFill>
          <a:latin typeface="+mn-lt"/>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tour of every feature of the toolchain: the openvaf-r Verilog-A compiler and the ngspice-46 simulator, as extended by 908 enhancements. Each feature slide carries E-number chips; clicking a chip opens that enhancement's write-up on GitHub.</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openvaf-r compiles a Verilog-A file into an OSDI shared object whose residuals and Jacobians come from automatic differentiation. ngspice loads the object at run time with pre_osdi and simulates its instances, N devices, beside its built-in devices in every analysis. The two are a pair: this ngspice reads only openvaf-r objects (OSDI 0.7), and stock ngspice rejects them.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908 is the latest enhancement number; 903 write-ups exist because a few enhancements were written up together. The regression sweep has 596 verify suites, all passing at E-908. VA_TEST holds 124 .va files, of which 92 are standalone models; all compile.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Enhancements per feature area, from the live catalog (docs/index.html). Teal bars are compiler areas, orange bars simulator areas. An enhancement can sit in two areas, so the bars sum to 913 for 903 write-ups. Compiler correctness and robustness is the largest area by far: crash and hang fixes, wrong-answer fixes, corpus and LRM sweeps.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1 covers the compiler area by area, Part 2 the simulator, Part 3 how every feature is verified, and Part 4 how to start, what is out of scope and where to read more.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compiler targets Annex C of the Verilog-AMS LRM 2023, the analog-only subset. Because derivatives come from automatic differentiation, a construct only counts as supported when it produces correct derivatives as well as correct values.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Summary of docs/compliance/OpenVAF_Verilog-A_LRM_Compliance.md. Every entry is backed by a committed verify suite. Extensions beyond Annex C are warned; SPICE primitives cannot be instantiated from Verilog-A source (instantiate them in the netlist); digital and mixed-signal constructs are outside Annex C and are rejected with located diagnostics.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continuous-time operators of LRM 4.5 and the events of LRM 5.10. absdelay is solved as a synthetic-node DAE. transition and slew are the simulator's own ramps, scheduled from accepted changes of the input. A cross or above event now lands the time step on the interpolated crossing instead of the step grid (E-759).</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Hierarchy is resolved by a compile-time elaboration pass, after which the pipeline sees one flat module. Structure binds at compile time (generate, genvars, defparam, paramsets, bus widths); behaviour binds at simulation time. A paramset's own parameters are instance parameters, and an overloaded family is selected per instance (E-644).</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Topology beyond scalar electrical nodes, and arrays everywhere a value can go. The code on the right is checked: compiled with the committed openvaf-r and run in ngspice, it draws 1, 2, 4 and 8 mA from four 1 V sources. A genvar loop inside an analog block is unrolled at elaboration (E-407), which is how the LRM writes 'contribute to every bit'.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$table_model is lowered to differentiable MIR, so its Jacobian is exact rather than finite-differenced; it works in any number of dimensions with linear or cubic-spline interpolation. On the noise side, same-named sources are correlated and sum coherently, and since E-364 a device's white and flicker noise also enters a transient.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LRM chapter 9. Random draws are reproducible per instance and stable across Newton iterations. Display and severity tasks defer to the accepted iteration (LRM 9.4.6, 9.7.3), so a message prints once per accepted point rather than once per Newton step. $dist_* returns integers and $rdist_* reals, as the LRM says (E-376).</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Operator semantics were audited against the LRM (E-37, E-38). About 70 % of compile time goes to LLVM optimizing one eval function (docs/internals/openvaf_internals/OpenVAF_compile_time_analysis.md). Elaboration and expression handling were made linear where they had been exponential or quadratic.</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largest single area. Evidence: the public VA-Models corpus (92 standalone models) compiles; the 496-file corpus compiles with no assertion failure in an assertions-enabled build (E-347); the robustness campaign used the production corpus, about 50 adversarial inputs and 4,000 mutation-fuzzing iterations (E-147, E-148); 2,089 constant-folded expressions found ln1p and expm1 crashing for every non-literal argument (E-510); every code example in the LRM 2023 is a compliance case (E-84).</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simulator side: compiled Verilog-A devices take part in every analysis, and the simulator gains a complete RF periodic suite, statistics, optimization, convergence aids, a KLU solver at parity, post-layout reduction, reliability and workflow tooling.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deck is the handbook's first example (docs/handbook/01-getting-started.md): pre_osdi loads the compiled model before the circuit is parsed, instances use the N letter, and the model card's type is the Verilog-A module name. Variables with a desc attribute are operating-point variables, readable as @n1[name] wherever ngspice vectors are.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audited status of each analysis with OSDI devices (handbook section 3.4, updated for later enhancements). Jacobians come from automatic differentiation and are cross-checked against numeric derivatives on PSP103 in examples/physcheck_examples.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.dc sweep over a device or model parameter refreshes the device per point as alter would and restores the value afterwards. Since E-534 every sweep knob kind takes lin, dec and oct scales. .sens leaves the circuit as it found it (E-440, E-685). .disto for Verilog-A devices differences Taylor tensors from the analytic Jacobian inside ngspice (E-359).</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PSS by shooting (driven mode avoids the frequency hunt and is about 1000x cheaper on a pumped varactor, E-176) feeds PAC, Pnoise with cyclostationary folding, PXF and PSP. Harmonic balance (exact row-form Jacobian since E-902) feeds the two-tone QP set. Oscillators have hbosc and phase noise; envelope following jumps whole periods with an implicit monodromy. Each has a dot card: .pss .pac .pnoise .pxf .psp .hb .qpss .hbosc .phasenoise.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Ports for .sp are voltage sources tagged with portnum and z0. wrsnp writes Touchstone v1 for any port count. pre_snp vector-fits a Touchstone file into a model, either compiled through openvaf-r or stamped directly by a native N-port device (E-242) that removes the compile step at high port counts.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PRBS(v1 v2 tbit [td [tr [tf [order [seed]]]]]) on voltage and current sources is a Fibonacci shift register with the standard maximal-length taps; orders 7, 9, 11, 15, 23 and 31 are what pattern generators send. PAM4 reads two bits per symbol, Gray coded, which at orders 13 and 31 is IEEE 802.3's PRBS13Q and PRBS31Q (E-752). eye measures height, width and RMS jitter (E-207).</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ngspice's operating point already escalates through gmin and source stepping. .option convhelp adds the globalized Newton line search (E-111) and pseudo-transient continuation (E-127) to the ladder, reaches for them without being asked, and reports which aid produced the point (E-204). Five integration methods were measured against each other in E-419, and the results that overturned expectations are recorded there.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Sparse 1.3 stays the default; .option klu selects KLU, which now runs every analysis. The Sparse-versus-KLU differential campaign (examples/solverdiff_examples) uses numpy as a third opinion and asserts against eps times each deck's condition number: 37 of 37, no solver defect. KLU's advantage grows with circuit size.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Monte Carlo reaches OSDI parameters through both ngspice idioms. Latin-hypercube sampling measured about 130x lower estimator variance at the same N (E-149). highsigma scales the sigmas for importance sampling, reaching 4 to 6 sigma from a few thousand runs (E-150); wcd finds the worst-case distance and most probable failure point (E-305). docs/internals/ngspice_internals/ngspice_statistics.md is the complete guide.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Attributes on Verilog-A parameters carry the statistics in an OSDI side table. With .option osdimc (alias automc) every run-class command is a fresh trial: no reset, no netlist re-expansion, no agauss in the deck; the first run after sourcing is the nominal baseline. The corner attribute gives each parameter's value per corner. Both decks were run with the committed binaries: 1.000 mA then 0.945 mA under osdimc, 0.909 mA at corner ss.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optimize varies knobs, re-runs analyses and drives an objective to a minimum. Knobs are -param (alter), -mparam (altermod) and -dparam (.param; the optimum is written into the deck, E-767). -constrain adds bounds held by an augmented Lagrangian (E-766); -polish finishes a global method locally and -starts adds Latin-hypercube restarts (E-764). The outcome is published as optimize_status, optimize_converged, optimize_cost and optimize_evals (E-762).</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reduce is TICER model-order reduction for extracted RC networks; its sparse version scales to millions of nodes (E-155, E-156). aging runs the industry flow stress, degrade, re-simulate for HCI, NBTI and TDDB (E-157). emir reports power-grid IR drop and electromigration risk (E-158).</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savestate and loadstate serialize a transient's integration state and resume it in a fresh process (E-131); set autosave saves on Ctrl-C (E-192). pyplot sends any vector to matplotlib. Raw strings and f-strings work in control scripts (E-553). help all lists every command (E-753). .option saveused, autobus and autoadapt keep large decks small and wired. XSPICE code models are bundled with every prebuilt binary.</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feature claimed in the handbook is guarded by a verify script that compiles the Verilog-A model with the committed compiler, runs it through the committed ngspice, and checks the numbers against closed-form or independent expectations.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enhancement follows the same path. The suite answers 'did anything change?' on every fold; the campaigns on the following slides answer 'is it correct?'. A pass means the number is right, not that a run finished.</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examples/physcheck_examples checks industry models against analytic device laws through the whole toolchain; dynphys and tempphys extend it to charge and temperature. The CMC sweep compiles and loads 19 of 19 compact models and compares C-V and fT against ngspice's built-in twins.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OSDI and solver campaigns sit outside run_regression.py on purpose (run_campaign.py, run_solverdiff.py). The bug-hunt pages in docs/bug_hunts record each campaign's harnesses, findings and the enhancement that fixed each finding; the most recent, the analyses correctness campaign of October 2026, produced E-895 to E-908.</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selection of milestones in the order the work happened; the enhancement number is the axis. The full one-line index is docs/handbook/05-enhancement-index.md, and the catalog groups every enhancement by area.</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 builds both tools for five platforms and commits them under bin/. Each platform directory also ships XSPICE code models under codemodels/ with a portable scripts/spinit; export SPICE_LIB_DIR to load them. Building from source needs a Rust toolchain and exactly LLVM 18 for openvaf-r.</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to start, what is out of scope, and where the documentation lives.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a fresh clone: take the prebuilt binaries for your platform, compile a Verilog-A model, load it in a deck with pre_osdi, and run. Every example folder's verify script is a complete, tested reference; examples/analyses_examples is a tutorial with one commented deck per analysis.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docs/handbook/04-limitations-and-gotchas.md and the open findings of the analyses correctness campaign (docs/bug_hunts/2026-10-16_...). The open findings are in stock ngspice devices, not in the OSDI path: .disto treats a device without a distortion routine as linear, the built-in BJT's .disto is wrong with rb or tr, TXL has no AC model, and CPL loses its resistance below its RC corner (both lines now say so, E-908).</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tile links to the document on GitHub. The handbook is also one linked PDF with the complete text of every enhancement write-up: docs/Ngspice-OpenVAF-Handbook.pdf.</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openvaf-r compiles the Verilog-A language with correct values and derivatives; ngspice-46 runs those models through every analysis, the RF suite, statistics and optimization included; 596 verify suites and five CI platforms check every change, and every change has a write-up.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731520" y="1600200"/>
            <a:ext cx="6035040" cy="1737360"/>
          </a:xfrm>
        </p:spPr>
        <p:txBody>
          <a:bodyPr anchor="b" lIns="0" rIns="0" tIns="0" bIns="0">
            <a:noAutofit/>
          </a:bodyPr>
          <a:lstStyle>
            <a:lvl1pPr algn="l" marL="0" indent="0">
              <a:buNone/>
              <a:defRPr sz="4600" b="1">
                <a:solidFill>
                  <a:schemeClr val="bg1"/>
                </a:solidFill>
                <a:latin typeface="+mj-lt"/>
              </a:defRPr>
            </a:lvl1pPr>
          </a:lstStyle>
          <a:p>
            <a:r>
              <a:rPr lang="en-US" smtClean="0"/>
              <a:t>Click to edit Master title style</a:t>
            </a:r>
            <a:endParaRPr lang="en-US"/>
          </a:p>
        </p:txBody>
      </p:sp>
      <p:sp>
        <p:nvSpPr>
          <p:cNvPr id="3" name="Subtitle 2"/>
          <p:cNvSpPr>
            <a:spLocks noGrp="1"/>
          </p:cNvSpPr>
          <p:nvPr>
            <p:ph type="subTitle" idx="1"/>
          </p:nvPr>
        </p:nvSpPr>
        <p:spPr>
          <a:xfrm>
            <a:off x="731520" y="3520440"/>
            <a:ext cx="5852160" cy="1005840"/>
          </a:xfrm>
        </p:spPr>
        <p:txBody>
          <a:bodyPr anchor="t" lIns="0" rIns="0" tIns="0" bIns="0">
            <a:noAutofit/>
          </a:bodyPr>
          <a:lstStyle>
            <a:lvl1pPr algn="l" marL="0" indent="0">
              <a:buNone/>
              <a:defRPr sz="2200" b="0">
                <a:solidFill>
                  <a:schemeClr val="accent6"/>
                </a:solidFill>
                <a:latin typeface="+mn-lt"/>
              </a:defRPr>
            </a:lvl1pPr>
          </a:lstStyle>
          <a:p>
            <a:r>
              <a:rPr lang="en-US" smtClean="0"/>
              <a:t>Click to edit Master subtitle style</a:t>
            </a:r>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31520" y="2148840"/>
            <a:ext cx="6949440" cy="1371600"/>
          </a:xfrm>
        </p:spPr>
        <p:txBody>
          <a:bodyPr anchor="b" lIns="0" rIns="0" tIns="0" bIns="0">
            <a:noAutofit/>
          </a:bodyPr>
          <a:lstStyle>
            <a:lvl1pPr algn="l" marL="0" indent="0">
              <a:buNone/>
              <a:defRPr sz="4000" b="1">
                <a:solidFill>
                  <a:schemeClr val="bg1"/>
                </a:solidFill>
                <a:latin typeface="+mj-lt"/>
              </a:defRPr>
            </a:lvl1pPr>
          </a:lstStyle>
          <a:p>
            <a:r>
              <a:rPr lang="en-US" smtClean="0"/>
              <a:t>Click to edit Master title style</a:t>
            </a:r>
            <a:endParaRPr lang="en-US"/>
          </a:p>
        </p:txBody>
      </p:sp>
      <p:sp>
        <p:nvSpPr>
          <p:cNvPr id="3" name="Text Placeholder 2"/>
          <p:cNvSpPr>
            <a:spLocks noGrp="1"/>
          </p:cNvSpPr>
          <p:nvPr>
            <p:ph type="body" idx="1"/>
          </p:nvPr>
        </p:nvSpPr>
        <p:spPr>
          <a:xfrm>
            <a:off x="731520" y="3703320"/>
            <a:ext cx="6583680" cy="1463040"/>
          </a:xfrm>
        </p:spPr>
        <p:txBody>
          <a:bodyPr anchor="t" lIns="0" rIns="0" tIns="0" bIns="0">
            <a:noAutofit/>
          </a:bodyPr>
          <a:lstStyle>
            <a:lvl1pPr algn="l" marL="0" indent="0">
              <a:buNone/>
              <a:defRPr sz="1800" b="0">
                <a:solidFill>
                  <a:schemeClr val="bg2"/>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9606483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Conte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566928"/>
            <a:ext cx="11094415" cy="685800"/>
          </a:xfrm>
        </p:spPr>
        <p:txBody>
          <a:bodyPr anchor="ctr" lIns="0" rIns="0" tIns="0" bIns="0">
            <a:noAutofit/>
          </a:bodyPr>
          <a:lstStyle>
            <a:lvl1pPr algn="l" marL="0" indent="0">
              <a:buNone/>
              <a:defRPr sz="3400" b="1">
                <a:solidFill>
                  <a:schemeClr val="tx2"/>
                </a:solidFill>
                <a:latin typeface="+mj-lt"/>
              </a:defRPr>
            </a:lvl1pPr>
          </a:lstStyle>
          <a:p>
            <a:r>
              <a:rPr lang="en-US" smtClean="0"/>
              <a:t>Click to edit Master title style</a:t>
            </a:r>
            <a:endParaRPr lang="en-US"/>
          </a:p>
        </p:txBody>
      </p:sp>
      <p:sp>
        <p:nvSpPr>
          <p:cNvPr id="3" name="TextBox 2"/>
          <p:cNvSpPr txBox="1"/>
          <p:nvPr/>
        </p:nvSpPr>
        <p:spPr>
          <a:xfrm>
            <a:off x="548640" y="6428232"/>
            <a:ext cx="5486400" cy="228600"/>
          </a:xfrm>
          <a:prstGeom prst="rect">
            <a:avLst/>
          </a:prstGeom>
          <a:noFill/>
        </p:spPr>
        <p:txBody>
          <a:bodyPr wrap="none" lIns="0" rIns="0" tIns="0" bIns="0">
            <a:spAutoFit/>
          </a:bodyPr>
          <a:lstStyle/>
          <a:p>
            <a:pPr algn="l"/>
            <a:r>
              <a:rPr sz="1000">
                <a:solidFill>
                  <a:schemeClr val="accent3"/>
                </a:solidFill>
              </a:rPr>
              <a:t>Enhanced ngspice + openvaf-r</a:t>
            </a:r>
          </a:p>
        </p:txBody>
      </p:sp>
      <p:sp>
        <p:nvSpPr>
          <p:cNvPr id="4" name="TextBox 2"/>
          <p:cNvSpPr txBox="1"/>
          <p:nvPr/>
        </p:nvSpPr>
        <p:spPr>
          <a:xfrm>
            <a:off x="10728655" y="6428232"/>
            <a:ext cx="914400" cy="228600"/>
          </a:xfrm>
          <a:prstGeom prst="rect">
            <a:avLst/>
          </a:prstGeom>
          <a:noFill/>
        </p:spPr>
        <p:txBody>
          <a:bodyPr wrap="none" lIns="0" rIns="0" tIns="0" bIns="0">
            <a:spAutoFit/>
          </a:bodyPr>
          <a:lstStyle/>
          <a:p>
            <a:pPr algn="r"/>
            <a:fld id="{EF5D7B1E-205C-569F-AB7E-863B17A04093}" type="slidenum">
              <a:rPr lang="en-US" sz="1000">
                <a:solidFill>
                  <a:schemeClr val="accent3"/>
                </a:solidFill>
              </a:rPr>
              <a:t>‹#›</a:t>
            </a:fld>
          </a:p>
        </p:txBody>
      </p:sp>
    </p:spTree>
    <p:extLst>
      <p:ext uri="{BB962C8B-B14F-4D97-AF65-F5344CB8AC3E}">
        <p14:creationId xmlns:p14="http://schemas.microsoft.com/office/powerpoint/2010/main" val="72702771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slideLayout" Target="../slideLayouts/slideLayout3.xml"/><Relationship Id="rId6" Type="http://schemas.openxmlformats.org/officeDocument/2006/relationships/slideLayout" Target="../slideLayouts/slideLayout6.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1" r:id="rId3"/>
    <p:sldLayoutId id="2147483654" r:id="rId6"/>
  </p:sldLayoutIdLst>
  <p:txStyles>
    <p:titleStyle>
      <a:lvl1pPr algn="ctr" defTabSz="457200" rtl="0" eaLnBrk="1" latinLnBrk="0" hangingPunct="1">
        <a:spcBef>
          <a:spcPct val="0"/>
        </a:spcBef>
        <a:buNone/>
        <a:defRPr sz="3400" kern="1200" b="1">
          <a:solidFill>
            <a:schemeClr val="tx2"/>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hyperlink" Target="https://github.com/javaNoviceProgrammer/Ngspice_OpenVAF_Enhancements/blob/main/enhancements_doc/Enhancement-1.md" TargetMode="External"/><Relationship Id="rId4" Type="http://schemas.openxmlformats.org/officeDocument/2006/relationships/hyperlink" Target="https://github.com/javaNoviceProgrammer/Ngspice_OpenVAF_Enhancements/blob/main/enhancements_doc/Enhancement-4.md" TargetMode="External"/><Relationship Id="rId5" Type="http://schemas.openxmlformats.org/officeDocument/2006/relationships/hyperlink" Target="https://github.com/javaNoviceProgrammer/Ngspice_OpenVAF_Enhancements/blob/main/enhancements_doc/Enhancement-31.md" TargetMode="External"/><Relationship Id="rId6" Type="http://schemas.openxmlformats.org/officeDocument/2006/relationships/hyperlink" Target="https://github.com/javaNoviceProgrammer/Ngspice_OpenVAF_Enhancements/blob/main/enhancements_doc/Enhancement-28.md" TargetMode="External"/><Relationship Id="rId7" Type="http://schemas.openxmlformats.org/officeDocument/2006/relationships/hyperlink" Target="https://github.com/javaNoviceProgrammer/Ngspice_OpenVAF_Enhancements/blob/main/enhancements_doc/Enhancement-52.md" TargetMode="External"/><Relationship Id="rId8" Type="http://schemas.openxmlformats.org/officeDocument/2006/relationships/hyperlink" Target="https://github.com/javaNoviceProgrammer/Ngspice_OpenVAF_Enhancements/blob/main/enhancements_doc/Enhancement-698.md" TargetMode="External"/><Relationship Id="rId9" Type="http://schemas.openxmlformats.org/officeDocument/2006/relationships/hyperlink" Target="https://github.com/javaNoviceProgrammer/Ngspice_OpenVAF_Enhancements/blob/main/enhancements_doc/Enhancement-61.md" TargetMode="External"/><Relationship Id="rId10" Type="http://schemas.openxmlformats.org/officeDocument/2006/relationships/hyperlink" Target="https://github.com/javaNoviceProgrammer/Ngspice_OpenVAF_Enhancements/blob/main/enhancements_doc/Enhancement-8.md" TargetMode="External"/><Relationship Id="rId11" Type="http://schemas.openxmlformats.org/officeDocument/2006/relationships/hyperlink" Target="https://github.com/javaNoviceProgrammer/Ngspice_OpenVAF_Enhancements/blob/main/enhancements_doc/Enhancement-759.md" TargetMode="External"/><Relationship Id="rId12" Type="http://schemas.openxmlformats.org/officeDocument/2006/relationships/hyperlink" Target="https://github.com/javaNoviceProgrammer/Ngspice_OpenVAF_Enhancements/blob/main/enhancements_doc/Enhancement-53.md" TargetMode="External"/><Relationship Id="rId13" Type="http://schemas.openxmlformats.org/officeDocument/2006/relationships/hyperlink" Target="https://github.com/javaNoviceProgrammer/Ngspice_OpenVAF_Enhancements/blob/main/enhancements_doc/Enhancement-789.md" TargetMode="External"/><Relationship Id="rId14" Type="http://schemas.openxmlformats.org/officeDocument/2006/relationships/hyperlink" Target="https://github.com/javaNoviceProgrammer/Ngspice_OpenVAF_Enhancements/blob/main/enhancements_doc/Enhancement-24.md" TargetMode="External"/><Relationship Id="rId15" Type="http://schemas.openxmlformats.org/officeDocument/2006/relationships/hyperlink" Target="https://github.com/javaNoviceProgrammer/Ngspice_OpenVAF_Enhancements/blob/main/enhancements_doc/Enhancement-55.md" TargetMode="External"/><Relationship Id="rId16"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hyperlink" Target="https://github.com/javaNoviceProgrammer/Ngspice_OpenVAF_Enhancements/blob/main/enhancements_doc/Enhancement-5.md" TargetMode="External"/><Relationship Id="rId4" Type="http://schemas.openxmlformats.org/officeDocument/2006/relationships/hyperlink" Target="https://github.com/javaNoviceProgrammer/Ngspice_OpenVAF_Enhancements/blob/main/enhancements_doc/Enhancement-757.md" TargetMode="External"/><Relationship Id="rId5" Type="http://schemas.openxmlformats.org/officeDocument/2006/relationships/hyperlink" Target="https://github.com/javaNoviceProgrammer/Ngspice_OpenVAF_Enhancements/blob/main/enhancements_doc/Enhancement-67.md" TargetMode="External"/><Relationship Id="rId6" Type="http://schemas.openxmlformats.org/officeDocument/2006/relationships/hyperlink" Target="https://github.com/javaNoviceProgrammer/Ngspice_OpenVAF_Enhancements/blob/main/enhancements_doc/Enhancement-407.md" TargetMode="External"/><Relationship Id="rId7" Type="http://schemas.openxmlformats.org/officeDocument/2006/relationships/hyperlink" Target="https://github.com/javaNoviceProgrammer/Ngspice_OpenVAF_Enhancements/blob/main/enhancements_doc/Enhancement-58.md" TargetMode="External"/><Relationship Id="rId8" Type="http://schemas.openxmlformats.org/officeDocument/2006/relationships/hyperlink" Target="https://github.com/javaNoviceProgrammer/Ngspice_OpenVAF_Enhancements/blob/main/enhancements_doc/Enhancement-87.md" TargetMode="External"/><Relationship Id="rId9" Type="http://schemas.openxmlformats.org/officeDocument/2006/relationships/hyperlink" Target="https://github.com/javaNoviceProgrammer/Ngspice_OpenVAF_Enhancements/blob/main/enhancements_doc/Enhancement-21.md" TargetMode="External"/><Relationship Id="rId10" Type="http://schemas.openxmlformats.org/officeDocument/2006/relationships/hyperlink" Target="https://github.com/javaNoviceProgrammer/Ngspice_OpenVAF_Enhancements/blob/main/enhancements_doc/Enhancement-644.md" TargetMode="External"/><Relationship Id="rId11" Type="http://schemas.openxmlformats.org/officeDocument/2006/relationships/hyperlink" Target="https://github.com/javaNoviceProgrammer/Ngspice_OpenVAF_Enhancements/blob/main/enhancements_doc/Enhancement-39.md" TargetMode="External"/><Relationship Id="rId12" Type="http://schemas.openxmlformats.org/officeDocument/2006/relationships/hyperlink" Target="https://github.com/javaNoviceProgrammer/Ngspice_OpenVAF_Enhancements/blob/main/enhancements_doc/Enhancement-50.md" TargetMode="External"/><Relationship Id="rId13" Type="http://schemas.openxmlformats.org/officeDocument/2006/relationships/hyperlink" Target="https://github.com/javaNoviceProgrammer/Ngspice_OpenVAF_Enhancements/blob/main/enhancements_doc/Enhancement-76.md" TargetMode="External"/><Relationship Id="rId14" Type="http://schemas.openxmlformats.org/officeDocument/2006/relationships/hyperlink" Target="https://github.com/javaNoviceProgrammer/Ngspice_OpenVAF_Enhancements/blob/main/enhancements_doc/Enhancement-60.md" TargetMode="External"/><Relationship Id="rId15"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hyperlink" Target="https://github.com/javaNoviceProgrammer/Ngspice_OpenVAF_Enhancements/blob/main/enhancements_doc/Enhancement-3.md" TargetMode="External"/><Relationship Id="rId4" Type="http://schemas.openxmlformats.org/officeDocument/2006/relationships/hyperlink" Target="https://github.com/javaNoviceProgrammer/Ngspice_OpenVAF_Enhancements/blob/main/enhancements_doc/Enhancement-221.md" TargetMode="External"/><Relationship Id="rId5" Type="http://schemas.openxmlformats.org/officeDocument/2006/relationships/hyperlink" Target="https://github.com/javaNoviceProgrammer/Ngspice_OpenVAF_Enhancements/blob/main/enhancements_doc/Enhancement-41.md" TargetMode="External"/><Relationship Id="rId6" Type="http://schemas.openxmlformats.org/officeDocument/2006/relationships/hyperlink" Target="https://github.com/javaNoviceProgrammer/Ngspice_OpenVAF_Enhancements/blob/main/enhancements_doc/Enhancement-340.md" TargetMode="External"/><Relationship Id="rId7" Type="http://schemas.openxmlformats.org/officeDocument/2006/relationships/hyperlink" Target="https://github.com/javaNoviceProgrammer/Ngspice_OpenVAF_Enhancements/blob/main/enhancements_doc/Enhancement-29.md" TargetMode="External"/><Relationship Id="rId8" Type="http://schemas.openxmlformats.org/officeDocument/2006/relationships/hyperlink" Target="https://github.com/javaNoviceProgrammer/Ngspice_OpenVAF_Enhancements/blob/main/enhancements_doc/Enhancement-36.md" TargetMode="External"/><Relationship Id="rId9" Type="http://schemas.openxmlformats.org/officeDocument/2006/relationships/hyperlink" Target="https://github.com/javaNoviceProgrammer/Ngspice_OpenVAF_Enhancements/blob/main/enhancements_doc/Enhancement-2.md" TargetMode="External"/><Relationship Id="rId10" Type="http://schemas.openxmlformats.org/officeDocument/2006/relationships/hyperlink" Target="https://github.com/javaNoviceProgrammer/Ngspice_OpenVAF_Enhancements/blob/main/enhancements_doc/Enhancement-14.md" TargetMode="External"/><Relationship Id="rId11" Type="http://schemas.openxmlformats.org/officeDocument/2006/relationships/hyperlink" Target="https://github.com/javaNoviceProgrammer/Ngspice_OpenVAF_Enhancements/blob/main/enhancements_doc/Enhancement-15.md" TargetMode="External"/><Relationship Id="rId12" Type="http://schemas.openxmlformats.org/officeDocument/2006/relationships/hyperlink" Target="https://github.com/javaNoviceProgrammer/Ngspice_OpenVAF_Enhancements/blob/main/enhancements_doc/Enhancement-20.md" TargetMode="External"/><Relationship Id="rId13" Type="http://schemas.openxmlformats.org/officeDocument/2006/relationships/hyperlink" Target="https://github.com/javaNoviceProgrammer/Ngspice_OpenVAF_Enhancements/blob/main/enhancements_doc/Enhancement-23.md"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hyperlink" Target="https://github.com/javaNoviceProgrammer/Ngspice_OpenVAF_Enhancements/blob/main/enhancements_doc/Enhancement-16.md" TargetMode="External"/><Relationship Id="rId4" Type="http://schemas.openxmlformats.org/officeDocument/2006/relationships/hyperlink" Target="https://github.com/javaNoviceProgrammer/Ngspice_OpenVAF_Enhancements/blob/main/enhancements_doc/Enhancement-17.md" TargetMode="External"/><Relationship Id="rId5" Type="http://schemas.openxmlformats.org/officeDocument/2006/relationships/hyperlink" Target="https://github.com/javaNoviceProgrammer/Ngspice_OpenVAF_Enhancements/blob/main/enhancements_doc/Enhancement-22.md" TargetMode="External"/><Relationship Id="rId6" Type="http://schemas.openxmlformats.org/officeDocument/2006/relationships/hyperlink" Target="https://github.com/javaNoviceProgrammer/Ngspice_OpenVAF_Enhancements/blob/main/enhancements_doc/Enhancement-40.md" TargetMode="External"/><Relationship Id="rId7" Type="http://schemas.openxmlformats.org/officeDocument/2006/relationships/image" Target="../media/image4.png"/><Relationship Id="rId8" Type="http://schemas.openxmlformats.org/officeDocument/2006/relationships/hyperlink" Target="https://github.com/javaNoviceProgrammer/Ngspice_OpenVAF_Enhancements/blob/main/enhancements_doc/Enhancement-9.md" TargetMode="External"/><Relationship Id="rId9" Type="http://schemas.openxmlformats.org/officeDocument/2006/relationships/hyperlink" Target="https://github.com/javaNoviceProgrammer/Ngspice_OpenVAF_Enhancements/blob/main/enhancements_doc/Enhancement-42.md" TargetMode="External"/><Relationship Id="rId10" Type="http://schemas.openxmlformats.org/officeDocument/2006/relationships/hyperlink" Target="https://github.com/javaNoviceProgrammer/Ngspice_OpenVAF_Enhancements/blob/main/enhancements_doc/Enhancement-54.md" TargetMode="External"/><Relationship Id="rId11" Type="http://schemas.openxmlformats.org/officeDocument/2006/relationships/hyperlink" Target="https://github.com/javaNoviceProgrammer/Ngspice_OpenVAF_Enhancements/blob/main/enhancements_doc/Enhancement-364.md" TargetMode="External"/><Relationship Id="rId12"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hyperlink" Target="https://github.com/javaNoviceProgrammer/Ngspice_OpenVAF_Enhancements/blob/main/enhancements_doc/Enhancement-10.md" TargetMode="External"/><Relationship Id="rId4" Type="http://schemas.openxmlformats.org/officeDocument/2006/relationships/hyperlink" Target="https://github.com/javaNoviceProgrammer/Ngspice_OpenVAF_Enhancements/blob/main/enhancements_doc/Enhancement-376.md" TargetMode="External"/><Relationship Id="rId5" Type="http://schemas.openxmlformats.org/officeDocument/2006/relationships/hyperlink" Target="https://github.com/javaNoviceProgrammer/Ngspice_OpenVAF_Enhancements/blob/main/enhancements_doc/Enhancement-11.md" TargetMode="External"/><Relationship Id="rId6" Type="http://schemas.openxmlformats.org/officeDocument/2006/relationships/hyperlink" Target="https://github.com/javaNoviceProgrammer/Ngspice_OpenVAF_Enhancements/blob/main/enhancements_doc/Enhancement-107.md" TargetMode="External"/><Relationship Id="rId7" Type="http://schemas.openxmlformats.org/officeDocument/2006/relationships/hyperlink" Target="https://github.com/javaNoviceProgrammer/Ngspice_OpenVAF_Enhancements/blob/main/enhancements_doc/Enhancement-105.md" TargetMode="External"/><Relationship Id="rId8" Type="http://schemas.openxmlformats.org/officeDocument/2006/relationships/hyperlink" Target="https://github.com/javaNoviceProgrammer/Ngspice_OpenVAF_Enhancements/blob/main/enhancements_doc/Enhancement-106.md" TargetMode="External"/><Relationship Id="rId9" Type="http://schemas.openxmlformats.org/officeDocument/2006/relationships/hyperlink" Target="https://github.com/javaNoviceProgrammer/Ngspice_OpenVAF_Enhancements/blob/main/enhancements_doc/Enhancement-71.md" TargetMode="External"/><Relationship Id="rId10" Type="http://schemas.openxmlformats.org/officeDocument/2006/relationships/hyperlink" Target="https://github.com/javaNoviceProgrammer/Ngspice_OpenVAF_Enhancements/blob/main/enhancements_doc/Enhancement-55.md" TargetMode="External"/><Relationship Id="rId11" Type="http://schemas.openxmlformats.org/officeDocument/2006/relationships/hyperlink" Target="https://github.com/javaNoviceProgrammer/Ngspice_OpenVAF_Enhancements/blob/main/enhancements_doc/Enhancement-378.md" TargetMode="External"/><Relationship Id="rId12" Type="http://schemas.openxmlformats.org/officeDocument/2006/relationships/hyperlink" Target="https://github.com/javaNoviceProgrammer/Ngspice_OpenVAF_Enhancements/blob/main/enhancements_doc/Enhancement-25.md" TargetMode="External"/><Relationship Id="rId13" Type="http://schemas.openxmlformats.org/officeDocument/2006/relationships/hyperlink" Target="https://github.com/javaNoviceProgrammer/Ngspice_OpenVAF_Enhancements/blob/main/enhancements_doc/Enhancement-30.md" TargetMode="External"/><Relationship Id="rId14" Type="http://schemas.openxmlformats.org/officeDocument/2006/relationships/hyperlink" Target="https://github.com/javaNoviceProgrammer/Ngspice_OpenVAF_Enhancements/blob/main/enhancements_doc/Enhancement-215.md" TargetMode="External"/><Relationship Id="rId15" Type="http://schemas.openxmlformats.org/officeDocument/2006/relationships/hyperlink" Target="https://github.com/javaNoviceProgrammer/Ngspice_OpenVAF_Enhancements/blob/main/enhancements_doc/Enhancement-101.md" TargetMode="External"/><Relationship Id="rId16" Type="http://schemas.openxmlformats.org/officeDocument/2006/relationships/hyperlink" Target="https://github.com/javaNoviceProgrammer/Ngspice_OpenVAF_Enhancements/blob/main/enhancements_doc/Enhancement-185.md"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hyperlink" Target="https://github.com/javaNoviceProgrammer/Ngspice_OpenVAF_Enhancements/blob/main/enhancements_doc/Enhancement-37.md" TargetMode="External"/><Relationship Id="rId4" Type="http://schemas.openxmlformats.org/officeDocument/2006/relationships/hyperlink" Target="https://github.com/javaNoviceProgrammer/Ngspice_OpenVAF_Enhancements/blob/main/enhancements_doc/Enhancement-38.md" TargetMode="External"/><Relationship Id="rId5" Type="http://schemas.openxmlformats.org/officeDocument/2006/relationships/hyperlink" Target="https://github.com/javaNoviceProgrammer/Ngspice_OpenVAF_Enhancements/blob/main/enhancements_doc/Enhancement-34.md" TargetMode="External"/><Relationship Id="rId6" Type="http://schemas.openxmlformats.org/officeDocument/2006/relationships/hyperlink" Target="https://github.com/javaNoviceProgrammer/Ngspice_OpenVAF_Enhancements/blob/main/enhancements_doc/Enhancement-19.md" TargetMode="External"/><Relationship Id="rId7" Type="http://schemas.openxmlformats.org/officeDocument/2006/relationships/hyperlink" Target="https://github.com/javaNoviceProgrammer/Ngspice_OpenVAF_Enhancements/blob/main/enhancements_doc/Enhancement-78.md" TargetMode="External"/><Relationship Id="rId8" Type="http://schemas.openxmlformats.org/officeDocument/2006/relationships/hyperlink" Target="https://github.com/javaNoviceProgrammer/Ngspice_OpenVAF_Enhancements/blob/main/enhancements_doc/Enhancement-46.md" TargetMode="External"/><Relationship Id="rId9" Type="http://schemas.openxmlformats.org/officeDocument/2006/relationships/hyperlink" Target="https://github.com/javaNoviceProgrammer/Ngspice_OpenVAF_Enhancements/blob/main/enhancements_doc/Enhancement-85.md" TargetMode="External"/><Relationship Id="rId10" Type="http://schemas.openxmlformats.org/officeDocument/2006/relationships/hyperlink" Target="https://github.com/javaNoviceProgrammer/Ngspice_OpenVAF_Enhancements/blob/main/enhancements_doc/Enhancement-147.md" TargetMode="External"/><Relationship Id="rId11" Type="http://schemas.openxmlformats.org/officeDocument/2006/relationships/hyperlink" Target="https://github.com/javaNoviceProgrammer/Ngspice_OpenVAF_Enhancements/blob/main/enhancements_doc/Enhancement-404.md" TargetMode="External"/><Relationship Id="rId12" Type="http://schemas.openxmlformats.org/officeDocument/2006/relationships/hyperlink" Target="https://github.com/javaNoviceProgrammer/Ngspice_OpenVAF_Enhancements/blob/main/enhancements_doc/Enhancement-48.md" TargetMode="External"/><Relationship Id="rId13" Type="http://schemas.openxmlformats.org/officeDocument/2006/relationships/hyperlink" Target="https://github.com/javaNoviceProgrammer/Ngspice_OpenVAF_Enhancements/blob/main/enhancements_doc/Enhancement-106.md" TargetMode="External"/><Relationship Id="rId14" Type="http://schemas.openxmlformats.org/officeDocument/2006/relationships/hyperlink" Target="https://github.com/javaNoviceProgrammer/Ngspice_OpenVAF_Enhancements/blob/main/enhancements_doc/Enhancement-396.md" TargetMode="External"/><Relationship Id="rId15" Type="http://schemas.openxmlformats.org/officeDocument/2006/relationships/hyperlink" Target="https://github.com/javaNoviceProgrammer/Ngspice_OpenVAF_Enhancements/blob/main/enhancements_doc/Enhancement-509.md" TargetMode="External"/><Relationship Id="rId16"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hyperlink" Target="https://github.com/javaNoviceProgrammer/Ngspice_OpenVAF_Enhancements/blob/main/enhancements_doc/Enhancement-56.md" TargetMode="External"/><Relationship Id="rId4" Type="http://schemas.openxmlformats.org/officeDocument/2006/relationships/hyperlink" Target="https://github.com/javaNoviceProgrammer/Ngspice_OpenVAF_Enhancements/blob/main/enhancements_doc/Enhancement-159.md" TargetMode="External"/><Relationship Id="rId5" Type="http://schemas.openxmlformats.org/officeDocument/2006/relationships/hyperlink" Target="https://github.com/javaNoviceProgrammer/Ngspice_OpenVAF_Enhancements/blob/main/enhancements_doc/Enhancement-347.md" TargetMode="External"/><Relationship Id="rId6" Type="http://schemas.openxmlformats.org/officeDocument/2006/relationships/hyperlink" Target="https://github.com/javaNoviceProgrammer/Ngspice_OpenVAF_Enhancements/blob/main/enhancements_doc/Enhancement-147.md" TargetMode="External"/><Relationship Id="rId7" Type="http://schemas.openxmlformats.org/officeDocument/2006/relationships/hyperlink" Target="https://github.com/javaNoviceProgrammer/Ngspice_OpenVAF_Enhancements/blob/main/enhancements_doc/Enhancement-148.md" TargetMode="External"/><Relationship Id="rId8" Type="http://schemas.openxmlformats.org/officeDocument/2006/relationships/hyperlink" Target="https://github.com/javaNoviceProgrammer/Ngspice_OpenVAF_Enhancements/blob/main/enhancements_doc/Enhancement-510.md" TargetMode="External"/><Relationship Id="rId9" Type="http://schemas.openxmlformats.org/officeDocument/2006/relationships/hyperlink" Target="https://github.com/javaNoviceProgrammer/Ngspice_OpenVAF_Enhancements/blob/main/enhancements_doc/Enhancement-84.md" TargetMode="External"/><Relationship Id="rId10" Type="http://schemas.openxmlformats.org/officeDocument/2006/relationships/hyperlink" Target="https://github.com/javaNoviceProgrammer/Ngspice_OpenVAF_Enhancements/blob/main/enhancements_doc/Enhancement-400.md" TargetMode="External"/><Relationship Id="rId11" Type="http://schemas.openxmlformats.org/officeDocument/2006/relationships/hyperlink" Target="https://github.com/javaNoviceProgrammer/Ngspice_OpenVAF_Enhancements/blob/main/enhancements_doc/Enhancement-639.md"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hyperlink" Target="https://github.com/javaNoviceProgrammer/Ngspice_OpenVAF_Enhancements/blob/main/enhancements_doc/Enhancement-644.md" TargetMode="External"/><Relationship Id="rId4" Type="http://schemas.openxmlformats.org/officeDocument/2006/relationships/hyperlink" Target="https://github.com/javaNoviceProgrammer/Ngspice_OpenVAF_Enhancements/blob/main/enhancements_doc/Enhancement-336.md" TargetMode="External"/><Relationship Id="rId5" Type="http://schemas.openxmlformats.org/officeDocument/2006/relationships/hyperlink" Target="https://github.com/javaNoviceProgrammer/Ngspice_OpenVAF_Enhancements/blob/main/enhancements_doc/Enhancement-755.md" TargetMode="External"/><Relationship Id="rId6" Type="http://schemas.openxmlformats.org/officeDocument/2006/relationships/hyperlink" Target="https://github.com/javaNoviceProgrammer/Ngspice_OpenVAF_Enhancements/blob/main/enhancements_doc/Enhancement-69.md" TargetMode="External"/><Relationship Id="rId7" Type="http://schemas.openxmlformats.org/officeDocument/2006/relationships/hyperlink" Target="https://github.com/javaNoviceProgrammer/Ngspice_OpenVAF_Enhancements/blob/main/enhancements_doc/Enhancement-229.md" TargetMode="External"/><Relationship Id="rId8" Type="http://schemas.openxmlformats.org/officeDocument/2006/relationships/hyperlink" Target="https://github.com/javaNoviceProgrammer/Ngspice_OpenVAF_Enhancements/blob/main/enhancements_doc/Enhancement-394.md" TargetMode="External"/><Relationship Id="rId9" Type="http://schemas.openxmlformats.org/officeDocument/2006/relationships/hyperlink" Target="https://github.com/javaNoviceProgrammer/Ngspice_OpenVAF_Enhancements/blob/main/enhancements_doc/Enhancement-835.md" TargetMode="External"/><Relationship Id="rId10" Type="http://schemas.openxmlformats.org/officeDocument/2006/relationships/hyperlink" Target="https://github.com/javaNoviceProgrammer/Ngspice_OpenVAF_Enhancements/blob/main/enhancements_doc/Enhancement-643.md"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hyperlink" Target="https://github.com/javaNoviceProgrammer/Ngspice_OpenVAF_Enhancements/blob/main/enhancements_doc/Enhancement-62.md" TargetMode="External"/><Relationship Id="rId4" Type="http://schemas.openxmlformats.org/officeDocument/2006/relationships/hyperlink" Target="https://github.com/javaNoviceProgrammer/Ngspice_OpenVAF_Enhancements/blob/main/enhancements_doc/Enhancement-534.md" TargetMode="External"/><Relationship Id="rId5" Type="http://schemas.openxmlformats.org/officeDocument/2006/relationships/hyperlink" Target="https://github.com/javaNoviceProgrammer/Ngspice_OpenVAF_Enhancements/blob/main/enhancements_doc/Enhancement-179.md" TargetMode="External"/><Relationship Id="rId6" Type="http://schemas.openxmlformats.org/officeDocument/2006/relationships/hyperlink" Target="https://github.com/javaNoviceProgrammer/Ngspice_OpenVAF_Enhancements/blob/main/enhancements_doc/Enhancement-685.md" TargetMode="External"/><Relationship Id="rId7" Type="http://schemas.openxmlformats.org/officeDocument/2006/relationships/hyperlink" Target="https://github.com/javaNoviceProgrammer/Ngspice_OpenVAF_Enhancements/blob/main/enhancements_doc/Enhancement-173.md" TargetMode="External"/><Relationship Id="rId8" Type="http://schemas.openxmlformats.org/officeDocument/2006/relationships/hyperlink" Target="https://github.com/javaNoviceProgrammer/Ngspice_OpenVAF_Enhancements/blob/main/enhancements_doc/Enhancement-171.md" TargetMode="External"/><Relationship Id="rId9" Type="http://schemas.openxmlformats.org/officeDocument/2006/relationships/hyperlink" Target="https://github.com/javaNoviceProgrammer/Ngspice_OpenVAF_Enhancements/blob/main/enhancements_doc/Enhancement-352.md" TargetMode="External"/><Relationship Id="rId10" Type="http://schemas.openxmlformats.org/officeDocument/2006/relationships/hyperlink" Target="https://github.com/javaNoviceProgrammer/Ngspice_OpenVAF_Enhancements/blob/main/enhancements_doc/Enhancement-255.md" TargetMode="External"/><Relationship Id="rId11" Type="http://schemas.openxmlformats.org/officeDocument/2006/relationships/hyperlink" Target="https://github.com/javaNoviceProgrammer/Ngspice_OpenVAF_Enhancements/blob/main/enhancements_doc/Enhancement-198.md" TargetMode="External"/><Relationship Id="rId12" Type="http://schemas.openxmlformats.org/officeDocument/2006/relationships/hyperlink" Target="https://github.com/javaNoviceProgrammer/Ngspice_OpenVAF_Enhancements/blob/main/enhancements_doc/Enhancement-203.md" TargetMode="External"/><Relationship Id="rId13" Type="http://schemas.openxmlformats.org/officeDocument/2006/relationships/hyperlink" Target="https://github.com/javaNoviceProgrammer/Ngspice_OpenVAF_Enhancements/blob/main/enhancements_doc/Enhancement-311.md" TargetMode="External"/><Relationship Id="rId14" Type="http://schemas.openxmlformats.org/officeDocument/2006/relationships/hyperlink" Target="https://github.com/javaNoviceProgrammer/Ngspice_OpenVAF_Enhancements/blob/main/enhancements_doc/Enhancement-302.md" TargetMode="External"/><Relationship Id="rId15" Type="http://schemas.openxmlformats.org/officeDocument/2006/relationships/image" Target="../media/image7.png"/><Relationship Id="rId16"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 Id="rId3" Type="http://schemas.openxmlformats.org/officeDocument/2006/relationships/hyperlink" Target="https://github.com/javaNoviceProgrammer/Ngspice_OpenVAF_Enhancements/blob/main/enhancements_doc/Enhancement-117.md" TargetMode="External"/><Relationship Id="rId4" Type="http://schemas.openxmlformats.org/officeDocument/2006/relationships/hyperlink" Target="https://github.com/javaNoviceProgrammer/Ngspice_OpenVAF_Enhancements/blob/main/enhancements_doc/Enhancement-176.md" TargetMode="External"/><Relationship Id="rId5" Type="http://schemas.openxmlformats.org/officeDocument/2006/relationships/hyperlink" Target="https://github.com/javaNoviceProgrammer/Ngspice_OpenVAF_Enhancements/blob/main/enhancements_doc/Enhancement-134.md" TargetMode="External"/><Relationship Id="rId6" Type="http://schemas.openxmlformats.org/officeDocument/2006/relationships/hyperlink" Target="https://github.com/javaNoviceProgrammer/Ngspice_OpenVAF_Enhancements/blob/main/enhancements_doc/Enhancement-902.md" TargetMode="External"/><Relationship Id="rId7" Type="http://schemas.openxmlformats.org/officeDocument/2006/relationships/hyperlink" Target="https://github.com/javaNoviceProgrammer/Ngspice_OpenVAF_Enhancements/blob/main/enhancements_doc/Enhancement-140.md" TargetMode="External"/><Relationship Id="rId8" Type="http://schemas.openxmlformats.org/officeDocument/2006/relationships/hyperlink" Target="https://github.com/javaNoviceProgrammer/Ngspice_OpenVAF_Enhancements/blob/main/enhancements_doc/Enhancement-154.md" TargetMode="External"/><Relationship Id="rId9" Type="http://schemas.openxmlformats.org/officeDocument/2006/relationships/image" Target="../media/image9.png"/><Relationship Id="rId10"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 Id="rId3" Type="http://schemas.openxmlformats.org/officeDocument/2006/relationships/hyperlink" Target="https://github.com/javaNoviceProgrammer/Ngspice_OpenVAF_Enhancements/blob/main/enhancements_doc/Enhancement-63.md" TargetMode="External"/><Relationship Id="rId4" Type="http://schemas.openxmlformats.org/officeDocument/2006/relationships/hyperlink" Target="https://github.com/javaNoviceProgrammer/Ngspice_OpenVAF_Enhancements/blob/main/enhancements_doc/Enhancement-202.md" TargetMode="External"/><Relationship Id="rId5" Type="http://schemas.openxmlformats.org/officeDocument/2006/relationships/hyperlink" Target="https://github.com/javaNoviceProgrammer/Ngspice_OpenVAF_Enhancements/blob/main/enhancements_doc/Enhancement-72.md" TargetMode="External"/><Relationship Id="rId6" Type="http://schemas.openxmlformats.org/officeDocument/2006/relationships/hyperlink" Target="https://github.com/javaNoviceProgrammer/Ngspice_OpenVAF_Enhancements/blob/main/enhancements_doc/Enhancement-749.md" TargetMode="External"/><Relationship Id="rId7" Type="http://schemas.openxmlformats.org/officeDocument/2006/relationships/hyperlink" Target="https://github.com/javaNoviceProgrammer/Ngspice_OpenVAF_Enhancements/blob/main/enhancements_doc/Enhancement-200.md" TargetMode="External"/><Relationship Id="rId8" Type="http://schemas.openxmlformats.org/officeDocument/2006/relationships/hyperlink" Target="https://github.com/javaNoviceProgrammer/Ngspice_OpenVAF_Enhancements/blob/main/enhancements_doc/Enhancement-242.md" TargetMode="External"/><Relationship Id="rId9" Type="http://schemas.openxmlformats.org/officeDocument/2006/relationships/hyperlink" Target="https://github.com/javaNoviceProgrammer/Ngspice_OpenVAF_Enhancements/blob/main/enhancements_doc/Enhancement-253.md" TargetMode="External"/><Relationship Id="rId10" Type="http://schemas.openxmlformats.org/officeDocument/2006/relationships/hyperlink" Target="https://github.com/javaNoviceProgrammer/Ngspice_OpenVAF_Enhancements/blob/main/enhancements_doc/Enhancement-234.md" TargetMode="External"/><Relationship Id="rId11" Type="http://schemas.openxmlformats.org/officeDocument/2006/relationships/hyperlink" Target="https://github.com/javaNoviceProgrammer/Ngspice_OpenVAF_Enhancements/blob/main/enhancements_doc/Enhancement-164.md" TargetMode="External"/><Relationship Id="rId12" Type="http://schemas.openxmlformats.org/officeDocument/2006/relationships/hyperlink" Target="https://github.com/javaNoviceProgrammer/Ngspice_OpenVAF_Enhancements/blob/main/enhancements_doc/Enhancement-168.md" TargetMode="External"/><Relationship Id="rId13" Type="http://schemas.openxmlformats.org/officeDocument/2006/relationships/hyperlink" Target="https://github.com/javaNoviceProgrammer/Ngspice_OpenVAF_Enhancements/blob/main/enhancements_doc/Enhancement-254.md" TargetMode="External"/><Relationship Id="rId14" Type="http://schemas.openxmlformats.org/officeDocument/2006/relationships/image" Target="../media/image11.png"/><Relationship Id="rId15"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 Id="rId3" Type="http://schemas.openxmlformats.org/officeDocument/2006/relationships/hyperlink" Target="https://github.com/javaNoviceProgrammer/Ngspice_OpenVAF_Enhancements/blob/main/enhancements_doc/Enhancement-752.md" TargetMode="External"/><Relationship Id="rId4" Type="http://schemas.openxmlformats.org/officeDocument/2006/relationships/hyperlink" Target="https://github.com/javaNoviceProgrammer/Ngspice_OpenVAF_Enhancements/blob/main/enhancements_doc/Enhancement-207.md" TargetMode="External"/><Relationship Id="rId5" Type="http://schemas.openxmlformats.org/officeDocument/2006/relationships/hyperlink" Target="https://github.com/javaNoviceProgrammer/Ngspice_OpenVAF_Enhancements/blob/main/enhancements_doc/Enhancement-208.md" TargetMode="External"/><Relationship Id="rId6"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 Id="rId3" Type="http://schemas.openxmlformats.org/officeDocument/2006/relationships/hyperlink" Target="https://github.com/javaNoviceProgrammer/Ngspice_OpenVAF_Enhancements/blob/main/enhancements_doc/Enhancement-110.md" TargetMode="External"/><Relationship Id="rId4" Type="http://schemas.openxmlformats.org/officeDocument/2006/relationships/hyperlink" Target="https://github.com/javaNoviceProgrammer/Ngspice_OpenVAF_Enhancements/blob/main/enhancements_doc/Enhancement-419.md" TargetMode="External"/><Relationship Id="rId5" Type="http://schemas.openxmlformats.org/officeDocument/2006/relationships/hyperlink" Target="https://github.com/javaNoviceProgrammer/Ngspice_OpenVAF_Enhancements/blob/main/enhancements_doc/Enhancement-181.md" TargetMode="External"/><Relationship Id="rId6" Type="http://schemas.openxmlformats.org/officeDocument/2006/relationships/hyperlink" Target="https://github.com/javaNoviceProgrammer/Ngspice_OpenVAF_Enhancements/blob/main/enhancements_doc/Enhancement-128.md" TargetMode="External"/><Relationship Id="rId7" Type="http://schemas.openxmlformats.org/officeDocument/2006/relationships/hyperlink" Target="https://github.com/javaNoviceProgrammer/Ngspice_OpenVAF_Enhancements/blob/main/enhancements_doc/Enhancement-256.md" TargetMode="External"/><Relationship Id="rId8" Type="http://schemas.openxmlformats.org/officeDocument/2006/relationships/hyperlink" Target="https://github.com/javaNoviceProgrammer/Ngspice_OpenVAF_Enhancements/blob/main/enhancements_doc/Enhancement-889.md" TargetMode="External"/><Relationship Id="rId9" Type="http://schemas.openxmlformats.org/officeDocument/2006/relationships/image" Target="../media/image1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 Id="rId3" Type="http://schemas.openxmlformats.org/officeDocument/2006/relationships/hyperlink" Target="https://github.com/javaNoviceProgrammer/Ngspice_OpenVAF_Enhancements/blob/main/enhancements_doc/Enhancement-113.md" TargetMode="External"/><Relationship Id="rId4" Type="http://schemas.openxmlformats.org/officeDocument/2006/relationships/hyperlink" Target="https://github.com/javaNoviceProgrammer/Ngspice_OpenVAF_Enhancements/blob/main/enhancements_doc/Enhancement-114.md" TargetMode="External"/><Relationship Id="rId5" Type="http://schemas.openxmlformats.org/officeDocument/2006/relationships/hyperlink" Target="https://github.com/javaNoviceProgrammer/Ngspice_OpenVAF_Enhancements/blob/main/enhancements_doc/Enhancement-115.md" TargetMode="External"/><Relationship Id="rId6" Type="http://schemas.openxmlformats.org/officeDocument/2006/relationships/hyperlink" Target="https://github.com/javaNoviceProgrammer/Ngspice_OpenVAF_Enhancements/blob/main/enhancements_doc/Enhancement-118.md" TargetMode="External"/><Relationship Id="rId7" Type="http://schemas.openxmlformats.org/officeDocument/2006/relationships/hyperlink" Target="https://github.com/javaNoviceProgrammer/Ngspice_OpenVAF_Enhancements/blob/main/enhancements_doc/Enhancement-180.md" TargetMode="External"/><Relationship Id="rId8" Type="http://schemas.openxmlformats.org/officeDocument/2006/relationships/hyperlink" Target="https://github.com/javaNoviceProgrammer/Ngspice_OpenVAF_Enhancements/blob/main/enhancements_doc/Enhancement-152.md" TargetMode="External"/><Relationship Id="rId9" Type="http://schemas.openxmlformats.org/officeDocument/2006/relationships/hyperlink" Target="https://github.com/javaNoviceProgrammer/Ngspice_OpenVAF_Enhancements/blob/main/enhancements_doc/Enhancement-867.md" TargetMode="External"/><Relationship Id="rId10" Type="http://schemas.openxmlformats.org/officeDocument/2006/relationships/hyperlink" Target="https://github.com/javaNoviceProgrammer/Ngspice_OpenVAF_Enhancements/blob/main/enhancements_doc/Enhancement-868.md" TargetMode="External"/><Relationship Id="rId11" Type="http://schemas.openxmlformats.org/officeDocument/2006/relationships/hyperlink" Target="https://github.com/javaNoviceProgrammer/Ngspice_OpenVAF_Enhancements/blob/main/enhancements_doc/Enhancement-232.md" TargetMode="External"/><Relationship Id="rId12" Type="http://schemas.openxmlformats.org/officeDocument/2006/relationships/hyperlink" Target="https://github.com/javaNoviceProgrammer/Ngspice_OpenVAF_Enhancements/blob/main/enhancements_doc/Enhancement-233.md" TargetMode="External"/><Relationship Id="rId13" Type="http://schemas.openxmlformats.org/officeDocument/2006/relationships/image" Target="../media/image1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 Id="rId3" Type="http://schemas.openxmlformats.org/officeDocument/2006/relationships/hyperlink" Target="https://github.com/javaNoviceProgrammer/Ngspice_OpenVAF_Enhancements/blob/main/enhancements_doc/Enhancement-66.md" TargetMode="External"/><Relationship Id="rId4" Type="http://schemas.openxmlformats.org/officeDocument/2006/relationships/hyperlink" Target="https://github.com/javaNoviceProgrammer/Ngspice_OpenVAF_Enhancements/blob/main/enhancements_doc/Enhancement-188.md" TargetMode="External"/><Relationship Id="rId5" Type="http://schemas.openxmlformats.org/officeDocument/2006/relationships/hyperlink" Target="https://github.com/javaNoviceProgrammer/Ngspice_OpenVAF_Enhancements/blob/main/enhancements_doc/Enhancement-149.md" TargetMode="External"/><Relationship Id="rId6" Type="http://schemas.openxmlformats.org/officeDocument/2006/relationships/hyperlink" Target="https://github.com/javaNoviceProgrammer/Ngspice_OpenVAF_Enhancements/blob/main/enhancements_doc/Enhancement-150.md" TargetMode="External"/><Relationship Id="rId7" Type="http://schemas.openxmlformats.org/officeDocument/2006/relationships/hyperlink" Target="https://github.com/javaNoviceProgrammer/Ngspice_OpenVAF_Enhancements/blob/main/enhancements_doc/Enhancement-305.md" TargetMode="External"/><Relationship Id="rId8" Type="http://schemas.openxmlformats.org/officeDocument/2006/relationships/hyperlink" Target="https://github.com/javaNoviceProgrammer/Ngspice_OpenVAF_Enhancements/blob/main/enhancements_doc/Enhancement-151.md" TargetMode="External"/><Relationship Id="rId9" Type="http://schemas.openxmlformats.org/officeDocument/2006/relationships/hyperlink" Target="https://github.com/javaNoviceProgrammer/Ngspice_OpenVAF_Enhancements/blob/main/enhancements_doc/Enhancement-206.md" TargetMode="External"/><Relationship Id="rId10" Type="http://schemas.openxmlformats.org/officeDocument/2006/relationships/hyperlink" Target="https://github.com/javaNoviceProgrammer/Ngspice_OpenVAF_Enhancements/blob/main/enhancements_doc/Enhancement-742.md" TargetMode="External"/><Relationship Id="rId11" Type="http://schemas.openxmlformats.org/officeDocument/2006/relationships/image" Target="../media/image15.png"/><Relationship Id="rId12" Type="http://schemas.openxmlformats.org/officeDocument/2006/relationships/image" Target="../media/image1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 Id="rId3" Type="http://schemas.openxmlformats.org/officeDocument/2006/relationships/hyperlink" Target="https://github.com/javaNoviceProgrammer/Ngspice_OpenVAF_Enhancements/blob/main/enhancements_doc/Enhancement-530.md" TargetMode="External"/><Relationship Id="rId4" Type="http://schemas.openxmlformats.org/officeDocument/2006/relationships/hyperlink" Target="https://github.com/javaNoviceProgrammer/Ngspice_OpenVAF_Enhancements/blob/main/enhancements_doc/Enhancement-654.md" TargetMode="External"/><Relationship Id="rId5" Type="http://schemas.openxmlformats.org/officeDocument/2006/relationships/hyperlink" Target="https://github.com/javaNoviceProgrammer/Ngspice_OpenVAF_Enhancements/blob/main/enhancements_doc/Enhancement-656.md"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 Id="rId3" Type="http://schemas.openxmlformats.org/officeDocument/2006/relationships/hyperlink" Target="https://github.com/javaNoviceProgrammer/Ngspice_OpenVAF_Enhancements/blob/main/enhancements_doc/Enhancement-766.md" TargetMode="External"/><Relationship Id="rId4" Type="http://schemas.openxmlformats.org/officeDocument/2006/relationships/hyperlink" Target="https://github.com/javaNoviceProgrammer/Ngspice_OpenVAF_Enhancements/blob/main/enhancements_doc/Enhancement-764.md" TargetMode="External"/><Relationship Id="rId5" Type="http://schemas.openxmlformats.org/officeDocument/2006/relationships/hyperlink" Target="https://github.com/javaNoviceProgrammer/Ngspice_OpenVAF_Enhancements/blob/main/enhancements_doc/Enhancement-146.md" TargetMode="External"/><Relationship Id="rId6" Type="http://schemas.openxmlformats.org/officeDocument/2006/relationships/hyperlink" Target="https://github.com/javaNoviceProgrammer/Ngspice_OpenVAF_Enhancements/blob/main/enhancements_doc/Enhancement-190.md" TargetMode="External"/><Relationship Id="rId7" Type="http://schemas.openxmlformats.org/officeDocument/2006/relationships/hyperlink" Target="https://github.com/javaNoviceProgrammer/Ngspice_OpenVAF_Enhancements/blob/main/enhancements_doc/Enhancement-345.md" TargetMode="External"/><Relationship Id="rId8" Type="http://schemas.openxmlformats.org/officeDocument/2006/relationships/hyperlink" Target="https://github.com/javaNoviceProgrammer/Ngspice_OpenVAF_Enhancements/blob/main/enhancements_doc/Enhancement-320.md"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 Id="rId3" Type="http://schemas.openxmlformats.org/officeDocument/2006/relationships/hyperlink" Target="https://github.com/javaNoviceProgrammer/Ngspice_OpenVAF_Enhancements/blob/main/enhancements_doc/Enhancement-155.md" TargetMode="External"/><Relationship Id="rId4" Type="http://schemas.openxmlformats.org/officeDocument/2006/relationships/hyperlink" Target="https://github.com/javaNoviceProgrammer/Ngspice_OpenVAF_Enhancements/blob/main/enhancements_doc/Enhancement-156.md" TargetMode="External"/><Relationship Id="rId5" Type="http://schemas.openxmlformats.org/officeDocument/2006/relationships/image" Target="../media/image17.png"/><Relationship Id="rId6" Type="http://schemas.openxmlformats.org/officeDocument/2006/relationships/hyperlink" Target="https://github.com/javaNoviceProgrammer/Ngspice_OpenVAF_Enhancements/blob/main/enhancements_doc/Enhancement-157.md" TargetMode="External"/><Relationship Id="rId7" Type="http://schemas.openxmlformats.org/officeDocument/2006/relationships/image" Target="../media/image18.png"/><Relationship Id="rId8" Type="http://schemas.openxmlformats.org/officeDocument/2006/relationships/hyperlink" Target="https://github.com/javaNoviceProgrammer/Ngspice_OpenVAF_Enhancements/blob/main/enhancements_doc/Enhancement-158.md" TargetMode="External"/><Relationship Id="rId9" Type="http://schemas.openxmlformats.org/officeDocument/2006/relationships/image" Target="../media/image1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 Id="rId3" Type="http://schemas.openxmlformats.org/officeDocument/2006/relationships/hyperlink" Target="https://github.com/javaNoviceProgrammer/Ngspice_OpenVAF_Enhancements/blob/main/enhancements_doc/Enhancement-131.md" TargetMode="External"/><Relationship Id="rId4" Type="http://schemas.openxmlformats.org/officeDocument/2006/relationships/hyperlink" Target="https://github.com/javaNoviceProgrammer/Ngspice_OpenVAF_Enhancements/blob/main/enhancements_doc/Enhancement-192.md" TargetMode="External"/><Relationship Id="rId5" Type="http://schemas.openxmlformats.org/officeDocument/2006/relationships/hyperlink" Target="https://github.com/javaNoviceProgrammer/Ngspice_OpenVAF_Enhancements/blob/main/enhancements_doc/Enhancement-94.md" TargetMode="External"/><Relationship Id="rId6" Type="http://schemas.openxmlformats.org/officeDocument/2006/relationships/hyperlink" Target="https://github.com/javaNoviceProgrammer/Ngspice_OpenVAF_Enhancements/blob/main/enhancements_doc/Enhancement-298.md" TargetMode="External"/><Relationship Id="rId7" Type="http://schemas.openxmlformats.org/officeDocument/2006/relationships/hyperlink" Target="https://github.com/javaNoviceProgrammer/Ngspice_OpenVAF_Enhancements/blob/main/enhancements_doc/Enhancement-553.md" TargetMode="External"/><Relationship Id="rId8" Type="http://schemas.openxmlformats.org/officeDocument/2006/relationships/hyperlink" Target="https://github.com/javaNoviceProgrammer/Ngspice_OpenVAF_Enhancements/blob/main/enhancements_doc/Enhancement-753.md" TargetMode="External"/><Relationship Id="rId9" Type="http://schemas.openxmlformats.org/officeDocument/2006/relationships/hyperlink" Target="https://github.com/javaNoviceProgrammer/Ngspice_OpenVAF_Enhancements/blob/main/enhancements_doc/Enhancement-469.md" TargetMode="External"/><Relationship Id="rId10" Type="http://schemas.openxmlformats.org/officeDocument/2006/relationships/hyperlink" Target="https://github.com/javaNoviceProgrammer/Ngspice_OpenVAF_Enhancements/blob/main/enhancements_doc/Enhancement-444.md" TargetMode="External"/><Relationship Id="rId11" Type="http://schemas.openxmlformats.org/officeDocument/2006/relationships/hyperlink" Target="https://github.com/javaNoviceProgrammer/Ngspice_OpenVAF_Enhancements/blob/main/enhancements_doc/Enhancement-231.md" TargetMode="External"/><Relationship Id="rId12" Type="http://schemas.openxmlformats.org/officeDocument/2006/relationships/hyperlink" Target="https://github.com/javaNoviceProgrammer/Ngspice_OpenVAF_Enhancements/blob/main/enhancements_doc/Enhancement-129.md" TargetMode="External"/><Relationship Id="rId13" Type="http://schemas.openxmlformats.org/officeDocument/2006/relationships/hyperlink" Target="https://github.com/javaNoviceProgrammer/Ngspice_OpenVAF_Enhancements/blob/main/enhancements_doc/Enhancement-223.md" TargetMode="External"/><Relationship Id="rId14" Type="http://schemas.openxmlformats.org/officeDocument/2006/relationships/image" Target="../media/image2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 Id="rId3" Type="http://schemas.openxmlformats.org/officeDocument/2006/relationships/hyperlink" Target="https://github.com/javaNoviceProgrammer/Ngspice_OpenVAF_Enhancements/blob/main/enhancements_doc/Enhancement-57.md" TargetMode="External"/><Relationship Id="rId4" Type="http://schemas.openxmlformats.org/officeDocument/2006/relationships/hyperlink" Target="https://github.com/javaNoviceProgrammer/Ngspice_OpenVAF_Enhancements/blob/main/enhancements_doc/Enhancement-75.md" TargetMode="External"/><Relationship Id="rId5" Type="http://schemas.openxmlformats.org/officeDocument/2006/relationships/hyperlink" Target="https://github.com/javaNoviceProgrammer/Ngspice_OpenVAF_Enhancements/blob/main/enhancements_doc/Enhancement-80.md" TargetMode="External"/><Relationship Id="rId6" Type="http://schemas.openxmlformats.org/officeDocument/2006/relationships/hyperlink" Target="https://github.com/javaNoviceProgrammer/Ngspice_OpenVAF_Enhancements/blob/main/enhancements_doc/Enhancement-160.md" TargetMode="External"/><Relationship Id="rId7" Type="http://schemas.openxmlformats.org/officeDocument/2006/relationships/hyperlink" Target="https://github.com/javaNoviceProgrammer/Ngspice_OpenVAF_Enhancements/blob/main/enhancements_doc/Enhancement-161.md" TargetMode="External"/><Relationship Id="rId8" Type="http://schemas.openxmlformats.org/officeDocument/2006/relationships/image" Target="../media/image21.png"/><Relationship Id="rId9" Type="http://schemas.openxmlformats.org/officeDocument/2006/relationships/image" Target="../media/image2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 Id="rId3" Type="http://schemas.openxmlformats.org/officeDocument/2006/relationships/hyperlink" Target="https://github.com/javaNoviceProgrammer/Ngspice_OpenVAF_Enhancements/blob/main/enhancements_doc/Enhancement-1.md" TargetMode="External"/><Relationship Id="rId4" Type="http://schemas.openxmlformats.org/officeDocument/2006/relationships/hyperlink" Target="https://github.com/javaNoviceProgrammer/Ngspice_OpenVAF_Enhancements/blob/main/enhancements_doc/Enhancement-62.md" TargetMode="External"/><Relationship Id="rId5" Type="http://schemas.openxmlformats.org/officeDocument/2006/relationships/hyperlink" Target="https://github.com/javaNoviceProgrammer/Ngspice_OpenVAF_Enhancements/blob/main/enhancements_doc/Enhancement-110.md" TargetMode="External"/><Relationship Id="rId6" Type="http://schemas.openxmlformats.org/officeDocument/2006/relationships/hyperlink" Target="https://github.com/javaNoviceProgrammer/Ngspice_OpenVAF_Enhancements/blob/main/enhancements_doc/Enhancement-134.md" TargetMode="External"/><Relationship Id="rId7" Type="http://schemas.openxmlformats.org/officeDocument/2006/relationships/hyperlink" Target="https://github.com/javaNoviceProgrammer/Ngspice_OpenVAF_Enhancements/blob/main/enhancements_doc/Enhancement-154.md" TargetMode="External"/><Relationship Id="rId8" Type="http://schemas.openxmlformats.org/officeDocument/2006/relationships/hyperlink" Target="https://github.com/javaNoviceProgrammer/Ngspice_OpenVAF_Enhancements/blob/main/enhancements_doc/Enhancement-200.md" TargetMode="External"/><Relationship Id="rId9" Type="http://schemas.openxmlformats.org/officeDocument/2006/relationships/hyperlink" Target="https://github.com/javaNoviceProgrammer/Ngspice_OpenVAF_Enhancements/blob/main/enhancements_doc/Enhancement-364.md" TargetMode="External"/><Relationship Id="rId10" Type="http://schemas.openxmlformats.org/officeDocument/2006/relationships/hyperlink" Target="https://github.com/javaNoviceProgrammer/Ngspice_OpenVAF_Enhancements/blob/main/enhancements_doc/Enhancement-530.md" TargetMode="External"/><Relationship Id="rId11" Type="http://schemas.openxmlformats.org/officeDocument/2006/relationships/hyperlink" Target="https://github.com/javaNoviceProgrammer/Ngspice_OpenVAF_Enhancements/blob/main/enhancements_doc/Enhancement-654.md" TargetMode="External"/><Relationship Id="rId12" Type="http://schemas.openxmlformats.org/officeDocument/2006/relationships/hyperlink" Target="https://github.com/javaNoviceProgrammer/Ngspice_OpenVAF_Enhancements/blob/main/enhancements_doc/Enhancement-752.md" TargetMode="External"/><Relationship Id="rId13" Type="http://schemas.openxmlformats.org/officeDocument/2006/relationships/hyperlink" Target="https://github.com/javaNoviceProgrammer/Ngspice_OpenVAF_Enhancements/blob/main/enhancements_doc/Enhancement-765.md" TargetMode="External"/><Relationship Id="rId14" Type="http://schemas.openxmlformats.org/officeDocument/2006/relationships/hyperlink" Target="https://github.com/javaNoviceProgrammer/Ngspice_OpenVAF_Enhancements/blob/main/enhancements_doc/Enhancement-908.md"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 Id="rId3" Type="http://schemas.openxmlformats.org/officeDocument/2006/relationships/hyperlink" Target="https://github.com/javaNoviceProgrammer/Ngspice_OpenVAF_Enhancements/blob/main/enhancements_doc/Enhancement-223.md" TargetMode="External"/><Relationship Id="rId4" Type="http://schemas.openxmlformats.org/officeDocument/2006/relationships/hyperlink" Target="https://github.com/javaNoviceProgrammer/Ngspice_OpenVAF_Enhancements/blob/main/enhancements_doc/Enhancement-769.md"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8.xml"/><Relationship Id="rId3" Type="http://schemas.openxmlformats.org/officeDocument/2006/relationships/hyperlink" Target="https://javanoviceprogrammer.github.io/Ngspice_OpenVAF_Enhancements/" TargetMode="External"/><Relationship Id="rId4" Type="http://schemas.openxmlformats.org/officeDocument/2006/relationships/hyperlink" Target="https://github.com/javaNoviceProgrammer/Ngspice_OpenVAF_Enhancements/blob/main/docs/handbook/README.md" TargetMode="External"/><Relationship Id="rId5" Type="http://schemas.openxmlformats.org/officeDocument/2006/relationships/hyperlink" Target="https://github.com/javaNoviceProgrammer/Ngspice_OpenVAF_Enhancements/blob/main/docs/compliance/OpenVAF_Verilog-A_LRM_Compliance.md" TargetMode="External"/><Relationship Id="rId6" Type="http://schemas.openxmlformats.org/officeDocument/2006/relationships/hyperlink" Target="https://github.com/javaNoviceProgrammer/Ngspice_OpenVAF_Enhancements/tree/main/docs/change_log" TargetMode="External"/><Relationship Id="rId7" Type="http://schemas.openxmlformats.org/officeDocument/2006/relationships/hyperlink" Target="https://github.com/javaNoviceProgrammer/Ngspice_OpenVAF_Enhancements/tree/main/docs/internals/openvaf_internals" TargetMode="External"/><Relationship Id="rId8" Type="http://schemas.openxmlformats.org/officeDocument/2006/relationships/hyperlink" Target="https://github.com/javaNoviceProgrammer/Ngspice_OpenVAF_Enhancements/tree/main/docs/internals/ngspice_internals" TargetMode="External"/><Relationship Id="rId9" Type="http://schemas.openxmlformats.org/officeDocument/2006/relationships/hyperlink" Target="https://github.com/javaNoviceProgrammer/Ngspice_OpenVAF_Enhancements/blob/main/docs/internals/ngspice_internals/ngspice_statistics.md" TargetMode="External"/><Relationship Id="rId10" Type="http://schemas.openxmlformats.org/officeDocument/2006/relationships/hyperlink" Target="https://github.com/javaNoviceProgrammer/Ngspice_OpenVAF_Enhancements/tree/main/docs/bug_hunts"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hyperlink" Target="https://github.com/javaNoviceProgrammer/Ngspice_OpenVAF_Enhancements"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Enhanced ngspice + openvaf-r</a:t>
            </a:r>
          </a:p>
        </p:txBody>
      </p:sp>
      <p:sp>
        <p:nvSpPr>
          <p:cNvPr id="3" name="Subtitle 2"/>
          <p:cNvSpPr>
            <a:spLocks noGrp="1"/>
          </p:cNvSpPr>
          <p:nvPr>
            <p:ph type="subTitle" idx="1"/>
          </p:nvPr>
        </p:nvSpPr>
        <p:spPr/>
        <p:txBody>
          <a:bodyPr/>
          <a:lstStyle/>
          <a:p>
            <a:r>
              <a:t>A Verilog-A compiler and a circuit simulator, extended as a pair</a:t>
            </a:r>
          </a:p>
        </p:txBody>
      </p:sp>
      <p:sp>
        <p:nvSpPr>
          <p:cNvPr id="4" name="Byline"/>
          <p:cNvSpPr txBox="1"/>
          <p:nvPr/>
        </p:nvSpPr>
        <p:spPr>
          <a:xfrm>
            <a:off x="731520" y="4892040"/>
            <a:ext cx="5852160" cy="731520"/>
          </a:xfrm>
          <a:prstGeom prst="rect">
            <a:avLst/>
          </a:prstGeom>
          <a:noFill/>
        </p:spPr>
        <p:txBody>
          <a:bodyPr wrap="square" lIns="0" rIns="0" tIns="0" bIns="0" anchor="t">
            <a:spAutoFit/>
          </a:bodyPr>
          <a:lstStyle/>
          <a:p>
            <a:pPr algn="l">
              <a:spcAft>
                <a:spcPts val="400"/>
              </a:spcAft>
            </a:pPr>
            <a:r>
              <a:rPr sz="1600" b="0" i="0">
                <a:solidFill>
                  <a:schemeClr val="bg2"/>
                </a:solidFill>
              </a:rPr>
              <a:t>Every feature of 908 enhancements · October 2026</a:t>
            </a:r>
          </a:p>
          <a:p>
            <a:pPr algn="l">
              <a:spcAft>
                <a:spcPts val="400"/>
              </a:spcAft>
            </a:pPr>
            <a:r>
              <a:rPr sz="1600" b="1" i="0">
                <a:solidFill>
                  <a:schemeClr val="bg2"/>
                </a:solidFill>
              </a:rPr>
              <a:t>Dr. Meisam Bahadori</a:t>
            </a:r>
          </a:p>
        </p:txBody>
      </p:sp>
      <p:pic>
        <p:nvPicPr>
          <p:cNvPr id="5" name="Plot eye_diagram.png" descr="eye_diagram.png"/>
          <p:cNvPicPr>
            <a:picLocks noChangeAspect="1"/>
          </p:cNvPicPr>
          <p:nvPr/>
        </p:nvPicPr>
        <p:blipFill>
          <a:blip r:embed="rId3"/>
          <a:stretch>
            <a:fillRect/>
          </a:stretch>
        </p:blipFill>
        <p:spPr>
          <a:xfrm>
            <a:off x="6903720" y="1417320"/>
            <a:ext cx="4754880" cy="2783344"/>
          </a:xfrm>
          <a:prstGeom prst="rect">
            <a:avLst/>
          </a:prstGeom>
        </p:spPr>
      </p:pic>
      <p:sp>
        <p:nvSpPr>
          <p:cNvPr id="6" name="Title caption"/>
          <p:cNvSpPr txBox="1"/>
          <p:nvPr/>
        </p:nvSpPr>
        <p:spPr>
          <a:xfrm>
            <a:off x="6903720" y="4310392"/>
            <a:ext cx="4754880" cy="457200"/>
          </a:xfrm>
          <a:prstGeom prst="rect">
            <a:avLst/>
          </a:prstGeom>
          <a:noFill/>
        </p:spPr>
        <p:txBody>
          <a:bodyPr wrap="square" lIns="0" rIns="0" tIns="0" bIns="0" anchor="t">
            <a:spAutoFit/>
          </a:bodyPr>
          <a:lstStyle/>
          <a:p>
            <a:pPr algn="l"/>
            <a:r>
              <a:rPr sz="1100" b="0" i="1">
                <a:solidFill>
                  <a:schemeClr val="bg2"/>
                </a:solidFill>
              </a:rPr>
              <a:t>A 2 Gb/s PRBS through an RC channel, drawn by ngspice's eye command (examples/eye_examples)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Two tools that work as one</a:t>
            </a:r>
          </a:p>
        </p:txBody>
      </p:sp>
      <p:sp>
        <p:nvSpPr>
          <p:cNvPr id="3" name="Kicker"/>
          <p:cNvSpPr txBox="1"/>
          <p:nvPr/>
        </p:nvSpPr>
        <p:spPr>
          <a:xfrm>
            <a:off x="548640" y="274320"/>
            <a:ext cx="11094415" cy="274320"/>
          </a:xfrm>
          <a:prstGeom prst="rect">
            <a:avLst/>
          </a:prstGeom>
          <a:noFill/>
        </p:spPr>
        <p:txBody>
          <a:bodyPr wrap="square" lIns="0" rIns="0" tIns="0" bIns="0" anchor="t">
            <a:spAutoFit/>
          </a:bodyPr>
          <a:lstStyle/>
          <a:p>
            <a:pPr algn="l"/>
            <a:r>
              <a:rPr sz="1100" b="1" i="0" spc="120">
                <a:solidFill>
                  <a:schemeClr val="accent3">
                    <a:lumMod val="75000"/>
                  </a:schemeClr>
                </a:solidFill>
              </a:rPr>
              <a:t>THE TOOLCHAIN</a:t>
            </a:r>
          </a:p>
        </p:txBody>
      </p:sp>
      <p:sp>
        <p:nvSpPr>
          <p:cNvPr id="4" name="Step model.va"/>
          <p:cNvSpPr/>
          <p:nvPr/>
        </p:nvSpPr>
        <p:spPr>
          <a:xfrm>
            <a:off x="548640" y="1600200"/>
            <a:ext cx="1920240" cy="210312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Step title model.va"/>
          <p:cNvSpPr txBox="1"/>
          <p:nvPr/>
        </p:nvSpPr>
        <p:spPr>
          <a:xfrm>
            <a:off x="713232" y="1783080"/>
            <a:ext cx="1591056" cy="411480"/>
          </a:xfrm>
          <a:prstGeom prst="rect">
            <a:avLst/>
          </a:prstGeom>
          <a:noFill/>
        </p:spPr>
        <p:txBody>
          <a:bodyPr wrap="square" lIns="0" rIns="0" tIns="0" bIns="0" anchor="t">
            <a:spAutoFit/>
          </a:bodyPr>
          <a:lstStyle/>
          <a:p>
            <a:pPr algn="l"/>
            <a:r>
              <a:rPr sz="2000" b="1" i="0">
                <a:solidFill>
                  <a:schemeClr val="tx2"/>
                </a:solidFill>
                <a:latin typeface="Courier New"/>
              </a:rPr>
              <a:t>model.va</a:t>
            </a:r>
          </a:p>
        </p:txBody>
      </p:sp>
      <p:sp>
        <p:nvSpPr>
          <p:cNvPr id="6" name="Step text model.va"/>
          <p:cNvSpPr txBox="1"/>
          <p:nvPr/>
        </p:nvSpPr>
        <p:spPr>
          <a:xfrm>
            <a:off x="713232" y="2286000"/>
            <a:ext cx="1591056" cy="1325880"/>
          </a:xfrm>
          <a:prstGeom prst="rect">
            <a:avLst/>
          </a:prstGeom>
          <a:noFill/>
        </p:spPr>
        <p:txBody>
          <a:bodyPr wrap="square" lIns="0" rIns="0" tIns="0" bIns="0" anchor="t">
            <a:spAutoFit/>
          </a:bodyPr>
          <a:lstStyle/>
          <a:p>
            <a:pPr algn="l"/>
            <a:r>
              <a:rPr sz="1400" b="0" i="0">
                <a:solidFill>
                  <a:schemeClr val="tx1"/>
                </a:solidFill>
              </a:rPr>
              <a:t>Verilog-A source: the analog subset of Verilog-AMS (LRM 2023, Annex C)</a:t>
            </a:r>
          </a:p>
        </p:txBody>
      </p:sp>
      <p:sp>
        <p:nvSpPr>
          <p:cNvPr id="7" name="Arrow"/>
          <p:cNvSpPr/>
          <p:nvPr/>
        </p:nvSpPr>
        <p:spPr>
          <a:xfrm>
            <a:off x="2527515" y="2523744"/>
            <a:ext cx="256032" cy="256032"/>
          </a:xfrm>
          <a:prstGeom prst="rightArrow">
            <a:avLst/>
          </a:prstGeom>
          <a:solidFill>
            <a:schemeClr val="accent3">
              <a:lumMod val="65000"/>
              <a:lumOff val="3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Step openvaf-r"/>
          <p:cNvSpPr/>
          <p:nvPr/>
        </p:nvSpPr>
        <p:spPr>
          <a:xfrm>
            <a:off x="2842183" y="1600200"/>
            <a:ext cx="1920240" cy="2103120"/>
          </a:xfrm>
          <a:prstGeom prst="roundRect">
            <a:avLst>
              <a:gd name="adj" fmla="val 6000"/>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Step title openvaf-r"/>
          <p:cNvSpPr txBox="1"/>
          <p:nvPr/>
        </p:nvSpPr>
        <p:spPr>
          <a:xfrm>
            <a:off x="3006775" y="1783080"/>
            <a:ext cx="1591056" cy="411480"/>
          </a:xfrm>
          <a:prstGeom prst="rect">
            <a:avLst/>
          </a:prstGeom>
          <a:noFill/>
        </p:spPr>
        <p:txBody>
          <a:bodyPr wrap="square" lIns="0" rIns="0" tIns="0" bIns="0" anchor="t">
            <a:spAutoFit/>
          </a:bodyPr>
          <a:lstStyle/>
          <a:p>
            <a:pPr algn="l"/>
            <a:r>
              <a:rPr sz="2000" b="1" i="0">
                <a:solidFill>
                  <a:schemeClr val="bg1"/>
                </a:solidFill>
              </a:rPr>
              <a:t>openvaf-r</a:t>
            </a:r>
          </a:p>
        </p:txBody>
      </p:sp>
      <p:sp>
        <p:nvSpPr>
          <p:cNvPr id="10" name="Step text openvaf-r"/>
          <p:cNvSpPr txBox="1"/>
          <p:nvPr/>
        </p:nvSpPr>
        <p:spPr>
          <a:xfrm>
            <a:off x="3006775" y="2286000"/>
            <a:ext cx="1591056" cy="1325880"/>
          </a:xfrm>
          <a:prstGeom prst="rect">
            <a:avLst/>
          </a:prstGeom>
          <a:noFill/>
        </p:spPr>
        <p:txBody>
          <a:bodyPr wrap="square" lIns="0" rIns="0" tIns="0" bIns="0" anchor="t">
            <a:spAutoFit/>
          </a:bodyPr>
          <a:lstStyle/>
          <a:p>
            <a:pPr algn="l"/>
            <a:r>
              <a:rPr sz="1400" b="0" i="0">
                <a:solidFill>
                  <a:schemeClr val="bg1"/>
                </a:solidFill>
              </a:rPr>
              <a:t>parse, HIR, MIR, automatic differentiation, LLVM</a:t>
            </a:r>
          </a:p>
        </p:txBody>
      </p:sp>
      <p:sp>
        <p:nvSpPr>
          <p:cNvPr id="11" name="Arrow"/>
          <p:cNvSpPr/>
          <p:nvPr/>
        </p:nvSpPr>
        <p:spPr>
          <a:xfrm>
            <a:off x="4821059" y="2523744"/>
            <a:ext cx="256032" cy="256032"/>
          </a:xfrm>
          <a:prstGeom prst="rightArrow">
            <a:avLst/>
          </a:prstGeom>
          <a:solidFill>
            <a:schemeClr val="accent3">
              <a:lumMod val="65000"/>
              <a:lumOff val="3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Step model.osdi"/>
          <p:cNvSpPr/>
          <p:nvPr/>
        </p:nvSpPr>
        <p:spPr>
          <a:xfrm>
            <a:off x="5135727" y="1600200"/>
            <a:ext cx="1920240" cy="210312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Step title model.osdi"/>
          <p:cNvSpPr txBox="1"/>
          <p:nvPr/>
        </p:nvSpPr>
        <p:spPr>
          <a:xfrm>
            <a:off x="5300319" y="1783080"/>
            <a:ext cx="1591056" cy="411480"/>
          </a:xfrm>
          <a:prstGeom prst="rect">
            <a:avLst/>
          </a:prstGeom>
          <a:noFill/>
        </p:spPr>
        <p:txBody>
          <a:bodyPr wrap="square" lIns="0" rIns="0" tIns="0" bIns="0" anchor="t">
            <a:spAutoFit/>
          </a:bodyPr>
          <a:lstStyle/>
          <a:p>
            <a:pPr algn="l"/>
            <a:r>
              <a:rPr sz="2000" b="1" i="0">
                <a:solidFill>
                  <a:schemeClr val="tx2"/>
                </a:solidFill>
                <a:latin typeface="Courier New"/>
              </a:rPr>
              <a:t>model.osdi</a:t>
            </a:r>
          </a:p>
        </p:txBody>
      </p:sp>
      <p:sp>
        <p:nvSpPr>
          <p:cNvPr id="14" name="Step text model.osdi"/>
          <p:cNvSpPr txBox="1"/>
          <p:nvPr/>
        </p:nvSpPr>
        <p:spPr>
          <a:xfrm>
            <a:off x="5300319" y="2286000"/>
            <a:ext cx="1591056" cy="1325880"/>
          </a:xfrm>
          <a:prstGeom prst="rect">
            <a:avLst/>
          </a:prstGeom>
          <a:noFill/>
        </p:spPr>
        <p:txBody>
          <a:bodyPr wrap="square" lIns="0" rIns="0" tIns="0" bIns="0" anchor="t">
            <a:spAutoFit/>
          </a:bodyPr>
          <a:lstStyle/>
          <a:p>
            <a:pPr algn="l"/>
            <a:r>
              <a:rPr sz="1400" b="0" i="0">
                <a:solidFill>
                  <a:schemeClr val="tx1"/>
                </a:solidFill>
              </a:rPr>
              <a:t>a shared object with analytic Jacobians, OSDI 0.7</a:t>
            </a:r>
          </a:p>
        </p:txBody>
      </p:sp>
      <p:sp>
        <p:nvSpPr>
          <p:cNvPr id="15" name="Arrow"/>
          <p:cNvSpPr/>
          <p:nvPr/>
        </p:nvSpPr>
        <p:spPr>
          <a:xfrm>
            <a:off x="7114603" y="2523744"/>
            <a:ext cx="256032" cy="256032"/>
          </a:xfrm>
          <a:prstGeom prst="rightArrow">
            <a:avLst/>
          </a:prstGeom>
          <a:solidFill>
            <a:schemeClr val="accent3">
              <a:lumMod val="65000"/>
              <a:lumOff val="3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Step ngspice-46"/>
          <p:cNvSpPr/>
          <p:nvPr/>
        </p:nvSpPr>
        <p:spPr>
          <a:xfrm>
            <a:off x="7429271" y="1600200"/>
            <a:ext cx="1920240" cy="2103120"/>
          </a:xfrm>
          <a:prstGeom prst="roundRect">
            <a:avLst>
              <a:gd name="adj" fmla="val 6000"/>
            </a:avLst>
          </a:prstGeom>
          <a:solidFill>
            <a:schemeClr val="accent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Step title ngspice-46"/>
          <p:cNvSpPr txBox="1"/>
          <p:nvPr/>
        </p:nvSpPr>
        <p:spPr>
          <a:xfrm>
            <a:off x="7593863" y="1783080"/>
            <a:ext cx="1591056" cy="411480"/>
          </a:xfrm>
          <a:prstGeom prst="rect">
            <a:avLst/>
          </a:prstGeom>
          <a:noFill/>
        </p:spPr>
        <p:txBody>
          <a:bodyPr wrap="square" lIns="0" rIns="0" tIns="0" bIns="0" anchor="t">
            <a:spAutoFit/>
          </a:bodyPr>
          <a:lstStyle/>
          <a:p>
            <a:pPr algn="l"/>
            <a:r>
              <a:rPr sz="2000" b="1" i="0">
                <a:solidFill>
                  <a:schemeClr val="bg1"/>
                </a:solidFill>
              </a:rPr>
              <a:t>ngspice-46</a:t>
            </a:r>
          </a:p>
        </p:txBody>
      </p:sp>
      <p:sp>
        <p:nvSpPr>
          <p:cNvPr id="18" name="Step text ngspice-46"/>
          <p:cNvSpPr txBox="1"/>
          <p:nvPr/>
        </p:nvSpPr>
        <p:spPr>
          <a:xfrm>
            <a:off x="7593863" y="2286000"/>
            <a:ext cx="1591056" cy="1325880"/>
          </a:xfrm>
          <a:prstGeom prst="rect">
            <a:avLst/>
          </a:prstGeom>
          <a:noFill/>
        </p:spPr>
        <p:txBody>
          <a:bodyPr wrap="square" lIns="0" rIns="0" tIns="0" bIns="0" anchor="t">
            <a:spAutoFit/>
          </a:bodyPr>
          <a:lstStyle/>
          <a:p>
            <a:pPr algn="l"/>
            <a:r>
              <a:rPr sz="1400" b="0" i="0">
                <a:solidFill>
                  <a:schemeClr val="bg1"/>
                </a:solidFill>
              </a:rPr>
              <a:t>pre_osdi loads it; N devices sit beside built-in ones</a:t>
            </a:r>
          </a:p>
        </p:txBody>
      </p:sp>
      <p:sp>
        <p:nvSpPr>
          <p:cNvPr id="19" name="Arrow"/>
          <p:cNvSpPr/>
          <p:nvPr/>
        </p:nvSpPr>
        <p:spPr>
          <a:xfrm>
            <a:off x="9408147" y="2523744"/>
            <a:ext cx="256032" cy="256032"/>
          </a:xfrm>
          <a:prstGeom prst="rightArrow">
            <a:avLst/>
          </a:prstGeom>
          <a:solidFill>
            <a:schemeClr val="accent3">
              <a:lumMod val="65000"/>
              <a:lumOff val="3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Step results"/>
          <p:cNvSpPr/>
          <p:nvPr/>
        </p:nvSpPr>
        <p:spPr>
          <a:xfrm>
            <a:off x="9722815" y="1600200"/>
            <a:ext cx="1920240" cy="210312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Step title results"/>
          <p:cNvSpPr txBox="1"/>
          <p:nvPr/>
        </p:nvSpPr>
        <p:spPr>
          <a:xfrm>
            <a:off x="9887407" y="1783080"/>
            <a:ext cx="1591056" cy="411480"/>
          </a:xfrm>
          <a:prstGeom prst="rect">
            <a:avLst/>
          </a:prstGeom>
          <a:noFill/>
        </p:spPr>
        <p:txBody>
          <a:bodyPr wrap="square" lIns="0" rIns="0" tIns="0" bIns="0" anchor="t">
            <a:spAutoFit/>
          </a:bodyPr>
          <a:lstStyle/>
          <a:p>
            <a:pPr algn="l"/>
            <a:r>
              <a:rPr sz="2000" b="1" i="0">
                <a:solidFill>
                  <a:schemeClr val="tx2"/>
                </a:solidFill>
              </a:rPr>
              <a:t>results</a:t>
            </a:r>
          </a:p>
        </p:txBody>
      </p:sp>
      <p:sp>
        <p:nvSpPr>
          <p:cNvPr id="22" name="Step text results"/>
          <p:cNvSpPr txBox="1"/>
          <p:nvPr/>
        </p:nvSpPr>
        <p:spPr>
          <a:xfrm>
            <a:off x="9887407" y="2286000"/>
            <a:ext cx="1591056" cy="1325880"/>
          </a:xfrm>
          <a:prstGeom prst="rect">
            <a:avLst/>
          </a:prstGeom>
          <a:noFill/>
        </p:spPr>
        <p:txBody>
          <a:bodyPr wrap="square" lIns="0" rIns="0" tIns="0" bIns="0" anchor="t">
            <a:spAutoFit/>
          </a:bodyPr>
          <a:lstStyle/>
          <a:p>
            <a:pPr algn="l"/>
            <a:r>
              <a:rPr sz="1400" b="0" i="0">
                <a:solidFill>
                  <a:schemeClr val="tx1"/>
                </a:solidFill>
              </a:rPr>
              <a:t>vectors, .meas, plots, Touchstone and raw files</a:t>
            </a:r>
          </a:p>
        </p:txBody>
      </p:sp>
      <p:sp>
        <p:nvSpPr>
          <p:cNvPr id="23" name="Card Use them as a pair"/>
          <p:cNvSpPr/>
          <p:nvPr/>
        </p:nvSpPr>
        <p:spPr>
          <a:xfrm>
            <a:off x="548640" y="4069080"/>
            <a:ext cx="3515258" cy="178308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Card title Use them as a pair"/>
          <p:cNvSpPr txBox="1"/>
          <p:nvPr/>
        </p:nvSpPr>
        <p:spPr>
          <a:xfrm>
            <a:off x="713232" y="4187952"/>
            <a:ext cx="3186074" cy="292608"/>
          </a:xfrm>
          <a:prstGeom prst="rect">
            <a:avLst/>
          </a:prstGeom>
          <a:noFill/>
        </p:spPr>
        <p:txBody>
          <a:bodyPr wrap="square" lIns="0" rIns="0" tIns="0" bIns="0" anchor="ctr">
            <a:spAutoFit/>
          </a:bodyPr>
          <a:lstStyle/>
          <a:p>
            <a:pPr algn="l"/>
            <a:r>
              <a:rPr sz="1500" b="1" i="0">
                <a:solidFill>
                  <a:schemeClr val="tx2"/>
                </a:solidFill>
              </a:rPr>
              <a:t>Use them as a pair</a:t>
            </a:r>
          </a:p>
        </p:txBody>
      </p:sp>
      <p:sp>
        <p:nvSpPr>
          <p:cNvPr id="25" name="Card body Use them as a pair"/>
          <p:cNvSpPr txBox="1"/>
          <p:nvPr/>
        </p:nvSpPr>
        <p:spPr>
          <a:xfrm>
            <a:off x="713232" y="4526280"/>
            <a:ext cx="3186074" cy="1234439"/>
          </a:xfrm>
          <a:prstGeom prst="rect">
            <a:avLst/>
          </a:prstGeom>
          <a:noFill/>
        </p:spPr>
        <p:txBody>
          <a:bodyPr wrap="square" lIns="0" rIns="0" tIns="0" bIns="0" anchor="t">
            <a:spAutoFit/>
          </a:bodyPr>
          <a:lstStyle/>
          <a:p>
            <a:pPr algn="l"/>
            <a:r>
              <a:rPr sz="1600" b="0" i="0">
                <a:solidFill>
                  <a:schemeClr val="tx1"/>
                </a:solidFill>
              </a:rPr>
              <a:t>A .osdi from this compiler needs this ngspice: stock ngspice rejects OSDI 0.7, and original OpenVAF 0.3 objects get a recompile message.</a:t>
            </a:r>
          </a:p>
        </p:txBody>
      </p:sp>
      <p:sp>
        <p:nvSpPr>
          <p:cNvPr id="26" name="Card Built on"/>
          <p:cNvSpPr/>
          <p:nvPr/>
        </p:nvSpPr>
        <p:spPr>
          <a:xfrm>
            <a:off x="4338218" y="4069080"/>
            <a:ext cx="3515258" cy="178308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Card title Built on"/>
          <p:cNvSpPr txBox="1"/>
          <p:nvPr/>
        </p:nvSpPr>
        <p:spPr>
          <a:xfrm>
            <a:off x="4502810" y="4187952"/>
            <a:ext cx="3186074" cy="292608"/>
          </a:xfrm>
          <a:prstGeom prst="rect">
            <a:avLst/>
          </a:prstGeom>
          <a:noFill/>
        </p:spPr>
        <p:txBody>
          <a:bodyPr wrap="square" lIns="0" rIns="0" tIns="0" bIns="0" anchor="ctr">
            <a:spAutoFit/>
          </a:bodyPr>
          <a:lstStyle/>
          <a:p>
            <a:pPr algn="l"/>
            <a:r>
              <a:rPr sz="1500" b="1" i="0">
                <a:solidFill>
                  <a:schemeClr val="tx2"/>
                </a:solidFill>
              </a:rPr>
              <a:t>Built on</a:t>
            </a:r>
          </a:p>
        </p:txBody>
      </p:sp>
      <p:sp>
        <p:nvSpPr>
          <p:cNvPr id="28" name="Card body Built on"/>
          <p:cNvSpPr txBox="1"/>
          <p:nvPr/>
        </p:nvSpPr>
        <p:spPr>
          <a:xfrm>
            <a:off x="4502810" y="4526280"/>
            <a:ext cx="3186074" cy="1234439"/>
          </a:xfrm>
          <a:prstGeom prst="rect">
            <a:avLst/>
          </a:prstGeom>
          <a:noFill/>
        </p:spPr>
        <p:txBody>
          <a:bodyPr wrap="square" lIns="0" rIns="0" tIns="0" bIns="0" anchor="t">
            <a:spAutoFit/>
          </a:bodyPr>
          <a:lstStyle/>
          <a:p>
            <a:pPr algn="l"/>
            <a:r>
              <a:rPr sz="1600" b="0" i="0">
                <a:solidFill>
                  <a:schemeClr val="tx1"/>
                </a:solidFill>
              </a:rPr>
              <a:t>OpenVAF by Pascal Kuthe, OpenVAF-Reloaded by Árpád Bűrmen, and ngspice-46. The combined work is GPL-3.0.</a:t>
            </a:r>
          </a:p>
        </p:txBody>
      </p:sp>
      <p:sp>
        <p:nvSpPr>
          <p:cNvPr id="29" name="Card The goals"/>
          <p:cNvSpPr/>
          <p:nvPr/>
        </p:nvSpPr>
        <p:spPr>
          <a:xfrm>
            <a:off x="8127796" y="4069080"/>
            <a:ext cx="3515258" cy="178308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Card title The goals"/>
          <p:cNvSpPr txBox="1"/>
          <p:nvPr/>
        </p:nvSpPr>
        <p:spPr>
          <a:xfrm>
            <a:off x="8292388" y="4187952"/>
            <a:ext cx="3186074" cy="292608"/>
          </a:xfrm>
          <a:prstGeom prst="rect">
            <a:avLst/>
          </a:prstGeom>
          <a:noFill/>
        </p:spPr>
        <p:txBody>
          <a:bodyPr wrap="square" lIns="0" rIns="0" tIns="0" bIns="0" anchor="ctr">
            <a:spAutoFit/>
          </a:bodyPr>
          <a:lstStyle/>
          <a:p>
            <a:pPr algn="l"/>
            <a:r>
              <a:rPr sz="1500" b="1" i="0">
                <a:solidFill>
                  <a:schemeClr val="tx2"/>
                </a:solidFill>
              </a:rPr>
              <a:t>The goals</a:t>
            </a:r>
          </a:p>
        </p:txBody>
      </p:sp>
      <p:sp>
        <p:nvSpPr>
          <p:cNvPr id="31" name="Card body The goals"/>
          <p:cNvSpPr txBox="1"/>
          <p:nvPr/>
        </p:nvSpPr>
        <p:spPr>
          <a:xfrm>
            <a:off x="8292388" y="4526280"/>
            <a:ext cx="3186074" cy="1234439"/>
          </a:xfrm>
          <a:prstGeom prst="rect">
            <a:avLst/>
          </a:prstGeom>
          <a:noFill/>
        </p:spPr>
        <p:txBody>
          <a:bodyPr wrap="square" lIns="0" rIns="0" tIns="0" bIns="0" anchor="t">
            <a:spAutoFit/>
          </a:bodyPr>
          <a:lstStyle/>
          <a:p>
            <a:pPr algn="l"/>
            <a:r>
              <a:rPr sz="1600" b="0" i="0">
                <a:solidFill>
                  <a:schemeClr val="tx1"/>
                </a:solidFill>
              </a:rPr>
              <a:t>Make ngspice the most capable open SPICE simulator, and openvaf-r the most complete Verilog-A compiler.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project by the numbers</a:t>
            </a:r>
          </a:p>
        </p:txBody>
      </p:sp>
      <p:sp>
        <p:nvSpPr>
          <p:cNvPr id="3" name="Kicker"/>
          <p:cNvSpPr txBox="1"/>
          <p:nvPr/>
        </p:nvSpPr>
        <p:spPr>
          <a:xfrm>
            <a:off x="548640" y="274320"/>
            <a:ext cx="11094415" cy="274320"/>
          </a:xfrm>
          <a:prstGeom prst="rect">
            <a:avLst/>
          </a:prstGeom>
          <a:noFill/>
        </p:spPr>
        <p:txBody>
          <a:bodyPr wrap="square" lIns="0" rIns="0" tIns="0" bIns="0" anchor="t">
            <a:spAutoFit/>
          </a:bodyPr>
          <a:lstStyle/>
          <a:p>
            <a:pPr algn="l"/>
            <a:r>
              <a:rPr sz="1100" b="1" i="0" spc="120">
                <a:solidFill>
                  <a:schemeClr val="accent3">
                    <a:lumMod val="75000"/>
                  </a:schemeClr>
                </a:solidFill>
              </a:rPr>
              <a:t>AT A GLANCE</a:t>
            </a:r>
          </a:p>
        </p:txBody>
      </p:sp>
      <p:sp>
        <p:nvSpPr>
          <p:cNvPr id="4" name="Stat 908"/>
          <p:cNvSpPr/>
          <p:nvPr/>
        </p:nvSpPr>
        <p:spPr>
          <a:xfrm>
            <a:off x="548640" y="1508760"/>
            <a:ext cx="3515258" cy="219456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Stat number 908"/>
          <p:cNvSpPr txBox="1"/>
          <p:nvPr/>
        </p:nvSpPr>
        <p:spPr>
          <a:xfrm>
            <a:off x="777240" y="1691640"/>
            <a:ext cx="3058058" cy="868680"/>
          </a:xfrm>
          <a:prstGeom prst="rect">
            <a:avLst/>
          </a:prstGeom>
          <a:noFill/>
        </p:spPr>
        <p:txBody>
          <a:bodyPr wrap="square" lIns="0" rIns="0" tIns="0" bIns="0" anchor="t">
            <a:spAutoFit/>
          </a:bodyPr>
          <a:lstStyle/>
          <a:p>
            <a:pPr algn="l"/>
            <a:r>
              <a:rPr sz="5400" b="1" i="0">
                <a:solidFill>
                  <a:schemeClr val="accent1">
                    <a:lumMod val="85000"/>
                  </a:schemeClr>
                </a:solidFill>
                <a:latin typeface="+mj-lt"/>
              </a:rPr>
              <a:t>908</a:t>
            </a:r>
          </a:p>
        </p:txBody>
      </p:sp>
      <p:sp>
        <p:nvSpPr>
          <p:cNvPr id="6" name="Stat label 908"/>
          <p:cNvSpPr txBox="1"/>
          <p:nvPr/>
        </p:nvSpPr>
        <p:spPr>
          <a:xfrm>
            <a:off x="777240" y="2548890"/>
            <a:ext cx="3058058" cy="971550"/>
          </a:xfrm>
          <a:prstGeom prst="rect">
            <a:avLst/>
          </a:prstGeom>
          <a:noFill/>
        </p:spPr>
        <p:txBody>
          <a:bodyPr wrap="square" lIns="0" rIns="0" tIns="0" bIns="0" anchor="t">
            <a:spAutoFit/>
          </a:bodyPr>
          <a:lstStyle/>
          <a:p>
            <a:pPr algn="l"/>
            <a:r>
              <a:rPr sz="1400" b="0" i="0">
                <a:solidFill>
                  <a:schemeClr val="tx1"/>
                </a:solidFill>
              </a:rPr>
              <a:t>enhancements numbered, with 903 detailed write-ups</a:t>
            </a:r>
          </a:p>
        </p:txBody>
      </p:sp>
      <p:sp>
        <p:nvSpPr>
          <p:cNvPr id="7" name="Stat 19"/>
          <p:cNvSpPr/>
          <p:nvPr/>
        </p:nvSpPr>
        <p:spPr>
          <a:xfrm>
            <a:off x="4338218" y="1508760"/>
            <a:ext cx="3515258" cy="219456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Stat number 19"/>
          <p:cNvSpPr txBox="1"/>
          <p:nvPr/>
        </p:nvSpPr>
        <p:spPr>
          <a:xfrm>
            <a:off x="4566818" y="1691640"/>
            <a:ext cx="3058058" cy="868680"/>
          </a:xfrm>
          <a:prstGeom prst="rect">
            <a:avLst/>
          </a:prstGeom>
          <a:noFill/>
        </p:spPr>
        <p:txBody>
          <a:bodyPr wrap="square" lIns="0" rIns="0" tIns="0" bIns="0" anchor="t">
            <a:spAutoFit/>
          </a:bodyPr>
          <a:lstStyle/>
          <a:p>
            <a:pPr algn="l"/>
            <a:r>
              <a:rPr sz="5400" b="1" i="0">
                <a:solidFill>
                  <a:schemeClr val="accent2">
                    <a:lumMod val="85000"/>
                  </a:schemeClr>
                </a:solidFill>
                <a:latin typeface="+mj-lt"/>
              </a:rPr>
              <a:t>19</a:t>
            </a:r>
          </a:p>
        </p:txBody>
      </p:sp>
      <p:sp>
        <p:nvSpPr>
          <p:cNvPr id="9" name="Stat label 19"/>
          <p:cNvSpPr txBox="1"/>
          <p:nvPr/>
        </p:nvSpPr>
        <p:spPr>
          <a:xfrm>
            <a:off x="4566818" y="2548890"/>
            <a:ext cx="3058058" cy="971550"/>
          </a:xfrm>
          <a:prstGeom prst="rect">
            <a:avLst/>
          </a:prstGeom>
          <a:noFill/>
        </p:spPr>
        <p:txBody>
          <a:bodyPr wrap="square" lIns="0" rIns="0" tIns="0" bIns="0" anchor="t">
            <a:spAutoFit/>
          </a:bodyPr>
          <a:lstStyle/>
          <a:p>
            <a:pPr algn="l"/>
            <a:r>
              <a:rPr sz="1400" b="0" i="0">
                <a:solidFill>
                  <a:schemeClr val="tx1"/>
                </a:solidFill>
              </a:rPr>
              <a:t>feature areas in the live, searchable catalog</a:t>
            </a:r>
          </a:p>
        </p:txBody>
      </p:sp>
      <p:sp>
        <p:nvSpPr>
          <p:cNvPr id="10" name="Stat 596"/>
          <p:cNvSpPr/>
          <p:nvPr/>
        </p:nvSpPr>
        <p:spPr>
          <a:xfrm>
            <a:off x="8127796" y="1508760"/>
            <a:ext cx="3515258" cy="219456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Stat number 596"/>
          <p:cNvSpPr txBox="1"/>
          <p:nvPr/>
        </p:nvSpPr>
        <p:spPr>
          <a:xfrm>
            <a:off x="8356396" y="1691640"/>
            <a:ext cx="3058058" cy="868680"/>
          </a:xfrm>
          <a:prstGeom prst="rect">
            <a:avLst/>
          </a:prstGeom>
          <a:noFill/>
        </p:spPr>
        <p:txBody>
          <a:bodyPr wrap="square" lIns="0" rIns="0" tIns="0" bIns="0" anchor="t">
            <a:spAutoFit/>
          </a:bodyPr>
          <a:lstStyle/>
          <a:p>
            <a:pPr algn="l"/>
            <a:r>
              <a:rPr sz="5400" b="1" i="0">
                <a:solidFill>
                  <a:schemeClr val="accent4">
                    <a:lumMod val="85000"/>
                  </a:schemeClr>
                </a:solidFill>
                <a:latin typeface="+mj-lt"/>
              </a:rPr>
              <a:t>596</a:t>
            </a:r>
          </a:p>
        </p:txBody>
      </p:sp>
      <p:sp>
        <p:nvSpPr>
          <p:cNvPr id="12" name="Stat label 596"/>
          <p:cNvSpPr txBox="1"/>
          <p:nvPr/>
        </p:nvSpPr>
        <p:spPr>
          <a:xfrm>
            <a:off x="8356396" y="2548890"/>
            <a:ext cx="3058058" cy="971550"/>
          </a:xfrm>
          <a:prstGeom prst="rect">
            <a:avLst/>
          </a:prstGeom>
          <a:noFill/>
        </p:spPr>
        <p:txBody>
          <a:bodyPr wrap="square" lIns="0" rIns="0" tIns="0" bIns="0" anchor="t">
            <a:spAutoFit/>
          </a:bodyPr>
          <a:lstStyle/>
          <a:p>
            <a:pPr algn="l"/>
            <a:r>
              <a:rPr sz="1400" b="0" i="0">
                <a:solidFill>
                  <a:schemeClr val="tx1"/>
                </a:solidFill>
              </a:rPr>
              <a:t>verify suites in the regression sweep, all passing</a:t>
            </a:r>
          </a:p>
        </p:txBody>
      </p:sp>
      <p:sp>
        <p:nvSpPr>
          <p:cNvPr id="13" name="Stat 92"/>
          <p:cNvSpPr/>
          <p:nvPr/>
        </p:nvSpPr>
        <p:spPr>
          <a:xfrm>
            <a:off x="548640" y="3977639"/>
            <a:ext cx="3515258" cy="219456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Stat number 92"/>
          <p:cNvSpPr txBox="1"/>
          <p:nvPr/>
        </p:nvSpPr>
        <p:spPr>
          <a:xfrm>
            <a:off x="777240" y="4160520"/>
            <a:ext cx="3058058" cy="868680"/>
          </a:xfrm>
          <a:prstGeom prst="rect">
            <a:avLst/>
          </a:prstGeom>
          <a:noFill/>
        </p:spPr>
        <p:txBody>
          <a:bodyPr wrap="square" lIns="0" rIns="0" tIns="0" bIns="0" anchor="t">
            <a:spAutoFit/>
          </a:bodyPr>
          <a:lstStyle/>
          <a:p>
            <a:pPr algn="l"/>
            <a:r>
              <a:rPr sz="5400" b="1" i="0">
                <a:solidFill>
                  <a:schemeClr val="accent1">
                    <a:lumMod val="85000"/>
                  </a:schemeClr>
                </a:solidFill>
                <a:latin typeface="+mj-lt"/>
              </a:rPr>
              <a:t>92</a:t>
            </a:r>
          </a:p>
        </p:txBody>
      </p:sp>
      <p:sp>
        <p:nvSpPr>
          <p:cNvPr id="15" name="Stat label 92"/>
          <p:cNvSpPr txBox="1"/>
          <p:nvPr/>
        </p:nvSpPr>
        <p:spPr>
          <a:xfrm>
            <a:off x="777240" y="5017770"/>
            <a:ext cx="3058058" cy="971550"/>
          </a:xfrm>
          <a:prstGeom prst="rect">
            <a:avLst/>
          </a:prstGeom>
          <a:noFill/>
        </p:spPr>
        <p:txBody>
          <a:bodyPr wrap="square" lIns="0" rIns="0" tIns="0" bIns="0" anchor="t">
            <a:spAutoFit/>
          </a:bodyPr>
          <a:lstStyle/>
          <a:p>
            <a:pPr algn="l"/>
            <a:r>
              <a:rPr sz="1400" b="0" i="0">
                <a:solidFill>
                  <a:schemeClr val="tx1"/>
                </a:solidFill>
              </a:rPr>
              <a:t>standalone industry compact models compile: BSIM, PSP, HiCUM, MEXTRAM, EKV…</a:t>
            </a:r>
          </a:p>
        </p:txBody>
      </p:sp>
      <p:sp>
        <p:nvSpPr>
          <p:cNvPr id="16" name="Stat 5"/>
          <p:cNvSpPr/>
          <p:nvPr/>
        </p:nvSpPr>
        <p:spPr>
          <a:xfrm>
            <a:off x="4338218" y="3977639"/>
            <a:ext cx="3515258" cy="219456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Stat number 5"/>
          <p:cNvSpPr txBox="1"/>
          <p:nvPr/>
        </p:nvSpPr>
        <p:spPr>
          <a:xfrm>
            <a:off x="4566818" y="4160520"/>
            <a:ext cx="3058058" cy="868680"/>
          </a:xfrm>
          <a:prstGeom prst="rect">
            <a:avLst/>
          </a:prstGeom>
          <a:noFill/>
        </p:spPr>
        <p:txBody>
          <a:bodyPr wrap="square" lIns="0" rIns="0" tIns="0" bIns="0" anchor="t">
            <a:spAutoFit/>
          </a:bodyPr>
          <a:lstStyle/>
          <a:p>
            <a:pPr algn="l"/>
            <a:r>
              <a:rPr sz="5400" b="1" i="0">
                <a:solidFill>
                  <a:schemeClr val="accent2">
                    <a:lumMod val="85000"/>
                  </a:schemeClr>
                </a:solidFill>
                <a:latin typeface="+mj-lt"/>
              </a:rPr>
              <a:t>5</a:t>
            </a:r>
          </a:p>
        </p:txBody>
      </p:sp>
      <p:sp>
        <p:nvSpPr>
          <p:cNvPr id="18" name="Stat label 5"/>
          <p:cNvSpPr txBox="1"/>
          <p:nvPr/>
        </p:nvSpPr>
        <p:spPr>
          <a:xfrm>
            <a:off x="4566818" y="5017770"/>
            <a:ext cx="3058058" cy="971550"/>
          </a:xfrm>
          <a:prstGeom prst="rect">
            <a:avLst/>
          </a:prstGeom>
          <a:noFill/>
        </p:spPr>
        <p:txBody>
          <a:bodyPr wrap="square" lIns="0" rIns="0" tIns="0" bIns="0" anchor="t">
            <a:spAutoFit/>
          </a:bodyPr>
          <a:lstStyle/>
          <a:p>
            <a:pPr algn="l"/>
            <a:r>
              <a:rPr sz="1400" b="0" i="0">
                <a:solidFill>
                  <a:schemeClr val="tx1"/>
                </a:solidFill>
              </a:rPr>
              <a:t>platforms built by CI: Linux x86-64 and ARM64, macOS Apple Silicon and Intel, Windows</a:t>
            </a:r>
          </a:p>
        </p:txBody>
      </p:sp>
      <p:sp>
        <p:nvSpPr>
          <p:cNvPr id="19" name="Stat 49"/>
          <p:cNvSpPr/>
          <p:nvPr/>
        </p:nvSpPr>
        <p:spPr>
          <a:xfrm>
            <a:off x="8127796" y="3977639"/>
            <a:ext cx="3515258" cy="219456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Stat number 49"/>
          <p:cNvSpPr txBox="1"/>
          <p:nvPr/>
        </p:nvSpPr>
        <p:spPr>
          <a:xfrm>
            <a:off x="8356396" y="4160520"/>
            <a:ext cx="3058058" cy="868680"/>
          </a:xfrm>
          <a:prstGeom prst="rect">
            <a:avLst/>
          </a:prstGeom>
          <a:noFill/>
        </p:spPr>
        <p:txBody>
          <a:bodyPr wrap="square" lIns="0" rIns="0" tIns="0" bIns="0" anchor="t">
            <a:spAutoFit/>
          </a:bodyPr>
          <a:lstStyle/>
          <a:p>
            <a:pPr algn="l"/>
            <a:r>
              <a:rPr sz="5400" b="1" i="0">
                <a:solidFill>
                  <a:schemeClr val="accent4">
                    <a:lumMod val="85000"/>
                  </a:schemeClr>
                </a:solidFill>
                <a:latin typeface="+mj-lt"/>
              </a:rPr>
              <a:t>49</a:t>
            </a:r>
          </a:p>
        </p:txBody>
      </p:sp>
      <p:sp>
        <p:nvSpPr>
          <p:cNvPr id="21" name="Stat label 49"/>
          <p:cNvSpPr txBox="1"/>
          <p:nvPr/>
        </p:nvSpPr>
        <p:spPr>
          <a:xfrm>
            <a:off x="8356396" y="5017770"/>
            <a:ext cx="3058058" cy="971550"/>
          </a:xfrm>
          <a:prstGeom prst="rect">
            <a:avLst/>
          </a:prstGeom>
          <a:noFill/>
        </p:spPr>
        <p:txBody>
          <a:bodyPr wrap="square" lIns="0" rIns="0" tIns="0" bIns="0" anchor="t">
            <a:spAutoFit/>
          </a:bodyPr>
          <a:lstStyle/>
          <a:p>
            <a:pPr algn="l"/>
            <a:r>
              <a:rPr sz="1400" b="0" i="0">
                <a:solidFill>
                  <a:schemeClr val="tx1"/>
                </a:solidFill>
              </a:rPr>
              <a:t>bug-hunt and correctness-campaign pages: what was probed, found and fixed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Where the work went</a:t>
            </a:r>
          </a:p>
        </p:txBody>
      </p:sp>
      <p:sp>
        <p:nvSpPr>
          <p:cNvPr id="3" name="Kicker"/>
          <p:cNvSpPr txBox="1"/>
          <p:nvPr/>
        </p:nvSpPr>
        <p:spPr>
          <a:xfrm>
            <a:off x="548640" y="274320"/>
            <a:ext cx="11094415" cy="274320"/>
          </a:xfrm>
          <a:prstGeom prst="rect">
            <a:avLst/>
          </a:prstGeom>
          <a:noFill/>
        </p:spPr>
        <p:txBody>
          <a:bodyPr wrap="square" lIns="0" rIns="0" tIns="0" bIns="0" anchor="t">
            <a:spAutoFit/>
          </a:bodyPr>
          <a:lstStyle/>
          <a:p>
            <a:pPr algn="l"/>
            <a:r>
              <a:rPr sz="1100" b="1" i="0" spc="120">
                <a:solidFill>
                  <a:schemeClr val="accent3">
                    <a:lumMod val="75000"/>
                  </a:schemeClr>
                </a:solidFill>
              </a:rPr>
              <a:t>ENHANCEMENTS PER FEATURE AREA</a:t>
            </a:r>
          </a:p>
        </p:txBody>
      </p:sp>
      <p:graphicFrame>
        <p:nvGraphicFramePr>
          <p:cNvPr id="4" name="Chart enhancements per area"/>
          <p:cNvGraphicFramePr>
            <a:graphicFrameLocks noGrp="1"/>
          </p:cNvGraphicFramePr>
          <p:nvPr/>
        </p:nvGraphicFramePr>
        <p:xfrm>
          <a:off x="548640" y="1417320"/>
          <a:ext cx="7863840" cy="4846320"/>
        </p:xfrm>
        <a:graphic>
          <a:graphicData uri="http://schemas.openxmlformats.org/drawingml/2006/chart">
            <c:chart xmlns:c="http://schemas.openxmlformats.org/drawingml/2006/chart" r:id="rId3"/>
          </a:graphicData>
        </a:graphic>
      </p:graphicFrame>
      <p:sp>
        <p:nvSpPr>
          <p:cNvPr id="5" name="Stat 489"/>
          <p:cNvSpPr/>
          <p:nvPr/>
        </p:nvSpPr>
        <p:spPr>
          <a:xfrm>
            <a:off x="8732520" y="1417320"/>
            <a:ext cx="2907792" cy="224028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Stat number 489"/>
          <p:cNvSpPr txBox="1"/>
          <p:nvPr/>
        </p:nvSpPr>
        <p:spPr>
          <a:xfrm>
            <a:off x="8961120" y="1600200"/>
            <a:ext cx="2450592" cy="868680"/>
          </a:xfrm>
          <a:prstGeom prst="rect">
            <a:avLst/>
          </a:prstGeom>
          <a:noFill/>
        </p:spPr>
        <p:txBody>
          <a:bodyPr wrap="square" lIns="0" rIns="0" tIns="0" bIns="0" anchor="t">
            <a:spAutoFit/>
          </a:bodyPr>
          <a:lstStyle/>
          <a:p>
            <a:pPr algn="l"/>
            <a:r>
              <a:rPr sz="4800" b="1" i="0">
                <a:solidFill>
                  <a:schemeClr val="accent1">
                    <a:lumMod val="85000"/>
                  </a:schemeClr>
                </a:solidFill>
                <a:latin typeface="+mj-lt"/>
              </a:rPr>
              <a:t>489</a:t>
            </a:r>
          </a:p>
        </p:txBody>
      </p:sp>
      <p:sp>
        <p:nvSpPr>
          <p:cNvPr id="7" name="Stat label 489"/>
          <p:cNvSpPr txBox="1"/>
          <p:nvPr/>
        </p:nvSpPr>
        <p:spPr>
          <a:xfrm>
            <a:off x="8961120" y="2362199"/>
            <a:ext cx="2450592" cy="1112520"/>
          </a:xfrm>
          <a:prstGeom prst="rect">
            <a:avLst/>
          </a:prstGeom>
          <a:noFill/>
        </p:spPr>
        <p:txBody>
          <a:bodyPr wrap="square" lIns="0" rIns="0" tIns="0" bIns="0" anchor="t">
            <a:spAutoFit/>
          </a:bodyPr>
          <a:lstStyle/>
          <a:p>
            <a:pPr algn="l"/>
            <a:r>
              <a:rPr sz="1400" b="0" i="0">
                <a:solidFill>
                  <a:schemeClr val="tx1"/>
                </a:solidFill>
              </a:rPr>
              <a:t>enhancements in the nine compiler areas</a:t>
            </a:r>
          </a:p>
        </p:txBody>
      </p:sp>
      <p:sp>
        <p:nvSpPr>
          <p:cNvPr id="8" name="Stat 424"/>
          <p:cNvSpPr/>
          <p:nvPr/>
        </p:nvSpPr>
        <p:spPr>
          <a:xfrm>
            <a:off x="8732520" y="3931920"/>
            <a:ext cx="2907792" cy="224028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Stat number 424"/>
          <p:cNvSpPr txBox="1"/>
          <p:nvPr/>
        </p:nvSpPr>
        <p:spPr>
          <a:xfrm>
            <a:off x="8961120" y="4114800"/>
            <a:ext cx="2450592" cy="868680"/>
          </a:xfrm>
          <a:prstGeom prst="rect">
            <a:avLst/>
          </a:prstGeom>
          <a:noFill/>
        </p:spPr>
        <p:txBody>
          <a:bodyPr wrap="square" lIns="0" rIns="0" tIns="0" bIns="0" anchor="t">
            <a:spAutoFit/>
          </a:bodyPr>
          <a:lstStyle/>
          <a:p>
            <a:pPr algn="l"/>
            <a:r>
              <a:rPr sz="4800" b="1" i="0">
                <a:solidFill>
                  <a:schemeClr val="accent2">
                    <a:lumMod val="85000"/>
                  </a:schemeClr>
                </a:solidFill>
                <a:latin typeface="+mj-lt"/>
              </a:rPr>
              <a:t>424</a:t>
            </a:r>
          </a:p>
        </p:txBody>
      </p:sp>
      <p:sp>
        <p:nvSpPr>
          <p:cNvPr id="10" name="Stat label 424"/>
          <p:cNvSpPr txBox="1"/>
          <p:nvPr/>
        </p:nvSpPr>
        <p:spPr>
          <a:xfrm>
            <a:off x="8961120" y="4876800"/>
            <a:ext cx="2450592" cy="1112520"/>
          </a:xfrm>
          <a:prstGeom prst="rect">
            <a:avLst/>
          </a:prstGeom>
          <a:noFill/>
        </p:spPr>
        <p:txBody>
          <a:bodyPr wrap="square" lIns="0" rIns="0" tIns="0" bIns="0" anchor="t">
            <a:spAutoFit/>
          </a:bodyPr>
          <a:lstStyle/>
          <a:p>
            <a:pPr algn="l"/>
            <a:r>
              <a:rPr sz="1400" b="0" i="0">
                <a:solidFill>
                  <a:schemeClr val="tx1"/>
                </a:solidFill>
              </a:rPr>
              <a:t>enhancements in the ten simulator areas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Four parts</a:t>
            </a:r>
          </a:p>
        </p:txBody>
      </p:sp>
      <p:sp>
        <p:nvSpPr>
          <p:cNvPr id="3" name="Kicker"/>
          <p:cNvSpPr txBox="1"/>
          <p:nvPr/>
        </p:nvSpPr>
        <p:spPr>
          <a:xfrm>
            <a:off x="548640" y="274320"/>
            <a:ext cx="11094415" cy="274320"/>
          </a:xfrm>
          <a:prstGeom prst="rect">
            <a:avLst/>
          </a:prstGeom>
          <a:noFill/>
        </p:spPr>
        <p:txBody>
          <a:bodyPr wrap="square" lIns="0" rIns="0" tIns="0" bIns="0" anchor="t">
            <a:spAutoFit/>
          </a:bodyPr>
          <a:lstStyle/>
          <a:p>
            <a:pPr algn="l"/>
            <a:r>
              <a:rPr sz="1100" b="1" i="0" spc="120">
                <a:solidFill>
                  <a:schemeClr val="accent3">
                    <a:lumMod val="75000"/>
                  </a:schemeClr>
                </a:solidFill>
              </a:rPr>
              <a:t>AGENDA</a:t>
            </a:r>
          </a:p>
        </p:txBody>
      </p:sp>
      <p:sp>
        <p:nvSpPr>
          <p:cNvPr id="4" name="Part number 1"/>
          <p:cNvSpPr/>
          <p:nvPr/>
        </p:nvSpPr>
        <p:spPr>
          <a:xfrm>
            <a:off x="548640" y="1508760"/>
            <a:ext cx="868680" cy="86868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3000" b="1">
                <a:solidFill>
                  <a:schemeClr val="bg1"/>
                </a:solidFill>
              </a:rPr>
              <a:t>1</a:t>
            </a:r>
          </a:p>
        </p:txBody>
      </p:sp>
      <p:sp>
        <p:nvSpPr>
          <p:cNvPr id="5" name="Part 1"/>
          <p:cNvSpPr txBox="1"/>
          <p:nvPr/>
        </p:nvSpPr>
        <p:spPr>
          <a:xfrm>
            <a:off x="1737360" y="1527048"/>
            <a:ext cx="9601200" cy="384048"/>
          </a:xfrm>
          <a:prstGeom prst="rect">
            <a:avLst/>
          </a:prstGeom>
          <a:noFill/>
        </p:spPr>
        <p:txBody>
          <a:bodyPr wrap="square" lIns="0" rIns="0" tIns="0" bIns="0" anchor="t">
            <a:spAutoFit/>
          </a:bodyPr>
          <a:lstStyle/>
          <a:p>
            <a:pPr algn="l"/>
            <a:r>
              <a:rPr sz="2200" b="1" i="0">
                <a:solidFill>
                  <a:schemeClr val="tx2"/>
                </a:solidFill>
              </a:rPr>
              <a:t>openvaf-r, the compiler</a:t>
            </a:r>
          </a:p>
        </p:txBody>
      </p:sp>
      <p:sp>
        <p:nvSpPr>
          <p:cNvPr id="6" name="Part text 1"/>
          <p:cNvSpPr txBox="1"/>
          <p:nvPr/>
        </p:nvSpPr>
        <p:spPr>
          <a:xfrm>
            <a:off x="1737360" y="1965960"/>
            <a:ext cx="9601200" cy="457200"/>
          </a:xfrm>
          <a:prstGeom prst="rect">
            <a:avLst/>
          </a:prstGeom>
          <a:noFill/>
        </p:spPr>
        <p:txBody>
          <a:bodyPr wrap="square" lIns="0" rIns="0" tIns="0" bIns="0" anchor="t">
            <a:spAutoFit/>
          </a:bodyPr>
          <a:lstStyle/>
          <a:p>
            <a:pPr algn="l"/>
            <a:r>
              <a:rPr sz="1500" b="0" i="0">
                <a:solidFill>
                  <a:schemeClr val="tx1"/>
                </a:solidFill>
              </a:rPr>
              <a:t>Language coverage, analog operators, hierarchy, buses and arrays, tables and noise, system tasks, robustness</a:t>
            </a:r>
          </a:p>
        </p:txBody>
      </p:sp>
      <p:sp>
        <p:nvSpPr>
          <p:cNvPr id="7" name="Part number 2"/>
          <p:cNvSpPr/>
          <p:nvPr/>
        </p:nvSpPr>
        <p:spPr>
          <a:xfrm>
            <a:off x="548640" y="2697480"/>
            <a:ext cx="868680" cy="868680"/>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3000" b="1">
                <a:solidFill>
                  <a:schemeClr val="bg1"/>
                </a:solidFill>
              </a:rPr>
              <a:t>2</a:t>
            </a:r>
          </a:p>
        </p:txBody>
      </p:sp>
      <p:sp>
        <p:nvSpPr>
          <p:cNvPr id="8" name="Part 2"/>
          <p:cNvSpPr txBox="1"/>
          <p:nvPr/>
        </p:nvSpPr>
        <p:spPr>
          <a:xfrm>
            <a:off x="1737360" y="2715768"/>
            <a:ext cx="9601200" cy="384048"/>
          </a:xfrm>
          <a:prstGeom prst="rect">
            <a:avLst/>
          </a:prstGeom>
          <a:noFill/>
        </p:spPr>
        <p:txBody>
          <a:bodyPr wrap="square" lIns="0" rIns="0" tIns="0" bIns="0" anchor="t">
            <a:spAutoFit/>
          </a:bodyPr>
          <a:lstStyle/>
          <a:p>
            <a:pPr algn="l"/>
            <a:r>
              <a:rPr sz="2200" b="1" i="0">
                <a:solidFill>
                  <a:schemeClr val="tx2"/>
                </a:solidFill>
              </a:rPr>
              <a:t>ngspice-46, the simulator</a:t>
            </a:r>
          </a:p>
        </p:txBody>
      </p:sp>
      <p:sp>
        <p:nvSpPr>
          <p:cNvPr id="9" name="Part text 2"/>
          <p:cNvSpPr txBox="1"/>
          <p:nvPr/>
        </p:nvSpPr>
        <p:spPr>
          <a:xfrm>
            <a:off x="1737360" y="3154680"/>
            <a:ext cx="9601200" cy="457200"/>
          </a:xfrm>
          <a:prstGeom prst="rect">
            <a:avLst/>
          </a:prstGeom>
          <a:noFill/>
        </p:spPr>
        <p:txBody>
          <a:bodyPr wrap="square" lIns="0" rIns="0" tIns="0" bIns="0" anchor="t">
            <a:spAutoFit/>
          </a:bodyPr>
          <a:lstStyle/>
          <a:p>
            <a:pPr algn="l"/>
            <a:r>
              <a:rPr sz="1500" b="0" i="0">
                <a:solidFill>
                  <a:schemeClr val="tx1"/>
                </a:solidFill>
              </a:rPr>
              <a:t>OSDI devices, analyses, the RF suite, S-parameters, signal integrity, convergence, KLU, statistics, optimization, reliability, workflow</a:t>
            </a:r>
          </a:p>
        </p:txBody>
      </p:sp>
      <p:sp>
        <p:nvSpPr>
          <p:cNvPr id="10" name="Part number 3"/>
          <p:cNvSpPr/>
          <p:nvPr/>
        </p:nvSpPr>
        <p:spPr>
          <a:xfrm>
            <a:off x="548640" y="3886200"/>
            <a:ext cx="868680" cy="868680"/>
          </a:xfrm>
          <a:prstGeom prst="ellipse">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3000" b="1">
                <a:solidFill>
                  <a:schemeClr val="bg1"/>
                </a:solidFill>
              </a:rPr>
              <a:t>3</a:t>
            </a:r>
          </a:p>
        </p:txBody>
      </p:sp>
      <p:sp>
        <p:nvSpPr>
          <p:cNvPr id="11" name="Part 3"/>
          <p:cNvSpPr txBox="1"/>
          <p:nvPr/>
        </p:nvSpPr>
        <p:spPr>
          <a:xfrm>
            <a:off x="1737360" y="3904487"/>
            <a:ext cx="9601200" cy="384048"/>
          </a:xfrm>
          <a:prstGeom prst="rect">
            <a:avLst/>
          </a:prstGeom>
          <a:noFill/>
        </p:spPr>
        <p:txBody>
          <a:bodyPr wrap="square" lIns="0" rIns="0" tIns="0" bIns="0" anchor="t">
            <a:spAutoFit/>
          </a:bodyPr>
          <a:lstStyle/>
          <a:p>
            <a:pPr algn="l"/>
            <a:r>
              <a:rPr sz="2200" b="1" i="0">
                <a:solidFill>
                  <a:schemeClr val="tx2"/>
                </a:solidFill>
              </a:rPr>
              <a:t>Verification</a:t>
            </a:r>
          </a:p>
        </p:txBody>
      </p:sp>
      <p:sp>
        <p:nvSpPr>
          <p:cNvPr id="12" name="Part text 3"/>
          <p:cNvSpPr txBox="1"/>
          <p:nvPr/>
        </p:nvSpPr>
        <p:spPr>
          <a:xfrm>
            <a:off x="1737360" y="4343400"/>
            <a:ext cx="9601200" cy="457200"/>
          </a:xfrm>
          <a:prstGeom prst="rect">
            <a:avLst/>
          </a:prstGeom>
          <a:noFill/>
        </p:spPr>
        <p:txBody>
          <a:bodyPr wrap="square" lIns="0" rIns="0" tIns="0" bIns="0" anchor="t">
            <a:spAutoFit/>
          </a:bodyPr>
          <a:lstStyle/>
          <a:p>
            <a:pPr algn="l"/>
            <a:r>
              <a:rPr sz="1500" b="0" i="0">
                <a:solidFill>
                  <a:schemeClr val="tx1"/>
                </a:solidFill>
              </a:rPr>
              <a:t>The verify-suite pipeline, physics validation, campaigns, the timeline, platforms</a:t>
            </a:r>
          </a:p>
        </p:txBody>
      </p:sp>
      <p:sp>
        <p:nvSpPr>
          <p:cNvPr id="13" name="Part number 4"/>
          <p:cNvSpPr/>
          <p:nvPr/>
        </p:nvSpPr>
        <p:spPr>
          <a:xfrm>
            <a:off x="548640" y="5074920"/>
            <a:ext cx="868680" cy="868680"/>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3000" b="1">
                <a:solidFill>
                  <a:schemeClr val="bg1"/>
                </a:solidFill>
              </a:rPr>
              <a:t>4</a:t>
            </a:r>
          </a:p>
        </p:txBody>
      </p:sp>
      <p:sp>
        <p:nvSpPr>
          <p:cNvPr id="14" name="Part 4"/>
          <p:cNvSpPr txBox="1"/>
          <p:nvPr/>
        </p:nvSpPr>
        <p:spPr>
          <a:xfrm>
            <a:off x="1737360" y="5093208"/>
            <a:ext cx="9601200" cy="384048"/>
          </a:xfrm>
          <a:prstGeom prst="rect">
            <a:avLst/>
          </a:prstGeom>
          <a:noFill/>
        </p:spPr>
        <p:txBody>
          <a:bodyPr wrap="square" lIns="0" rIns="0" tIns="0" bIns="0" anchor="t">
            <a:spAutoFit/>
          </a:bodyPr>
          <a:lstStyle/>
          <a:p>
            <a:pPr algn="l"/>
            <a:r>
              <a:rPr sz="2200" b="1" i="0">
                <a:solidFill>
                  <a:schemeClr val="tx2"/>
                </a:solidFill>
              </a:rPr>
              <a:t>Using it</a:t>
            </a:r>
          </a:p>
        </p:txBody>
      </p:sp>
      <p:sp>
        <p:nvSpPr>
          <p:cNvPr id="15" name="Part text 4"/>
          <p:cNvSpPr txBox="1"/>
          <p:nvPr/>
        </p:nvSpPr>
        <p:spPr>
          <a:xfrm>
            <a:off x="1737360" y="5532120"/>
            <a:ext cx="9601200" cy="457200"/>
          </a:xfrm>
          <a:prstGeom prst="rect">
            <a:avLst/>
          </a:prstGeom>
          <a:noFill/>
        </p:spPr>
        <p:txBody>
          <a:bodyPr wrap="square" lIns="0" rIns="0" tIns="0" bIns="0" anchor="t">
            <a:spAutoFit/>
          </a:bodyPr>
          <a:lstStyle/>
          <a:p>
            <a:pPr algn="l"/>
            <a:r>
              <a:rPr sz="1500" b="0" i="0">
                <a:solidFill>
                  <a:schemeClr val="tx1"/>
                </a:solidFill>
              </a:rPr>
              <a:t>Getting started in four steps, scope and known limits, the documentation map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openvaf-r: the Verilog-A compiler</a:t>
            </a:r>
          </a:p>
        </p:txBody>
      </p:sp>
      <p:sp>
        <p:nvSpPr>
          <p:cNvPr id="3" name="Text Placeholder 2"/>
          <p:cNvSpPr>
            <a:spLocks noGrp="1"/>
          </p:cNvSpPr>
          <p:nvPr>
            <p:ph type="body" idx="1"/>
          </p:nvPr>
        </p:nvSpPr>
        <p:spPr/>
        <p:txBody>
          <a:bodyPr/>
          <a:lstStyle/>
          <a:p>
            <a:r>
              <a:t>Part 1 · Annex C of the Verilog-AMS LRM 2023, clause by clause. A construct counts as supported only when its values and its derivatives are right.</a:t>
            </a:r>
          </a:p>
        </p:txBody>
      </p:sp>
      <p:sp>
        <p:nvSpPr>
          <p:cNvPr id="4" name="Stat 489"/>
          <p:cNvSpPr/>
          <p:nvPr/>
        </p:nvSpPr>
        <p:spPr>
          <a:xfrm>
            <a:off x="8229600" y="2377440"/>
            <a:ext cx="3383280" cy="2103120"/>
          </a:xfrm>
          <a:prstGeom prst="roundRect">
            <a:avLst>
              <a:gd name="adj" fmla="val 6000"/>
            </a:avLst>
          </a:prstGeom>
          <a:solidFill>
            <a:schemeClr val="tx2">
              <a:lumMod val="88000"/>
              <a:lumOff val="1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Stat number 489"/>
          <p:cNvSpPr txBox="1"/>
          <p:nvPr/>
        </p:nvSpPr>
        <p:spPr>
          <a:xfrm>
            <a:off x="8458200" y="2560320"/>
            <a:ext cx="2926080" cy="868680"/>
          </a:xfrm>
          <a:prstGeom prst="rect">
            <a:avLst/>
          </a:prstGeom>
          <a:noFill/>
        </p:spPr>
        <p:txBody>
          <a:bodyPr wrap="square" lIns="0" rIns="0" tIns="0" bIns="0" anchor="t">
            <a:spAutoFit/>
          </a:bodyPr>
          <a:lstStyle/>
          <a:p>
            <a:pPr algn="l"/>
            <a:r>
              <a:rPr sz="6000" b="1" i="0">
                <a:solidFill>
                  <a:schemeClr val="accent1"/>
                </a:solidFill>
                <a:latin typeface="+mj-lt"/>
              </a:rPr>
              <a:t>489</a:t>
            </a:r>
          </a:p>
        </p:txBody>
      </p:sp>
      <p:sp>
        <p:nvSpPr>
          <p:cNvPr id="6" name="Stat label 489"/>
          <p:cNvSpPr txBox="1"/>
          <p:nvPr/>
        </p:nvSpPr>
        <p:spPr>
          <a:xfrm>
            <a:off x="8458200" y="3512820"/>
            <a:ext cx="2926080" cy="784859"/>
          </a:xfrm>
          <a:prstGeom prst="rect">
            <a:avLst/>
          </a:prstGeom>
          <a:noFill/>
        </p:spPr>
        <p:txBody>
          <a:bodyPr wrap="square" lIns="0" rIns="0" tIns="0" bIns="0" anchor="t">
            <a:spAutoFit/>
          </a:bodyPr>
          <a:lstStyle/>
          <a:p>
            <a:pPr algn="l"/>
            <a:r>
              <a:rPr sz="1600" b="0" i="0">
                <a:solidFill>
                  <a:schemeClr val="bg1"/>
                </a:solidFill>
              </a:rPr>
              <a:t>enhancements across nine compiler feature areas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Language coverage at a glance</a:t>
            </a:r>
          </a:p>
        </p:txBody>
      </p:sp>
      <p:sp>
        <p:nvSpPr>
          <p:cNvPr id="3" name="Kicker"/>
          <p:cNvSpPr txBox="1"/>
          <p:nvPr/>
        </p:nvSpPr>
        <p:spPr>
          <a:xfrm>
            <a:off x="548640" y="274320"/>
            <a:ext cx="11094415" cy="274320"/>
          </a:xfrm>
          <a:prstGeom prst="rect">
            <a:avLst/>
          </a:prstGeom>
          <a:noFill/>
        </p:spPr>
        <p:txBody>
          <a:bodyPr wrap="square" lIns="0" rIns="0" tIns="0" bIns="0" anchor="t">
            <a:spAutoFit/>
          </a:bodyPr>
          <a:lstStyle/>
          <a:p>
            <a:pPr algn="l"/>
            <a:r>
              <a:rPr sz="1100" b="1" i="0" spc="120">
                <a:solidFill>
                  <a:schemeClr val="accent1">
                    <a:lumMod val="75000"/>
                  </a:schemeClr>
                </a:solidFill>
              </a:rPr>
              <a:t>LRM 2023 COMPLIANCE</a:t>
            </a:r>
          </a:p>
        </p:txBody>
      </p:sp>
      <p:graphicFrame>
        <p:nvGraphicFramePr>
          <p:cNvPr id="4" name="Coverage table"/>
          <p:cNvGraphicFramePr>
            <a:graphicFrameLocks noGrp="1"/>
          </p:cNvGraphicFramePr>
          <p:nvPr/>
        </p:nvGraphicFramePr>
        <p:xfrm>
          <a:off x="548640" y="1417320"/>
          <a:ext cx="11091672" cy="4736592"/>
        </p:xfrm>
        <a:graphic>
          <a:graphicData uri="http://schemas.openxmlformats.org/drawingml/2006/table">
            <a:tbl>
              <a:tblPr firstRow="1">
                <a:tableStyleId>{5C22544A-7EE6-4342-B048-85BDC9FD1C3A}</a:tableStyleId>
              </a:tblPr>
              <a:tblGrid>
                <a:gridCol w="3931920"/>
                <a:gridCol w="1463040"/>
                <a:gridCol w="5696712"/>
              </a:tblGrid>
              <a:tr h="338328">
                <a:tc>
                  <a:txBody>
                    <a:bodyPr wrap="square"/>
                    <a:lstStyle/>
                    <a:p>
                      <a:r>
                        <a:rPr sz="1300" b="1">
                          <a:solidFill>
                            <a:schemeClr val="bg1"/>
                          </a:solidFill>
                        </a:rPr>
                        <a:t>LRM clause</a:t>
                      </a:r>
                    </a:p>
                  </a:txBody>
                  <a:tcPr marL="91440" marR="91440" marT="36576" marB="36576" anchor="ctr">
                    <a:solidFill>
                      <a:schemeClr val="tx2"/>
                    </a:solidFill>
                  </a:tcPr>
                </a:tc>
                <a:tc>
                  <a:txBody>
                    <a:bodyPr wrap="square"/>
                    <a:lstStyle/>
                    <a:p>
                      <a:r>
                        <a:rPr sz="1300" b="1">
                          <a:solidFill>
                            <a:schemeClr val="bg1"/>
                          </a:solidFill>
                        </a:rPr>
                        <a:t>Status</a:t>
                      </a:r>
                    </a:p>
                  </a:txBody>
                  <a:tcPr marL="91440" marR="91440" marT="36576" marB="36576" anchor="ctr">
                    <a:solidFill>
                      <a:schemeClr val="tx2"/>
                    </a:solidFill>
                  </a:tcPr>
                </a:tc>
                <a:tc>
                  <a:txBody>
                    <a:bodyPr wrap="square"/>
                    <a:lstStyle/>
                    <a:p>
                      <a:r>
                        <a:rPr sz="1300" b="1">
                          <a:solidFill>
                            <a:schemeClr val="bg1"/>
                          </a:solidFill>
                        </a:rPr>
                        <a:t>What it covers</a:t>
                      </a:r>
                    </a:p>
                  </a:txBody>
                  <a:tcPr marL="91440" marR="91440" marT="36576" marB="36576" anchor="ctr">
                    <a:solidFill>
                      <a:schemeClr val="tx2"/>
                    </a:solidFill>
                  </a:tcPr>
                </a:tc>
              </a:tr>
              <a:tr h="338328">
                <a:tc>
                  <a:txBody>
                    <a:bodyPr wrap="square"/>
                    <a:lstStyle/>
                    <a:p>
                      <a:r>
                        <a:rPr sz="1300" b="0">
                          <a:solidFill>
                            <a:schemeClr val="tx1"/>
                          </a:solidFill>
                        </a:rPr>
                        <a:t>2 · Lexical conventions</a:t>
                      </a:r>
                    </a:p>
                  </a:txBody>
                  <a:tcPr marL="91440" marR="91440" marT="36576" marB="36576" anchor="ctr">
                    <a:solidFill>
                      <a:schemeClr val="bg1"/>
                    </a:solidFill>
                  </a:tcPr>
                </a:tc>
                <a:tc>
                  <a:txBody>
                    <a:bodyPr wrap="square"/>
                    <a:lstStyle/>
                    <a:p>
                      <a:r>
                        <a:rPr sz="1300" b="1">
                          <a:solidFill>
                            <a:schemeClr val="accent4">
                              <a:lumMod val="75000"/>
                            </a:schemeClr>
                          </a:solidFill>
                        </a:rPr>
                        <a:t>Full</a:t>
                      </a:r>
                    </a:p>
                  </a:txBody>
                  <a:tcPr marL="91440" marR="91440" marT="36576" marB="36576" anchor="ctr">
                    <a:solidFill>
                      <a:schemeClr val="bg1"/>
                    </a:solidFill>
                  </a:tcPr>
                </a:tc>
                <a:tc>
                  <a:txBody>
                    <a:bodyPr wrap="square"/>
                    <a:lstStyle/>
                    <a:p>
                      <a:r>
                        <a:rPr sz="1300" b="0">
                          <a:solidFill>
                            <a:schemeClr val="tx1"/>
                          </a:solidFill>
                        </a:rPr>
                        <a:t>escaped identifiers, based literals, SI suffixes, attributes</a:t>
                      </a:r>
                    </a:p>
                  </a:txBody>
                  <a:tcPr marL="91440" marR="91440" marT="36576" marB="36576" anchor="ctr">
                    <a:solidFill>
                      <a:schemeClr val="bg1"/>
                    </a:solidFill>
                  </a:tcPr>
                </a:tc>
              </a:tr>
              <a:tr h="338328">
                <a:tc>
                  <a:txBody>
                    <a:bodyPr wrap="square"/>
                    <a:lstStyle/>
                    <a:p>
                      <a:r>
                        <a:rPr sz="1300" b="0">
                          <a:solidFill>
                            <a:schemeClr val="tx1"/>
                          </a:solidFill>
                        </a:rPr>
                        <a:t>3 · Data types and parameters</a:t>
                      </a:r>
                    </a:p>
                  </a:txBody>
                  <a:tcPr marL="91440" marR="91440" marT="36576" marB="36576" anchor="ctr">
                    <a:solidFill>
                      <a:schemeClr val="bg2"/>
                    </a:solidFill>
                  </a:tcPr>
                </a:tc>
                <a:tc>
                  <a:txBody>
                    <a:bodyPr wrap="square"/>
                    <a:lstStyle/>
                    <a:p>
                      <a:r>
                        <a:rPr sz="1300" b="1">
                          <a:solidFill>
                            <a:schemeClr val="accent4">
                              <a:lumMod val="75000"/>
                            </a:schemeClr>
                          </a:solidFill>
                        </a:rPr>
                        <a:t>Full</a:t>
                      </a:r>
                    </a:p>
                  </a:txBody>
                  <a:tcPr marL="91440" marR="91440" marT="36576" marB="36576" anchor="ctr">
                    <a:solidFill>
                      <a:schemeClr val="bg2"/>
                    </a:solidFill>
                  </a:tcPr>
                </a:tc>
                <a:tc>
                  <a:txBody>
                    <a:bodyPr wrap="square"/>
                    <a:lstStyle/>
                    <a:p>
                      <a:r>
                        <a:rPr sz="1300" b="0">
                          <a:solidFill>
                            <a:schemeClr val="tx1"/>
                          </a:solidFill>
                        </a:rPr>
                        <a:t>ranges, localparam, aliasparam, arrays, paramsets, block scope</a:t>
                      </a:r>
                    </a:p>
                  </a:txBody>
                  <a:tcPr marL="91440" marR="91440" marT="36576" marB="36576" anchor="ctr">
                    <a:solidFill>
                      <a:schemeClr val="bg2"/>
                    </a:solidFill>
                  </a:tcPr>
                </a:tc>
              </a:tr>
              <a:tr h="338328">
                <a:tc>
                  <a:txBody>
                    <a:bodyPr wrap="square"/>
                    <a:lstStyle/>
                    <a:p>
                      <a:r>
                        <a:rPr sz="1300" b="0">
                          <a:solidFill>
                            <a:schemeClr val="tx1"/>
                          </a:solidFill>
                        </a:rPr>
                        <a:t>3.5–3.13 · Natures, disciplines, nets</a:t>
                      </a:r>
                    </a:p>
                  </a:txBody>
                  <a:tcPr marL="91440" marR="91440" marT="36576" marB="36576" anchor="ctr">
                    <a:solidFill>
                      <a:schemeClr val="bg1"/>
                    </a:solidFill>
                  </a:tcPr>
                </a:tc>
                <a:tc>
                  <a:txBody>
                    <a:bodyPr wrap="square"/>
                    <a:lstStyle/>
                    <a:p>
                      <a:r>
                        <a:rPr sz="1300" b="1">
                          <a:solidFill>
                            <a:schemeClr val="accent4">
                              <a:lumMod val="75000"/>
                            </a:schemeClr>
                          </a:solidFill>
                        </a:rPr>
                        <a:t>Full</a:t>
                      </a:r>
                    </a:p>
                  </a:txBody>
                  <a:tcPr marL="91440" marR="91440" marT="36576" marB="36576" anchor="ctr">
                    <a:solidFill>
                      <a:schemeClr val="bg1"/>
                    </a:solidFill>
                  </a:tcPr>
                </a:tc>
                <a:tc>
                  <a:txBody>
                    <a:bodyPr wrap="square"/>
                    <a:lstStyle/>
                    <a:p>
                      <a:r>
                        <a:rPr sz="1300" b="0">
                          <a:solidFill>
                            <a:schemeClr val="tx1"/>
                          </a:solidFill>
                        </a:rPr>
                        <a:t>buses, implicit nets, nodesets, derived natures</a:t>
                      </a:r>
                    </a:p>
                  </a:txBody>
                  <a:tcPr marL="91440" marR="91440" marT="36576" marB="36576" anchor="ctr">
                    <a:solidFill>
                      <a:schemeClr val="bg1"/>
                    </a:solidFill>
                  </a:tcPr>
                </a:tc>
              </a:tr>
              <a:tr h="338328">
                <a:tc>
                  <a:txBody>
                    <a:bodyPr wrap="square"/>
                    <a:lstStyle/>
                    <a:p>
                      <a:r>
                        <a:rPr sz="1300" b="0">
                          <a:solidFill>
                            <a:schemeClr val="tx1"/>
                          </a:solidFill>
                        </a:rPr>
                        <a:t>4.1–4.4 · Operators and functions</a:t>
                      </a:r>
                    </a:p>
                  </a:txBody>
                  <a:tcPr marL="91440" marR="91440" marT="36576" marB="36576" anchor="ctr">
                    <a:solidFill>
                      <a:schemeClr val="bg2"/>
                    </a:solidFill>
                  </a:tcPr>
                </a:tc>
                <a:tc>
                  <a:txBody>
                    <a:bodyPr wrap="square"/>
                    <a:lstStyle/>
                    <a:p>
                      <a:r>
                        <a:rPr sz="1300" b="1">
                          <a:solidFill>
                            <a:schemeClr val="accent4">
                              <a:lumMod val="75000"/>
                            </a:schemeClr>
                          </a:solidFill>
                        </a:rPr>
                        <a:t>Full</a:t>
                      </a:r>
                    </a:p>
                  </a:txBody>
                  <a:tcPr marL="91440" marR="91440" marT="36576" marB="36576" anchor="ctr">
                    <a:solidFill>
                      <a:schemeClr val="bg2"/>
                    </a:solidFill>
                  </a:tcPr>
                </a:tc>
                <a:tc>
                  <a:txBody>
                    <a:bodyPr wrap="square"/>
                    <a:lstStyle/>
                    <a:p>
                      <a:r>
                        <a:rPr sz="1300" b="0">
                          <a:solidFill>
                            <a:schemeClr val="tx1"/>
                          </a:solidFill>
                        </a:rPr>
                        <a:t>Table 4-2 precedence, string relations, $clog2, ln1p, expm1</a:t>
                      </a:r>
                    </a:p>
                  </a:txBody>
                  <a:tcPr marL="91440" marR="91440" marT="36576" marB="36576" anchor="ctr">
                    <a:solidFill>
                      <a:schemeClr val="bg2"/>
                    </a:solidFill>
                  </a:tcPr>
                </a:tc>
              </a:tr>
              <a:tr h="338328">
                <a:tc>
                  <a:txBody>
                    <a:bodyPr wrap="square"/>
                    <a:lstStyle/>
                    <a:p>
                      <a:r>
                        <a:rPr sz="1300" b="0">
                          <a:solidFill>
                            <a:schemeClr val="tx1"/>
                          </a:solidFill>
                        </a:rPr>
                        <a:t>4.5 · Analog operators</a:t>
                      </a:r>
                    </a:p>
                  </a:txBody>
                  <a:tcPr marL="91440" marR="91440" marT="36576" marB="36576" anchor="ctr">
                    <a:solidFill>
                      <a:schemeClr val="bg1"/>
                    </a:solidFill>
                  </a:tcPr>
                </a:tc>
                <a:tc>
                  <a:txBody>
                    <a:bodyPr wrap="square"/>
                    <a:lstStyle/>
                    <a:p>
                      <a:r>
                        <a:rPr sz="1300" b="1">
                          <a:solidFill>
                            <a:schemeClr val="accent4">
                              <a:lumMod val="75000"/>
                            </a:schemeClr>
                          </a:solidFill>
                        </a:rPr>
                        <a:t>Full</a:t>
                      </a:r>
                    </a:p>
                  </a:txBody>
                  <a:tcPr marL="91440" marR="91440" marT="36576" marB="36576" anchor="ctr">
                    <a:solidFill>
                      <a:schemeClr val="bg1"/>
                    </a:solidFill>
                  </a:tcPr>
                </a:tc>
                <a:tc>
                  <a:txBody>
                    <a:bodyPr wrap="square"/>
                    <a:lstStyle/>
                    <a:p>
                      <a:r>
                        <a:rPr sz="1300" b="0">
                          <a:solidFill>
                            <a:schemeClr val="tx1"/>
                          </a:solidFill>
                        </a:rPr>
                        <a:t>every operator, audited clause by clause (E-514)</a:t>
                      </a:r>
                    </a:p>
                  </a:txBody>
                  <a:tcPr marL="91440" marR="91440" marT="36576" marB="36576" anchor="ctr">
                    <a:solidFill>
                      <a:schemeClr val="bg1"/>
                    </a:solidFill>
                  </a:tcPr>
                </a:tc>
              </a:tr>
              <a:tr h="338328">
                <a:tc>
                  <a:txBody>
                    <a:bodyPr wrap="square"/>
                    <a:lstStyle/>
                    <a:p>
                      <a:r>
                        <a:rPr sz="1300" b="0">
                          <a:solidFill>
                            <a:schemeClr val="tx1"/>
                          </a:solidFill>
                        </a:rPr>
                        <a:t>4.6 · Noise</a:t>
                      </a:r>
                    </a:p>
                  </a:txBody>
                  <a:tcPr marL="91440" marR="91440" marT="36576" marB="36576" anchor="ctr">
                    <a:solidFill>
                      <a:schemeClr val="bg2"/>
                    </a:solidFill>
                  </a:tcPr>
                </a:tc>
                <a:tc>
                  <a:txBody>
                    <a:bodyPr wrap="square"/>
                    <a:lstStyle/>
                    <a:p>
                      <a:r>
                        <a:rPr sz="1300" b="1">
                          <a:solidFill>
                            <a:schemeClr val="accent4">
                              <a:lumMod val="75000"/>
                            </a:schemeClr>
                          </a:solidFill>
                        </a:rPr>
                        <a:t>Full</a:t>
                      </a:r>
                    </a:p>
                  </a:txBody>
                  <a:tcPr marL="91440" marR="91440" marT="36576" marB="36576" anchor="ctr">
                    <a:solidFill>
                      <a:schemeClr val="bg2"/>
                    </a:solidFill>
                  </a:tcPr>
                </a:tc>
                <a:tc>
                  <a:txBody>
                    <a:bodyPr wrap="square"/>
                    <a:lstStyle/>
                    <a:p>
                      <a:r>
                        <a:rPr sz="1300" b="0">
                          <a:solidFill>
                            <a:schemeClr val="tx1"/>
                          </a:solidFill>
                        </a:rPr>
                        <a:t>white, flicker, noise_table(_log), correlation per call site</a:t>
                      </a:r>
                    </a:p>
                  </a:txBody>
                  <a:tcPr marL="91440" marR="91440" marT="36576" marB="36576" anchor="ctr">
                    <a:solidFill>
                      <a:schemeClr val="bg2"/>
                    </a:solidFill>
                  </a:tcPr>
                </a:tc>
              </a:tr>
              <a:tr h="338328">
                <a:tc>
                  <a:txBody>
                    <a:bodyPr wrap="square"/>
                    <a:lstStyle/>
                    <a:p>
                      <a:r>
                        <a:rPr sz="1300" b="0">
                          <a:solidFill>
                            <a:schemeClr val="tx1"/>
                          </a:solidFill>
                        </a:rPr>
                        <a:t>5 · Analog behaviour</a:t>
                      </a:r>
                    </a:p>
                  </a:txBody>
                  <a:tcPr marL="91440" marR="91440" marT="36576" marB="36576" anchor="ctr">
                    <a:solidFill>
                      <a:schemeClr val="bg1"/>
                    </a:solidFill>
                  </a:tcPr>
                </a:tc>
                <a:tc>
                  <a:txBody>
                    <a:bodyPr wrap="square"/>
                    <a:lstStyle/>
                    <a:p>
                      <a:r>
                        <a:rPr sz="1300" b="1">
                          <a:solidFill>
                            <a:schemeClr val="accent4">
                              <a:lumMod val="75000"/>
                            </a:schemeClr>
                          </a:solidFill>
                        </a:rPr>
                        <a:t>Full</a:t>
                      </a:r>
                    </a:p>
                  </a:txBody>
                  <a:tcPr marL="91440" marR="91440" marT="36576" marB="36576" anchor="ctr">
                    <a:solidFill>
                      <a:schemeClr val="bg1"/>
                    </a:solidFill>
                  </a:tcPr>
                </a:tc>
                <a:tc>
                  <a:txBody>
                    <a:bodyPr wrap="square"/>
                    <a:lstStyle/>
                    <a:p>
                      <a:r>
                        <a:rPr sz="1300" b="0">
                          <a:solidFill>
                            <a:schemeClr val="tx1"/>
                          </a:solidFill>
                        </a:rPr>
                        <a:t>analog blocks, contributions, events, loops, analog functions</a:t>
                      </a:r>
                    </a:p>
                  </a:txBody>
                  <a:tcPr marL="91440" marR="91440" marT="36576" marB="36576" anchor="ctr">
                    <a:solidFill>
                      <a:schemeClr val="bg1"/>
                    </a:solidFill>
                  </a:tcPr>
                </a:tc>
              </a:tr>
              <a:tr h="338328">
                <a:tc>
                  <a:txBody>
                    <a:bodyPr wrap="square"/>
                    <a:lstStyle/>
                    <a:p>
                      <a:r>
                        <a:rPr sz="1300" b="0">
                          <a:solidFill>
                            <a:schemeClr val="tx1"/>
                          </a:solidFill>
                        </a:rPr>
                        <a:t>6 · Hierarchy</a:t>
                      </a:r>
                    </a:p>
                  </a:txBody>
                  <a:tcPr marL="91440" marR="91440" marT="36576" marB="36576" anchor="ctr">
                    <a:solidFill>
                      <a:schemeClr val="bg2"/>
                    </a:solidFill>
                  </a:tcPr>
                </a:tc>
                <a:tc>
                  <a:txBody>
                    <a:bodyPr wrap="square"/>
                    <a:lstStyle/>
                    <a:p>
                      <a:r>
                        <a:rPr sz="1300" b="1">
                          <a:solidFill>
                            <a:schemeClr val="accent4">
                              <a:lumMod val="75000"/>
                            </a:schemeClr>
                          </a:solidFill>
                        </a:rPr>
                        <a:t>Full</a:t>
                      </a:r>
                    </a:p>
                  </a:txBody>
                  <a:tcPr marL="91440" marR="91440" marT="36576" marB="36576" anchor="ctr">
                    <a:solidFill>
                      <a:schemeClr val="bg2"/>
                    </a:solidFill>
                  </a:tcPr>
                </a:tc>
                <a:tc>
                  <a:txBody>
                    <a:bodyPr wrap="square"/>
                    <a:lstStyle/>
                    <a:p>
                      <a:r>
                        <a:rPr sz="1300" b="0">
                          <a:solidFill>
                            <a:schemeClr val="tx1"/>
                          </a:solidFill>
                        </a:rPr>
                        <a:t>instantiation, generate, defparam, paramsets, $mfactor</a:t>
                      </a:r>
                    </a:p>
                  </a:txBody>
                  <a:tcPr marL="91440" marR="91440" marT="36576" marB="36576" anchor="ctr">
                    <a:solidFill>
                      <a:schemeClr val="bg2"/>
                    </a:solidFill>
                  </a:tcPr>
                </a:tc>
              </a:tr>
              <a:tr h="338328">
                <a:tc>
                  <a:txBody>
                    <a:bodyPr wrap="square"/>
                    <a:lstStyle/>
                    <a:p>
                      <a:r>
                        <a:rPr sz="1300" b="0">
                          <a:solidFill>
                            <a:schemeClr val="tx1"/>
                          </a:solidFill>
                        </a:rPr>
                        <a:t>9 · System tasks</a:t>
                      </a:r>
                    </a:p>
                  </a:txBody>
                  <a:tcPr marL="91440" marR="91440" marT="36576" marB="36576" anchor="ctr">
                    <a:solidFill>
                      <a:schemeClr val="bg1"/>
                    </a:solidFill>
                  </a:tcPr>
                </a:tc>
                <a:tc>
                  <a:txBody>
                    <a:bodyPr wrap="square"/>
                    <a:lstStyle/>
                    <a:p>
                      <a:r>
                        <a:rPr sz="1300" b="1">
                          <a:solidFill>
                            <a:schemeClr val="accent4">
                              <a:lumMod val="75000"/>
                            </a:schemeClr>
                          </a:solidFill>
                        </a:rPr>
                        <a:t>Full</a:t>
                      </a:r>
                    </a:p>
                  </a:txBody>
                  <a:tcPr marL="91440" marR="91440" marT="36576" marB="36576" anchor="ctr">
                    <a:solidFill>
                      <a:schemeClr val="bg1"/>
                    </a:solidFill>
                  </a:tcPr>
                </a:tc>
                <a:tc>
                  <a:txBody>
                    <a:bodyPr wrap="square"/>
                    <a:lstStyle/>
                    <a:p>
                      <a:r>
                        <a:rPr sz="1300" b="0">
                          <a:solidFill>
                            <a:schemeClr val="tx1"/>
                          </a:solidFill>
                        </a:rPr>
                        <a:t>display, file and string I/O, random, simulation control</a:t>
                      </a:r>
                    </a:p>
                  </a:txBody>
                  <a:tcPr marL="91440" marR="91440" marT="36576" marB="36576" anchor="ctr">
                    <a:solidFill>
                      <a:schemeClr val="bg1"/>
                    </a:solidFill>
                  </a:tcPr>
                </a:tc>
              </a:tr>
              <a:tr h="338328">
                <a:tc>
                  <a:txBody>
                    <a:bodyPr wrap="square"/>
                    <a:lstStyle/>
                    <a:p>
                      <a:r>
                        <a:rPr sz="1300" b="0">
                          <a:solidFill>
                            <a:schemeClr val="tx1"/>
                          </a:solidFill>
                        </a:rPr>
                        <a:t>10 · Compiler directives</a:t>
                      </a:r>
                    </a:p>
                  </a:txBody>
                  <a:tcPr marL="91440" marR="91440" marT="36576" marB="36576" anchor="ctr">
                    <a:solidFill>
                      <a:schemeClr val="bg2"/>
                    </a:solidFill>
                  </a:tcPr>
                </a:tc>
                <a:tc>
                  <a:txBody>
                    <a:bodyPr wrap="square"/>
                    <a:lstStyle/>
                    <a:p>
                      <a:r>
                        <a:rPr sz="1300" b="1">
                          <a:solidFill>
                            <a:schemeClr val="accent4">
                              <a:lumMod val="75000"/>
                            </a:schemeClr>
                          </a:solidFill>
                        </a:rPr>
                        <a:t>Full</a:t>
                      </a:r>
                    </a:p>
                  </a:txBody>
                  <a:tcPr marL="91440" marR="91440" marT="36576" marB="36576" anchor="ctr">
                    <a:solidFill>
                      <a:schemeClr val="bg2"/>
                    </a:solidFill>
                  </a:tcPr>
                </a:tc>
                <a:tc>
                  <a:txBody>
                    <a:bodyPr wrap="square"/>
                    <a:lstStyle/>
                    <a:p>
                      <a:r>
                        <a:rPr sz="1300" b="0">
                          <a:solidFill>
                            <a:schemeClr val="tx1"/>
                          </a:solidFill>
                        </a:rPr>
                        <a:t>`include, `define, `__FILE__, `__LINE__, `begin_keywords</a:t>
                      </a:r>
                    </a:p>
                  </a:txBody>
                  <a:tcPr marL="91440" marR="91440" marT="36576" marB="36576" anchor="ctr">
                    <a:solidFill>
                      <a:schemeClr val="bg2"/>
                    </a:solidFill>
                  </a:tcPr>
                </a:tc>
              </a:tr>
              <a:tr h="338328">
                <a:tc>
                  <a:txBody>
                    <a:bodyPr wrap="square"/>
                    <a:lstStyle/>
                    <a:p>
                      <a:r>
                        <a:rPr sz="1300" b="0">
                          <a:solidFill>
                            <a:schemeClr val="tx1"/>
                          </a:solidFill>
                        </a:rPr>
                        <a:t>casex, casez, &lt;&lt;&lt;, &gt;&gt;&gt;</a:t>
                      </a:r>
                    </a:p>
                  </a:txBody>
                  <a:tcPr marL="91440" marR="91440" marT="36576" marB="36576" anchor="ctr">
                    <a:solidFill>
                      <a:schemeClr val="bg1"/>
                    </a:solidFill>
                  </a:tcPr>
                </a:tc>
                <a:tc>
                  <a:txBody>
                    <a:bodyPr wrap="square"/>
                    <a:lstStyle/>
                    <a:p>
                      <a:r>
                        <a:rPr sz="1300" b="1">
                          <a:solidFill>
                            <a:schemeClr val="accent2">
                              <a:lumMod val="70000"/>
                            </a:schemeClr>
                          </a:solidFill>
                        </a:rPr>
                        <a:t>Extension</a:t>
                      </a:r>
                    </a:p>
                  </a:txBody>
                  <a:tcPr marL="91440" marR="91440" marT="36576" marB="36576" anchor="ctr">
                    <a:solidFill>
                      <a:schemeClr val="bg1"/>
                    </a:solidFill>
                  </a:tcPr>
                </a:tc>
                <a:tc>
                  <a:txBody>
                    <a:bodyPr wrap="square"/>
                    <a:lstStyle/>
                    <a:p>
                      <a:r>
                        <a:rPr sz="1300" b="0">
                          <a:solidFill>
                            <a:schemeClr val="tx1"/>
                          </a:solidFill>
                        </a:rPr>
                        <a:t>beyond Annex C, accepted and warned</a:t>
                      </a:r>
                    </a:p>
                  </a:txBody>
                  <a:tcPr marL="91440" marR="91440" marT="36576" marB="36576" anchor="ctr">
                    <a:solidFill>
                      <a:schemeClr val="bg1"/>
                    </a:solidFill>
                  </a:tcPr>
                </a:tc>
              </a:tr>
              <a:tr h="338328">
                <a:tc>
                  <a:txBody>
                    <a:bodyPr wrap="square"/>
                    <a:lstStyle/>
                    <a:p>
                      <a:r>
                        <a:rPr sz="1300" b="0">
                          <a:solidFill>
                            <a:schemeClr val="tx1"/>
                          </a:solidFill>
                        </a:rPr>
                        <a:t>Annex E · SPICE primitives</a:t>
                      </a:r>
                    </a:p>
                  </a:txBody>
                  <a:tcPr marL="91440" marR="91440" marT="36576" marB="36576" anchor="ctr">
                    <a:solidFill>
                      <a:schemeClr val="bg2"/>
                    </a:solidFill>
                  </a:tcPr>
                </a:tc>
                <a:tc>
                  <a:txBody>
                    <a:bodyPr wrap="square"/>
                    <a:lstStyle/>
                    <a:p>
                      <a:r>
                        <a:rPr sz="1300" b="1">
                          <a:solidFill>
                            <a:schemeClr val="accent3"/>
                          </a:solidFill>
                        </a:rPr>
                        <a:t>Refused</a:t>
                      </a:r>
                    </a:p>
                  </a:txBody>
                  <a:tcPr marL="91440" marR="91440" marT="36576" marB="36576" anchor="ctr">
                    <a:solidFill>
                      <a:schemeClr val="bg2"/>
                    </a:solidFill>
                  </a:tcPr>
                </a:tc>
                <a:tc>
                  <a:txBody>
                    <a:bodyPr wrap="square"/>
                    <a:lstStyle/>
                    <a:p>
                      <a:r>
                        <a:rPr sz="1300" b="0">
                          <a:solidFill>
                            <a:schemeClr val="tx1"/>
                          </a:solidFill>
                        </a:rPr>
                        <a:t>a clean error: instantiate SPICE devices in the netlist</a:t>
                      </a:r>
                    </a:p>
                  </a:txBody>
                  <a:tcPr marL="91440" marR="91440" marT="36576" marB="36576" anchor="ctr">
                    <a:solidFill>
                      <a:schemeClr val="bg2"/>
                    </a:solidFill>
                  </a:tcPr>
                </a:tc>
              </a:tr>
              <a:tr h="338328">
                <a:tc>
                  <a:txBody>
                    <a:bodyPr wrap="square"/>
                    <a:lstStyle/>
                    <a:p>
                      <a:r>
                        <a:rPr sz="1300" b="0">
                          <a:solidFill>
                            <a:schemeClr val="tx1"/>
                          </a:solidFill>
                        </a:rPr>
                        <a:t>Digital and mixed signal</a:t>
                      </a:r>
                    </a:p>
                  </a:txBody>
                  <a:tcPr marL="91440" marR="91440" marT="36576" marB="36576" anchor="ctr">
                    <a:solidFill>
                      <a:schemeClr val="bg1"/>
                    </a:solidFill>
                  </a:tcPr>
                </a:tc>
                <a:tc>
                  <a:txBody>
                    <a:bodyPr wrap="square"/>
                    <a:lstStyle/>
                    <a:p>
                      <a:r>
                        <a:rPr sz="1300" b="1">
                          <a:solidFill>
                            <a:schemeClr val="accent5"/>
                          </a:solidFill>
                        </a:rPr>
                        <a:t>Out of scope</a:t>
                      </a:r>
                    </a:p>
                  </a:txBody>
                  <a:tcPr marL="91440" marR="91440" marT="36576" marB="36576" anchor="ctr">
                    <a:solidFill>
                      <a:schemeClr val="bg1"/>
                    </a:solidFill>
                  </a:tcPr>
                </a:tc>
                <a:tc>
                  <a:txBody>
                    <a:bodyPr wrap="square"/>
                    <a:lstStyle/>
                    <a:p>
                      <a:r>
                        <a:rPr sz="1300" b="0">
                          <a:solidFill>
                            <a:schemeClr val="tx1"/>
                          </a:solidFill>
                        </a:rPr>
                        <a:t>outside Annex C; rejected with located diagnostics</a:t>
                      </a:r>
                    </a:p>
                  </a:txBody>
                  <a:tcPr marL="91440" marR="91440" marT="36576" marB="36576" anchor="ctr">
                    <a:solidFill>
                      <a:schemeClr val="bg1"/>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Analog operators and dynamics</a:t>
            </a:r>
          </a:p>
        </p:txBody>
      </p:sp>
      <p:sp>
        <p:nvSpPr>
          <p:cNvPr id="3" name="Kicker"/>
          <p:cNvSpPr txBox="1"/>
          <p:nvPr/>
        </p:nvSpPr>
        <p:spPr>
          <a:xfrm>
            <a:off x="548640" y="274320"/>
            <a:ext cx="11094415" cy="274320"/>
          </a:xfrm>
          <a:prstGeom prst="rect">
            <a:avLst/>
          </a:prstGeom>
          <a:noFill/>
        </p:spPr>
        <p:txBody>
          <a:bodyPr wrap="square" lIns="0" rIns="0" tIns="0" bIns="0" anchor="t">
            <a:spAutoFit/>
          </a:bodyPr>
          <a:lstStyle/>
          <a:p>
            <a:pPr algn="l"/>
            <a:r>
              <a:rPr sz="1100" b="1" i="0" spc="120">
                <a:solidFill>
                  <a:schemeClr val="accent1">
                    <a:lumMod val="75000"/>
                  </a:schemeClr>
                </a:solidFill>
              </a:rPr>
              <a:t>COMPILER · 32 ENHANCEMENTS</a:t>
            </a:r>
          </a:p>
        </p:txBody>
      </p:sp>
      <p:sp>
        <p:nvSpPr>
          <p:cNvPr id="4" name="Card Delays &amp; filters"/>
          <p:cNvSpPr/>
          <p:nvPr/>
        </p:nvSpPr>
        <p:spPr>
          <a:xfrm>
            <a:off x="548640" y="1417320"/>
            <a:ext cx="3360420" cy="1493519"/>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Card title Delays &amp; filters"/>
          <p:cNvSpPr txBox="1"/>
          <p:nvPr/>
        </p:nvSpPr>
        <p:spPr>
          <a:xfrm>
            <a:off x="713232" y="1536192"/>
            <a:ext cx="3031236" cy="292608"/>
          </a:xfrm>
          <a:prstGeom prst="rect">
            <a:avLst/>
          </a:prstGeom>
          <a:noFill/>
        </p:spPr>
        <p:txBody>
          <a:bodyPr wrap="square" lIns="0" rIns="0" tIns="0" bIns="0" anchor="ctr">
            <a:spAutoFit/>
          </a:bodyPr>
          <a:lstStyle/>
          <a:p>
            <a:pPr algn="l"/>
            <a:r>
              <a:rPr sz="1500" b="1" i="0">
                <a:solidFill>
                  <a:schemeClr val="tx2"/>
                </a:solidFill>
              </a:rPr>
              <a:t>Delays &amp; filters</a:t>
            </a:r>
          </a:p>
        </p:txBody>
      </p:sp>
      <p:sp>
        <p:nvSpPr>
          <p:cNvPr id="6" name="Card body Delays &amp; filters"/>
          <p:cNvSpPr txBox="1"/>
          <p:nvPr/>
        </p:nvSpPr>
        <p:spPr>
          <a:xfrm>
            <a:off x="713232" y="1874519"/>
            <a:ext cx="3031236" cy="652271"/>
          </a:xfrm>
          <a:prstGeom prst="rect">
            <a:avLst/>
          </a:prstGeom>
          <a:noFill/>
        </p:spPr>
        <p:txBody>
          <a:bodyPr wrap="square" lIns="0" rIns="0" tIns="0" bIns="0" anchor="t">
            <a:spAutoFit/>
          </a:bodyPr>
          <a:lstStyle/>
          <a:p>
            <a:pPr algn="l"/>
            <a:r>
              <a:rPr sz="1400" b="0" i="0">
                <a:solidFill>
                  <a:schemeClr val="tx1"/>
                </a:solidFill>
              </a:rPr>
              <a:t>absdelay as a synthetic-node DAE; laplace_* and zi_* in every form, complex poles and zeros</a:t>
            </a:r>
          </a:p>
        </p:txBody>
      </p:sp>
      <p:sp>
        <p:nvSpPr>
          <p:cNvPr id="7" name="Chip E-1">
            <a:hlinkClick r:id="rId3"/>
          </p:cNvPr>
          <p:cNvSpPr/>
          <p:nvPr/>
        </p:nvSpPr>
        <p:spPr>
          <a:xfrm>
            <a:off x="713232" y="2581656"/>
            <a:ext cx="525780" cy="219456"/>
          </a:xfrm>
          <a:prstGeom prst="roundRect">
            <a:avLst>
              <a:gd name="adj" fmla="val 50000"/>
            </a:avLst>
          </a:prstGeom>
          <a:solidFill>
            <a:schemeClr val="accent1">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1">
                    <a:lumMod val="65000"/>
                  </a:schemeClr>
                </a:solidFill>
              </a:rPr>
              <a:t>E-1</a:t>
            </a:r>
          </a:p>
        </p:txBody>
      </p:sp>
      <p:sp>
        <p:nvSpPr>
          <p:cNvPr id="8" name="Chip E-4">
            <a:hlinkClick r:id="rId4"/>
          </p:cNvPr>
          <p:cNvSpPr/>
          <p:nvPr/>
        </p:nvSpPr>
        <p:spPr>
          <a:xfrm>
            <a:off x="1293876" y="2581656"/>
            <a:ext cx="525780" cy="219456"/>
          </a:xfrm>
          <a:prstGeom prst="roundRect">
            <a:avLst>
              <a:gd name="adj" fmla="val 50000"/>
            </a:avLst>
          </a:prstGeom>
          <a:solidFill>
            <a:schemeClr val="accent1">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1">
                    <a:lumMod val="65000"/>
                  </a:schemeClr>
                </a:solidFill>
              </a:rPr>
              <a:t>E-4</a:t>
            </a:r>
          </a:p>
        </p:txBody>
      </p:sp>
      <p:sp>
        <p:nvSpPr>
          <p:cNvPr id="9" name="Chip E-31">
            <a:hlinkClick r:id="rId5"/>
          </p:cNvPr>
          <p:cNvSpPr/>
          <p:nvPr/>
        </p:nvSpPr>
        <p:spPr>
          <a:xfrm>
            <a:off x="1874519" y="2581656"/>
            <a:ext cx="594360" cy="219456"/>
          </a:xfrm>
          <a:prstGeom prst="roundRect">
            <a:avLst>
              <a:gd name="adj" fmla="val 50000"/>
            </a:avLst>
          </a:prstGeom>
          <a:solidFill>
            <a:schemeClr val="accent1">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1">
                    <a:lumMod val="65000"/>
                  </a:schemeClr>
                </a:solidFill>
              </a:rPr>
              <a:t>E-31</a:t>
            </a:r>
          </a:p>
        </p:txBody>
      </p:sp>
      <p:sp>
        <p:nvSpPr>
          <p:cNvPr id="10" name="Card Integrators"/>
          <p:cNvSpPr/>
          <p:nvPr/>
        </p:nvSpPr>
        <p:spPr>
          <a:xfrm>
            <a:off x="4091939" y="1417320"/>
            <a:ext cx="3360420" cy="1493519"/>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Card title Integrators"/>
          <p:cNvSpPr txBox="1"/>
          <p:nvPr/>
        </p:nvSpPr>
        <p:spPr>
          <a:xfrm>
            <a:off x="4256531" y="1536192"/>
            <a:ext cx="3031236" cy="292608"/>
          </a:xfrm>
          <a:prstGeom prst="rect">
            <a:avLst/>
          </a:prstGeom>
          <a:noFill/>
        </p:spPr>
        <p:txBody>
          <a:bodyPr wrap="square" lIns="0" rIns="0" tIns="0" bIns="0" anchor="ctr">
            <a:spAutoFit/>
          </a:bodyPr>
          <a:lstStyle/>
          <a:p>
            <a:pPr algn="l"/>
            <a:r>
              <a:rPr sz="1500" b="1" i="0">
                <a:solidFill>
                  <a:schemeClr val="tx2"/>
                </a:solidFill>
              </a:rPr>
              <a:t>Integrators</a:t>
            </a:r>
          </a:p>
        </p:txBody>
      </p:sp>
      <p:sp>
        <p:nvSpPr>
          <p:cNvPr id="12" name="Card body Integrators"/>
          <p:cNvSpPr txBox="1"/>
          <p:nvPr/>
        </p:nvSpPr>
        <p:spPr>
          <a:xfrm>
            <a:off x="4256531" y="1874519"/>
            <a:ext cx="3031236" cy="652271"/>
          </a:xfrm>
          <a:prstGeom prst="rect">
            <a:avLst/>
          </a:prstGeom>
          <a:noFill/>
        </p:spPr>
        <p:txBody>
          <a:bodyPr wrap="square" lIns="0" rIns="0" tIns="0" bIns="0" anchor="t">
            <a:spAutoFit/>
          </a:bodyPr>
          <a:lstStyle/>
          <a:p>
            <a:pPr algn="l"/>
            <a:r>
              <a:rPr sz="1400" b="0" i="0">
                <a:solidFill>
                  <a:schemeClr val="tx1"/>
                </a:solidFill>
              </a:rPr>
              <a:t>idt with initial conditions and assert/reset forms, idtmod, ddt, ddx; summed ddt terms all count</a:t>
            </a:r>
          </a:p>
        </p:txBody>
      </p:sp>
      <p:sp>
        <p:nvSpPr>
          <p:cNvPr id="13" name="Chip E-28">
            <a:hlinkClick r:id="rId6"/>
          </p:cNvPr>
          <p:cNvSpPr/>
          <p:nvPr/>
        </p:nvSpPr>
        <p:spPr>
          <a:xfrm>
            <a:off x="4256531" y="2581656"/>
            <a:ext cx="594360" cy="219456"/>
          </a:xfrm>
          <a:prstGeom prst="roundRect">
            <a:avLst>
              <a:gd name="adj" fmla="val 50000"/>
            </a:avLst>
          </a:prstGeom>
          <a:solidFill>
            <a:schemeClr val="accent1">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1">
                    <a:lumMod val="65000"/>
                  </a:schemeClr>
                </a:solidFill>
              </a:rPr>
              <a:t>E-28</a:t>
            </a:r>
          </a:p>
        </p:txBody>
      </p:sp>
      <p:sp>
        <p:nvSpPr>
          <p:cNvPr id="14" name="Chip E-52">
            <a:hlinkClick r:id="rId7"/>
          </p:cNvPr>
          <p:cNvSpPr/>
          <p:nvPr/>
        </p:nvSpPr>
        <p:spPr>
          <a:xfrm>
            <a:off x="4905755" y="2581656"/>
            <a:ext cx="594360" cy="219456"/>
          </a:xfrm>
          <a:prstGeom prst="roundRect">
            <a:avLst>
              <a:gd name="adj" fmla="val 50000"/>
            </a:avLst>
          </a:prstGeom>
          <a:solidFill>
            <a:schemeClr val="accent1">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1">
                    <a:lumMod val="65000"/>
                  </a:schemeClr>
                </a:solidFill>
              </a:rPr>
              <a:t>E-52</a:t>
            </a:r>
          </a:p>
        </p:txBody>
      </p:sp>
      <p:sp>
        <p:nvSpPr>
          <p:cNvPr id="15" name="Card Ramps &amp; limiters"/>
          <p:cNvSpPr/>
          <p:nvPr/>
        </p:nvSpPr>
        <p:spPr>
          <a:xfrm>
            <a:off x="548640" y="3093719"/>
            <a:ext cx="3360420" cy="1493519"/>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Card title Ramps &amp; limiters"/>
          <p:cNvSpPr txBox="1"/>
          <p:nvPr/>
        </p:nvSpPr>
        <p:spPr>
          <a:xfrm>
            <a:off x="713232" y="3212591"/>
            <a:ext cx="3031236" cy="292608"/>
          </a:xfrm>
          <a:prstGeom prst="rect">
            <a:avLst/>
          </a:prstGeom>
          <a:noFill/>
        </p:spPr>
        <p:txBody>
          <a:bodyPr wrap="square" lIns="0" rIns="0" tIns="0" bIns="0" anchor="ctr">
            <a:spAutoFit/>
          </a:bodyPr>
          <a:lstStyle/>
          <a:p>
            <a:pPr algn="l"/>
            <a:r>
              <a:rPr sz="1500" b="1" i="0">
                <a:solidFill>
                  <a:schemeClr val="tx2"/>
                </a:solidFill>
              </a:rPr>
              <a:t>Ramps &amp; limiters</a:t>
            </a:r>
          </a:p>
        </p:txBody>
      </p:sp>
      <p:sp>
        <p:nvSpPr>
          <p:cNvPr id="17" name="Card body Ramps &amp; limiters"/>
          <p:cNvSpPr txBox="1"/>
          <p:nvPr/>
        </p:nvSpPr>
        <p:spPr>
          <a:xfrm>
            <a:off x="713232" y="3550919"/>
            <a:ext cx="3031236" cy="652271"/>
          </a:xfrm>
          <a:prstGeom prst="rect">
            <a:avLst/>
          </a:prstGeom>
          <a:noFill/>
        </p:spPr>
        <p:txBody>
          <a:bodyPr wrap="square" lIns="0" rIns="0" tIns="0" bIns="0" anchor="t">
            <a:spAutoFit/>
          </a:bodyPr>
          <a:lstStyle/>
          <a:p>
            <a:pPr algn="l"/>
            <a:r>
              <a:rPr sz="1400" b="0" i="0">
                <a:solidFill>
                  <a:schemeClr val="tx1"/>
                </a:solidFill>
              </a:rPr>
              <a:t>transition and slew per LRM 4.5.8–4.5.9: rise time, breakpoints, the interruption rule; $limit</a:t>
            </a:r>
          </a:p>
        </p:txBody>
      </p:sp>
      <p:sp>
        <p:nvSpPr>
          <p:cNvPr id="18" name="Chip E-698">
            <a:hlinkClick r:id="rId8"/>
          </p:cNvPr>
          <p:cNvSpPr/>
          <p:nvPr/>
        </p:nvSpPr>
        <p:spPr>
          <a:xfrm>
            <a:off x="713232" y="4258055"/>
            <a:ext cx="662940" cy="219456"/>
          </a:xfrm>
          <a:prstGeom prst="roundRect">
            <a:avLst>
              <a:gd name="adj" fmla="val 50000"/>
            </a:avLst>
          </a:prstGeom>
          <a:solidFill>
            <a:schemeClr val="accent1">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1">
                    <a:lumMod val="65000"/>
                  </a:schemeClr>
                </a:solidFill>
              </a:rPr>
              <a:t>E-698</a:t>
            </a:r>
          </a:p>
        </p:txBody>
      </p:sp>
      <p:sp>
        <p:nvSpPr>
          <p:cNvPr id="19" name="Chip E-61">
            <a:hlinkClick r:id="rId9"/>
          </p:cNvPr>
          <p:cNvSpPr/>
          <p:nvPr/>
        </p:nvSpPr>
        <p:spPr>
          <a:xfrm>
            <a:off x="1431036" y="4258055"/>
            <a:ext cx="594360" cy="219456"/>
          </a:xfrm>
          <a:prstGeom prst="roundRect">
            <a:avLst>
              <a:gd name="adj" fmla="val 50000"/>
            </a:avLst>
          </a:prstGeom>
          <a:solidFill>
            <a:schemeClr val="accent1">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1">
                    <a:lumMod val="65000"/>
                  </a:schemeClr>
                </a:solidFill>
              </a:rPr>
              <a:t>E-61</a:t>
            </a:r>
          </a:p>
        </p:txBody>
      </p:sp>
      <p:sp>
        <p:nvSpPr>
          <p:cNvPr id="20" name="Card Events"/>
          <p:cNvSpPr/>
          <p:nvPr/>
        </p:nvSpPr>
        <p:spPr>
          <a:xfrm>
            <a:off x="4091939" y="3093719"/>
            <a:ext cx="3360420" cy="1493519"/>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Card title Events"/>
          <p:cNvSpPr txBox="1"/>
          <p:nvPr/>
        </p:nvSpPr>
        <p:spPr>
          <a:xfrm>
            <a:off x="4256531" y="3212591"/>
            <a:ext cx="3031236" cy="292608"/>
          </a:xfrm>
          <a:prstGeom prst="rect">
            <a:avLst/>
          </a:prstGeom>
          <a:noFill/>
        </p:spPr>
        <p:txBody>
          <a:bodyPr wrap="square" lIns="0" rIns="0" tIns="0" bIns="0" anchor="ctr">
            <a:spAutoFit/>
          </a:bodyPr>
          <a:lstStyle/>
          <a:p>
            <a:pPr algn="l"/>
            <a:r>
              <a:rPr sz="1500" b="1" i="0">
                <a:solidFill>
                  <a:schemeClr val="tx2"/>
                </a:solidFill>
              </a:rPr>
              <a:t>Events</a:t>
            </a:r>
          </a:p>
        </p:txBody>
      </p:sp>
      <p:sp>
        <p:nvSpPr>
          <p:cNvPr id="22" name="Card body Events"/>
          <p:cNvSpPr txBox="1"/>
          <p:nvPr/>
        </p:nvSpPr>
        <p:spPr>
          <a:xfrm>
            <a:off x="4256531" y="3550919"/>
            <a:ext cx="3031236" cy="652271"/>
          </a:xfrm>
          <a:prstGeom prst="rect">
            <a:avLst/>
          </a:prstGeom>
          <a:noFill/>
        </p:spPr>
        <p:txBody>
          <a:bodyPr wrap="square" lIns="0" rIns="0" tIns="0" bIns="0" anchor="t">
            <a:spAutoFit/>
          </a:bodyPr>
          <a:lstStyle/>
          <a:p>
            <a:pPr algn="l"/>
            <a:r>
              <a:rPr sz="1400" b="0" i="0">
                <a:solidFill>
                  <a:schemeClr val="tx1"/>
                </a:solidFill>
              </a:rPr>
              <a:t>cross, above, timer, last_crossing; the time step lands on the crossing, not the step grid</a:t>
            </a:r>
          </a:p>
        </p:txBody>
      </p:sp>
      <p:sp>
        <p:nvSpPr>
          <p:cNvPr id="23" name="Chip E-8">
            <a:hlinkClick r:id="rId10"/>
          </p:cNvPr>
          <p:cNvSpPr/>
          <p:nvPr/>
        </p:nvSpPr>
        <p:spPr>
          <a:xfrm>
            <a:off x="4256531" y="4258055"/>
            <a:ext cx="525780" cy="219456"/>
          </a:xfrm>
          <a:prstGeom prst="roundRect">
            <a:avLst>
              <a:gd name="adj" fmla="val 50000"/>
            </a:avLst>
          </a:prstGeom>
          <a:solidFill>
            <a:schemeClr val="accent1">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1">
                    <a:lumMod val="65000"/>
                  </a:schemeClr>
                </a:solidFill>
              </a:rPr>
              <a:t>E-8</a:t>
            </a:r>
          </a:p>
        </p:txBody>
      </p:sp>
      <p:sp>
        <p:nvSpPr>
          <p:cNvPr id="24" name="Chip E-759">
            <a:hlinkClick r:id="rId11"/>
          </p:cNvPr>
          <p:cNvSpPr/>
          <p:nvPr/>
        </p:nvSpPr>
        <p:spPr>
          <a:xfrm>
            <a:off x="4837175" y="4258055"/>
            <a:ext cx="662940" cy="219456"/>
          </a:xfrm>
          <a:prstGeom prst="roundRect">
            <a:avLst>
              <a:gd name="adj" fmla="val 50000"/>
            </a:avLst>
          </a:prstGeom>
          <a:solidFill>
            <a:schemeClr val="accent1">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1">
                    <a:lumMod val="65000"/>
                  </a:schemeClr>
                </a:solidFill>
              </a:rPr>
              <a:t>E-759</a:t>
            </a:r>
          </a:p>
        </p:txBody>
      </p:sp>
      <p:sp>
        <p:nvSpPr>
          <p:cNvPr id="25" name="Card Step events"/>
          <p:cNvSpPr/>
          <p:nvPr/>
        </p:nvSpPr>
        <p:spPr>
          <a:xfrm>
            <a:off x="548640" y="4770119"/>
            <a:ext cx="3360420" cy="1493519"/>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Card title Step events"/>
          <p:cNvSpPr txBox="1"/>
          <p:nvPr/>
        </p:nvSpPr>
        <p:spPr>
          <a:xfrm>
            <a:off x="713232" y="4888991"/>
            <a:ext cx="3031236" cy="292608"/>
          </a:xfrm>
          <a:prstGeom prst="rect">
            <a:avLst/>
          </a:prstGeom>
          <a:noFill/>
        </p:spPr>
        <p:txBody>
          <a:bodyPr wrap="square" lIns="0" rIns="0" tIns="0" bIns="0" anchor="ctr">
            <a:spAutoFit/>
          </a:bodyPr>
          <a:lstStyle/>
          <a:p>
            <a:pPr algn="l"/>
            <a:r>
              <a:rPr sz="1500" b="1" i="0">
                <a:solidFill>
                  <a:schemeClr val="tx2"/>
                </a:solidFill>
              </a:rPr>
              <a:t>Step events</a:t>
            </a:r>
          </a:p>
        </p:txBody>
      </p:sp>
      <p:sp>
        <p:nvSpPr>
          <p:cNvPr id="27" name="Card body Step events"/>
          <p:cNvSpPr txBox="1"/>
          <p:nvPr/>
        </p:nvSpPr>
        <p:spPr>
          <a:xfrm>
            <a:off x="713232" y="5227319"/>
            <a:ext cx="3031236" cy="652271"/>
          </a:xfrm>
          <a:prstGeom prst="rect">
            <a:avLst/>
          </a:prstGeom>
          <a:noFill/>
        </p:spPr>
        <p:txBody>
          <a:bodyPr wrap="square" lIns="0" rIns="0" tIns="0" bIns="0" anchor="t">
            <a:spAutoFit/>
          </a:bodyPr>
          <a:lstStyle/>
          <a:p>
            <a:pPr algn="l"/>
            <a:r>
              <a:rPr sz="1400" b="0" i="0">
                <a:solidFill>
                  <a:schemeClr val="tx1"/>
                </a:solidFill>
              </a:rPr>
              <a:t>@(initial_step), @(final_step) with phase lists; once per sens run, state carried across .dc</a:t>
            </a:r>
          </a:p>
        </p:txBody>
      </p:sp>
      <p:sp>
        <p:nvSpPr>
          <p:cNvPr id="28" name="Chip E-53">
            <a:hlinkClick r:id="rId12"/>
          </p:cNvPr>
          <p:cNvSpPr/>
          <p:nvPr/>
        </p:nvSpPr>
        <p:spPr>
          <a:xfrm>
            <a:off x="713232" y="5934455"/>
            <a:ext cx="594360" cy="219456"/>
          </a:xfrm>
          <a:prstGeom prst="roundRect">
            <a:avLst>
              <a:gd name="adj" fmla="val 50000"/>
            </a:avLst>
          </a:prstGeom>
          <a:solidFill>
            <a:schemeClr val="accent1">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1">
                    <a:lumMod val="65000"/>
                  </a:schemeClr>
                </a:solidFill>
              </a:rPr>
              <a:t>E-53</a:t>
            </a:r>
          </a:p>
        </p:txBody>
      </p:sp>
      <p:sp>
        <p:nvSpPr>
          <p:cNvPr id="29" name="Chip E-789">
            <a:hlinkClick r:id="rId13"/>
          </p:cNvPr>
          <p:cNvSpPr/>
          <p:nvPr/>
        </p:nvSpPr>
        <p:spPr>
          <a:xfrm>
            <a:off x="1362456" y="5934455"/>
            <a:ext cx="662940" cy="219456"/>
          </a:xfrm>
          <a:prstGeom prst="roundRect">
            <a:avLst>
              <a:gd name="adj" fmla="val 50000"/>
            </a:avLst>
          </a:prstGeom>
          <a:solidFill>
            <a:schemeClr val="accent1">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1">
                    <a:lumMod val="65000"/>
                  </a:schemeClr>
                </a:solidFill>
              </a:rPr>
              <a:t>E-789</a:t>
            </a:r>
          </a:p>
        </p:txBody>
      </p:sp>
      <p:sp>
        <p:nvSpPr>
          <p:cNvPr id="30" name="Card Step control"/>
          <p:cNvSpPr/>
          <p:nvPr/>
        </p:nvSpPr>
        <p:spPr>
          <a:xfrm>
            <a:off x="4091939" y="4770119"/>
            <a:ext cx="3360420" cy="1493519"/>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Card title Step control"/>
          <p:cNvSpPr txBox="1"/>
          <p:nvPr/>
        </p:nvSpPr>
        <p:spPr>
          <a:xfrm>
            <a:off x="4256531" y="4888991"/>
            <a:ext cx="3031236" cy="292608"/>
          </a:xfrm>
          <a:prstGeom prst="rect">
            <a:avLst/>
          </a:prstGeom>
          <a:noFill/>
        </p:spPr>
        <p:txBody>
          <a:bodyPr wrap="square" lIns="0" rIns="0" tIns="0" bIns="0" anchor="ctr">
            <a:spAutoFit/>
          </a:bodyPr>
          <a:lstStyle/>
          <a:p>
            <a:pPr algn="l"/>
            <a:r>
              <a:rPr sz="1500" b="1" i="0">
                <a:solidFill>
                  <a:schemeClr val="tx2"/>
                </a:solidFill>
              </a:rPr>
              <a:t>Step control</a:t>
            </a:r>
          </a:p>
        </p:txBody>
      </p:sp>
      <p:sp>
        <p:nvSpPr>
          <p:cNvPr id="32" name="Card body Step control"/>
          <p:cNvSpPr txBox="1"/>
          <p:nvPr/>
        </p:nvSpPr>
        <p:spPr>
          <a:xfrm>
            <a:off x="4256531" y="5227319"/>
            <a:ext cx="3031236" cy="652271"/>
          </a:xfrm>
          <a:prstGeom prst="rect">
            <a:avLst/>
          </a:prstGeom>
          <a:noFill/>
        </p:spPr>
        <p:txBody>
          <a:bodyPr wrap="square" lIns="0" rIns="0" tIns="0" bIns="0" anchor="t">
            <a:spAutoFit/>
          </a:bodyPr>
          <a:lstStyle/>
          <a:p>
            <a:pPr algn="l"/>
            <a:r>
              <a:rPr sz="1400" b="0" i="0">
                <a:solidFill>
                  <a:schemeClr val="tx1"/>
                </a:solidFill>
              </a:rPr>
              <a:t>$discontinuity restarts the integration or rejects the step; $bound_step, smallest wins</a:t>
            </a:r>
          </a:p>
        </p:txBody>
      </p:sp>
      <p:sp>
        <p:nvSpPr>
          <p:cNvPr id="33" name="Chip E-24">
            <a:hlinkClick r:id="rId14"/>
          </p:cNvPr>
          <p:cNvSpPr/>
          <p:nvPr/>
        </p:nvSpPr>
        <p:spPr>
          <a:xfrm>
            <a:off x="4256531" y="5934455"/>
            <a:ext cx="594360" cy="219456"/>
          </a:xfrm>
          <a:prstGeom prst="roundRect">
            <a:avLst>
              <a:gd name="adj" fmla="val 50000"/>
            </a:avLst>
          </a:prstGeom>
          <a:solidFill>
            <a:schemeClr val="accent1">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1">
                    <a:lumMod val="65000"/>
                  </a:schemeClr>
                </a:solidFill>
              </a:rPr>
              <a:t>E-24</a:t>
            </a:r>
          </a:p>
        </p:txBody>
      </p:sp>
      <p:sp>
        <p:nvSpPr>
          <p:cNvPr id="34" name="Chip E-55">
            <a:hlinkClick r:id="rId15"/>
          </p:cNvPr>
          <p:cNvSpPr/>
          <p:nvPr/>
        </p:nvSpPr>
        <p:spPr>
          <a:xfrm>
            <a:off x="4905755" y="5934455"/>
            <a:ext cx="594360" cy="219456"/>
          </a:xfrm>
          <a:prstGeom prst="roundRect">
            <a:avLst>
              <a:gd name="adj" fmla="val 50000"/>
            </a:avLst>
          </a:prstGeom>
          <a:solidFill>
            <a:schemeClr val="accent1">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1">
                    <a:lumMod val="65000"/>
                  </a:schemeClr>
                </a:solidFill>
              </a:rPr>
              <a:t>E-55</a:t>
            </a:r>
          </a:p>
        </p:txBody>
      </p:sp>
      <p:pic>
        <p:nvPicPr>
          <p:cNvPr id="35" name="Plot ac_compare.png" descr="ac_compare.png"/>
          <p:cNvPicPr>
            <a:picLocks noChangeAspect="1"/>
          </p:cNvPicPr>
          <p:nvPr/>
        </p:nvPicPr>
        <p:blipFill>
          <a:blip r:embed="rId16"/>
          <a:stretch>
            <a:fillRect/>
          </a:stretch>
        </p:blipFill>
        <p:spPr>
          <a:xfrm>
            <a:off x="7726679" y="1417320"/>
            <a:ext cx="3913632" cy="3913632"/>
          </a:xfrm>
          <a:prstGeom prst="rect">
            <a:avLst/>
          </a:prstGeom>
          <a:ln w="9525">
            <a:solidFill>
              <a:schemeClr val="bg2">
                <a:lumMod val="90000"/>
              </a:schemeClr>
            </a:solidFill>
          </a:ln>
        </p:spPr>
      </p:pic>
      <p:sp>
        <p:nvSpPr>
          <p:cNvPr id="36" name="Caption ac_compare.png"/>
          <p:cNvSpPr txBox="1"/>
          <p:nvPr/>
        </p:nvSpPr>
        <p:spPr>
          <a:xfrm>
            <a:off x="7726679" y="5422392"/>
            <a:ext cx="3913632" cy="457200"/>
          </a:xfrm>
          <a:prstGeom prst="rect">
            <a:avLst/>
          </a:prstGeom>
          <a:noFill/>
        </p:spPr>
        <p:txBody>
          <a:bodyPr wrap="square" lIns="0" rIns="0" tIns="0" bIns="0" anchor="t">
            <a:spAutoFit/>
          </a:bodyPr>
          <a:lstStyle/>
          <a:p>
            <a:pPr algn="l"/>
            <a:r>
              <a:rPr sz="1100" b="0" i="1">
                <a:solidFill>
                  <a:schemeClr val="accent3"/>
                </a:solidFill>
              </a:rPr>
              <a:t>A 5th-order Bessel low-pass built with laplace_* matches scipy over six decades (examples/bessel_filter_examples)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Modules, parameters and hierarchy</a:t>
            </a:r>
          </a:p>
        </p:txBody>
      </p:sp>
      <p:sp>
        <p:nvSpPr>
          <p:cNvPr id="3" name="Kicker"/>
          <p:cNvSpPr txBox="1"/>
          <p:nvPr/>
        </p:nvSpPr>
        <p:spPr>
          <a:xfrm>
            <a:off x="548640" y="274320"/>
            <a:ext cx="11094415" cy="274320"/>
          </a:xfrm>
          <a:prstGeom prst="rect">
            <a:avLst/>
          </a:prstGeom>
          <a:noFill/>
        </p:spPr>
        <p:txBody>
          <a:bodyPr wrap="square" lIns="0" rIns="0" tIns="0" bIns="0" anchor="t">
            <a:spAutoFit/>
          </a:bodyPr>
          <a:lstStyle/>
          <a:p>
            <a:pPr algn="l"/>
            <a:r>
              <a:rPr sz="1100" b="1" i="0" spc="120">
                <a:solidFill>
                  <a:schemeClr val="accent1">
                    <a:lumMod val="75000"/>
                  </a:schemeClr>
                </a:solidFill>
              </a:rPr>
              <a:t>COMPILER · 56 ENHANCEMENTS</a:t>
            </a:r>
          </a:p>
        </p:txBody>
      </p:sp>
      <p:sp>
        <p:nvSpPr>
          <p:cNvPr id="4" name="Card Instantiation"/>
          <p:cNvSpPr/>
          <p:nvPr/>
        </p:nvSpPr>
        <p:spPr>
          <a:xfrm>
            <a:off x="548640" y="1417320"/>
            <a:ext cx="3360420" cy="1493519"/>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Card title Instantiation"/>
          <p:cNvSpPr txBox="1"/>
          <p:nvPr/>
        </p:nvSpPr>
        <p:spPr>
          <a:xfrm>
            <a:off x="713232" y="1536192"/>
            <a:ext cx="3031236" cy="292608"/>
          </a:xfrm>
          <a:prstGeom prst="rect">
            <a:avLst/>
          </a:prstGeom>
          <a:noFill/>
        </p:spPr>
        <p:txBody>
          <a:bodyPr wrap="square" lIns="0" rIns="0" tIns="0" bIns="0" anchor="ctr">
            <a:spAutoFit/>
          </a:bodyPr>
          <a:lstStyle/>
          <a:p>
            <a:pPr algn="l"/>
            <a:r>
              <a:rPr sz="1500" b="1" i="0">
                <a:solidFill>
                  <a:schemeClr val="tx2"/>
                </a:solidFill>
              </a:rPr>
              <a:t>Instantiation</a:t>
            </a:r>
          </a:p>
        </p:txBody>
      </p:sp>
      <p:sp>
        <p:nvSpPr>
          <p:cNvPr id="6" name="Card body Instantiation"/>
          <p:cNvSpPr txBox="1"/>
          <p:nvPr/>
        </p:nvSpPr>
        <p:spPr>
          <a:xfrm>
            <a:off x="713232" y="1874519"/>
            <a:ext cx="3031236" cy="652271"/>
          </a:xfrm>
          <a:prstGeom prst="rect">
            <a:avLst/>
          </a:prstGeom>
          <a:noFill/>
        </p:spPr>
        <p:txBody>
          <a:bodyPr wrap="square" lIns="0" rIns="0" tIns="0" bIns="0" anchor="t">
            <a:spAutoFit/>
          </a:bodyPr>
          <a:lstStyle/>
          <a:p>
            <a:pPr algn="l"/>
            <a:r>
              <a:rPr sz="1400" b="0" i="0">
                <a:solidFill>
                  <a:schemeClr val="tx1"/>
                </a:solidFill>
              </a:rPr>
              <a:t>Hierarchy flattened at compile time; a child's unnamed branches stay the child's own</a:t>
            </a:r>
          </a:p>
        </p:txBody>
      </p:sp>
      <p:sp>
        <p:nvSpPr>
          <p:cNvPr id="7" name="Chip E-5">
            <a:hlinkClick r:id="rId3"/>
          </p:cNvPr>
          <p:cNvSpPr/>
          <p:nvPr/>
        </p:nvSpPr>
        <p:spPr>
          <a:xfrm>
            <a:off x="713232" y="2581656"/>
            <a:ext cx="525780" cy="219456"/>
          </a:xfrm>
          <a:prstGeom prst="roundRect">
            <a:avLst>
              <a:gd name="adj" fmla="val 50000"/>
            </a:avLst>
          </a:prstGeom>
          <a:solidFill>
            <a:schemeClr val="accent1">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1">
                    <a:lumMod val="65000"/>
                  </a:schemeClr>
                </a:solidFill>
              </a:rPr>
              <a:t>E-5</a:t>
            </a:r>
          </a:p>
        </p:txBody>
      </p:sp>
      <p:sp>
        <p:nvSpPr>
          <p:cNvPr id="8" name="Chip E-757">
            <a:hlinkClick r:id="rId4"/>
          </p:cNvPr>
          <p:cNvSpPr/>
          <p:nvPr/>
        </p:nvSpPr>
        <p:spPr>
          <a:xfrm>
            <a:off x="1293876" y="2581656"/>
            <a:ext cx="662940" cy="219456"/>
          </a:xfrm>
          <a:prstGeom prst="roundRect">
            <a:avLst>
              <a:gd name="adj" fmla="val 50000"/>
            </a:avLst>
          </a:prstGeom>
          <a:solidFill>
            <a:schemeClr val="accent1">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1">
                    <a:lumMod val="65000"/>
                  </a:schemeClr>
                </a:solidFill>
              </a:rPr>
              <a:t>E-757</a:t>
            </a:r>
          </a:p>
        </p:txBody>
      </p:sp>
      <p:sp>
        <p:nvSpPr>
          <p:cNvPr id="9" name="Card generate"/>
          <p:cNvSpPr/>
          <p:nvPr/>
        </p:nvSpPr>
        <p:spPr>
          <a:xfrm>
            <a:off x="4091939" y="1417320"/>
            <a:ext cx="3360420" cy="1493519"/>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Card title generate"/>
          <p:cNvSpPr txBox="1"/>
          <p:nvPr/>
        </p:nvSpPr>
        <p:spPr>
          <a:xfrm>
            <a:off x="4256531" y="1536192"/>
            <a:ext cx="3031236" cy="292608"/>
          </a:xfrm>
          <a:prstGeom prst="rect">
            <a:avLst/>
          </a:prstGeom>
          <a:noFill/>
        </p:spPr>
        <p:txBody>
          <a:bodyPr wrap="square" lIns="0" rIns="0" tIns="0" bIns="0" anchor="ctr">
            <a:spAutoFit/>
          </a:bodyPr>
          <a:lstStyle/>
          <a:p>
            <a:pPr algn="l"/>
            <a:r>
              <a:rPr sz="1500" b="1" i="0">
                <a:solidFill>
                  <a:schemeClr val="tx2"/>
                </a:solidFill>
              </a:rPr>
              <a:t>generate</a:t>
            </a:r>
          </a:p>
        </p:txBody>
      </p:sp>
      <p:sp>
        <p:nvSpPr>
          <p:cNvPr id="11" name="Card body generate"/>
          <p:cNvSpPr txBox="1"/>
          <p:nvPr/>
        </p:nvSpPr>
        <p:spPr>
          <a:xfrm>
            <a:off x="4256531" y="1874519"/>
            <a:ext cx="3031236" cy="652271"/>
          </a:xfrm>
          <a:prstGeom prst="rect">
            <a:avLst/>
          </a:prstGeom>
          <a:noFill/>
        </p:spPr>
        <p:txBody>
          <a:bodyPr wrap="square" lIns="0" rIns="0" tIns="0" bIns="0" anchor="t">
            <a:spAutoFit/>
          </a:bodyPr>
          <a:lstStyle/>
          <a:p>
            <a:pPr algn="l"/>
            <a:r>
              <a:rPr sz="1400" b="0" i="0">
                <a:solidFill>
                  <a:schemeClr val="tx1"/>
                </a:solidFill>
              </a:rPr>
              <a:t>for, if and case generate with genvars, legacy and bare blocks; genvar loops in analog blocks</a:t>
            </a:r>
          </a:p>
        </p:txBody>
      </p:sp>
      <p:sp>
        <p:nvSpPr>
          <p:cNvPr id="12" name="Chip E-67">
            <a:hlinkClick r:id="rId5"/>
          </p:cNvPr>
          <p:cNvSpPr/>
          <p:nvPr/>
        </p:nvSpPr>
        <p:spPr>
          <a:xfrm>
            <a:off x="4256531" y="2581656"/>
            <a:ext cx="594360" cy="219456"/>
          </a:xfrm>
          <a:prstGeom prst="roundRect">
            <a:avLst>
              <a:gd name="adj" fmla="val 50000"/>
            </a:avLst>
          </a:prstGeom>
          <a:solidFill>
            <a:schemeClr val="accent1">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1">
                    <a:lumMod val="65000"/>
                  </a:schemeClr>
                </a:solidFill>
              </a:rPr>
              <a:t>E-67</a:t>
            </a:r>
          </a:p>
        </p:txBody>
      </p:sp>
      <p:sp>
        <p:nvSpPr>
          <p:cNvPr id="13" name="Chip E-407">
            <a:hlinkClick r:id="rId6"/>
          </p:cNvPr>
          <p:cNvSpPr/>
          <p:nvPr/>
        </p:nvSpPr>
        <p:spPr>
          <a:xfrm>
            <a:off x="4905755" y="2581656"/>
            <a:ext cx="662940" cy="219456"/>
          </a:xfrm>
          <a:prstGeom prst="roundRect">
            <a:avLst>
              <a:gd name="adj" fmla="val 50000"/>
            </a:avLst>
          </a:prstGeom>
          <a:solidFill>
            <a:schemeClr val="accent1">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1">
                    <a:lumMod val="65000"/>
                  </a:schemeClr>
                </a:solidFill>
              </a:rPr>
              <a:t>E-407</a:t>
            </a:r>
          </a:p>
        </p:txBody>
      </p:sp>
      <p:sp>
        <p:nvSpPr>
          <p:cNvPr id="14" name="Card Parameters"/>
          <p:cNvSpPr/>
          <p:nvPr/>
        </p:nvSpPr>
        <p:spPr>
          <a:xfrm>
            <a:off x="548640" y="3093719"/>
            <a:ext cx="3360420" cy="1493519"/>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Card title Parameters"/>
          <p:cNvSpPr txBox="1"/>
          <p:nvPr/>
        </p:nvSpPr>
        <p:spPr>
          <a:xfrm>
            <a:off x="713232" y="3212591"/>
            <a:ext cx="3031236" cy="292608"/>
          </a:xfrm>
          <a:prstGeom prst="rect">
            <a:avLst/>
          </a:prstGeom>
          <a:noFill/>
        </p:spPr>
        <p:txBody>
          <a:bodyPr wrap="square" lIns="0" rIns="0" tIns="0" bIns="0" anchor="ctr">
            <a:spAutoFit/>
          </a:bodyPr>
          <a:lstStyle/>
          <a:p>
            <a:pPr algn="l"/>
            <a:r>
              <a:rPr sz="1500" b="1" i="0">
                <a:solidFill>
                  <a:schemeClr val="tx2"/>
                </a:solidFill>
              </a:rPr>
              <a:t>Parameters</a:t>
            </a:r>
          </a:p>
        </p:txBody>
      </p:sp>
      <p:sp>
        <p:nvSpPr>
          <p:cNvPr id="16" name="Card body Parameters"/>
          <p:cNvSpPr txBox="1"/>
          <p:nvPr/>
        </p:nvSpPr>
        <p:spPr>
          <a:xfrm>
            <a:off x="713232" y="3550919"/>
            <a:ext cx="3031236" cy="652271"/>
          </a:xfrm>
          <a:prstGeom prst="rect">
            <a:avLst/>
          </a:prstGeom>
          <a:noFill/>
        </p:spPr>
        <p:txBody>
          <a:bodyPr wrap="square" lIns="0" rIns="0" tIns="0" bIns="0" anchor="t">
            <a:spAutoFit/>
          </a:bodyPr>
          <a:lstStyle/>
          <a:p>
            <a:pPr algn="l"/>
            <a:r>
              <a:rPr sz="1400" b="0" i="0">
                <a:solidFill>
                  <a:schemeClr val="tx1"/>
                </a:solidFill>
              </a:rPr>
              <a:t>Ranges, localparam, aliasparam, defparam, block-scoped and array parameters, freeze</a:t>
            </a:r>
          </a:p>
        </p:txBody>
      </p:sp>
      <p:sp>
        <p:nvSpPr>
          <p:cNvPr id="17" name="Chip E-58">
            <a:hlinkClick r:id="rId7"/>
          </p:cNvPr>
          <p:cNvSpPr/>
          <p:nvPr/>
        </p:nvSpPr>
        <p:spPr>
          <a:xfrm>
            <a:off x="713232" y="4258055"/>
            <a:ext cx="594360" cy="219456"/>
          </a:xfrm>
          <a:prstGeom prst="roundRect">
            <a:avLst>
              <a:gd name="adj" fmla="val 50000"/>
            </a:avLst>
          </a:prstGeom>
          <a:solidFill>
            <a:schemeClr val="accent1">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1">
                    <a:lumMod val="65000"/>
                  </a:schemeClr>
                </a:solidFill>
              </a:rPr>
              <a:t>E-58</a:t>
            </a:r>
          </a:p>
        </p:txBody>
      </p:sp>
      <p:sp>
        <p:nvSpPr>
          <p:cNvPr id="18" name="Chip E-87">
            <a:hlinkClick r:id="rId8"/>
          </p:cNvPr>
          <p:cNvSpPr/>
          <p:nvPr/>
        </p:nvSpPr>
        <p:spPr>
          <a:xfrm>
            <a:off x="1362456" y="4258055"/>
            <a:ext cx="594360" cy="219456"/>
          </a:xfrm>
          <a:prstGeom prst="roundRect">
            <a:avLst>
              <a:gd name="adj" fmla="val 50000"/>
            </a:avLst>
          </a:prstGeom>
          <a:solidFill>
            <a:schemeClr val="accent1">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1">
                    <a:lumMod val="65000"/>
                  </a:schemeClr>
                </a:solidFill>
              </a:rPr>
              <a:t>E-87</a:t>
            </a:r>
          </a:p>
        </p:txBody>
      </p:sp>
      <p:sp>
        <p:nvSpPr>
          <p:cNvPr id="19" name="Card paramset"/>
          <p:cNvSpPr/>
          <p:nvPr/>
        </p:nvSpPr>
        <p:spPr>
          <a:xfrm>
            <a:off x="4091939" y="3093719"/>
            <a:ext cx="3360420" cy="1493519"/>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Card title paramset"/>
          <p:cNvSpPr txBox="1"/>
          <p:nvPr/>
        </p:nvSpPr>
        <p:spPr>
          <a:xfrm>
            <a:off x="4256531" y="3212591"/>
            <a:ext cx="3031236" cy="292608"/>
          </a:xfrm>
          <a:prstGeom prst="rect">
            <a:avLst/>
          </a:prstGeom>
          <a:noFill/>
        </p:spPr>
        <p:txBody>
          <a:bodyPr wrap="square" lIns="0" rIns="0" tIns="0" bIns="0" anchor="ctr">
            <a:spAutoFit/>
          </a:bodyPr>
          <a:lstStyle/>
          <a:p>
            <a:pPr algn="l"/>
            <a:r>
              <a:rPr sz="1500" b="1" i="0">
                <a:solidFill>
                  <a:schemeClr val="tx2"/>
                </a:solidFill>
              </a:rPr>
              <a:t>paramset</a:t>
            </a:r>
          </a:p>
        </p:txBody>
      </p:sp>
      <p:sp>
        <p:nvSpPr>
          <p:cNvPr id="21" name="Card body paramset"/>
          <p:cNvSpPr txBox="1"/>
          <p:nvPr/>
        </p:nvSpPr>
        <p:spPr>
          <a:xfrm>
            <a:off x="4256531" y="3550919"/>
            <a:ext cx="3031236" cy="652271"/>
          </a:xfrm>
          <a:prstGeom prst="rect">
            <a:avLst/>
          </a:prstGeom>
          <a:noFill/>
        </p:spPr>
        <p:txBody>
          <a:bodyPr wrap="square" lIns="0" rIns="0" tIns="0" bIns="0" anchor="t">
            <a:spAutoFit/>
          </a:bodyPr>
          <a:lstStyle/>
          <a:p>
            <a:pPr algn="l"/>
            <a:r>
              <a:rPr sz="1400" b="0" i="0">
                <a:solidFill>
                  <a:schemeClr val="tx1"/>
                </a:solidFill>
              </a:rPr>
              <a:t>Overloaded families picked per instance from the card's and the instance's values</a:t>
            </a:r>
          </a:p>
        </p:txBody>
      </p:sp>
      <p:sp>
        <p:nvSpPr>
          <p:cNvPr id="22" name="Chip E-21">
            <a:hlinkClick r:id="rId9"/>
          </p:cNvPr>
          <p:cNvSpPr/>
          <p:nvPr/>
        </p:nvSpPr>
        <p:spPr>
          <a:xfrm>
            <a:off x="4256531" y="4258055"/>
            <a:ext cx="594360" cy="219456"/>
          </a:xfrm>
          <a:prstGeom prst="roundRect">
            <a:avLst>
              <a:gd name="adj" fmla="val 50000"/>
            </a:avLst>
          </a:prstGeom>
          <a:solidFill>
            <a:schemeClr val="accent1">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1">
                    <a:lumMod val="65000"/>
                  </a:schemeClr>
                </a:solidFill>
              </a:rPr>
              <a:t>E-21</a:t>
            </a:r>
          </a:p>
        </p:txBody>
      </p:sp>
      <p:sp>
        <p:nvSpPr>
          <p:cNvPr id="23" name="Chip E-644">
            <a:hlinkClick r:id="rId10"/>
          </p:cNvPr>
          <p:cNvSpPr/>
          <p:nvPr/>
        </p:nvSpPr>
        <p:spPr>
          <a:xfrm>
            <a:off x="4905755" y="4258055"/>
            <a:ext cx="662940" cy="219456"/>
          </a:xfrm>
          <a:prstGeom prst="roundRect">
            <a:avLst>
              <a:gd name="adj" fmla="val 50000"/>
            </a:avLst>
          </a:prstGeom>
          <a:solidFill>
            <a:schemeClr val="accent1">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1">
                    <a:lumMod val="65000"/>
                  </a:schemeClr>
                </a:solidFill>
              </a:rPr>
              <a:t>E-644</a:t>
            </a:r>
          </a:p>
        </p:txBody>
      </p:sp>
      <p:sp>
        <p:nvSpPr>
          <p:cNvPr id="24" name="Card Natures"/>
          <p:cNvSpPr/>
          <p:nvPr/>
        </p:nvSpPr>
        <p:spPr>
          <a:xfrm>
            <a:off x="548640" y="4770119"/>
            <a:ext cx="3360420" cy="1493519"/>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Card title Natures"/>
          <p:cNvSpPr txBox="1"/>
          <p:nvPr/>
        </p:nvSpPr>
        <p:spPr>
          <a:xfrm>
            <a:off x="713232" y="4888991"/>
            <a:ext cx="3031236" cy="292608"/>
          </a:xfrm>
          <a:prstGeom prst="rect">
            <a:avLst/>
          </a:prstGeom>
          <a:noFill/>
        </p:spPr>
        <p:txBody>
          <a:bodyPr wrap="square" lIns="0" rIns="0" tIns="0" bIns="0" anchor="ctr">
            <a:spAutoFit/>
          </a:bodyPr>
          <a:lstStyle/>
          <a:p>
            <a:pPr algn="l"/>
            <a:r>
              <a:rPr sz="1500" b="1" i="0">
                <a:solidFill>
                  <a:schemeClr val="tx2"/>
                </a:solidFill>
              </a:rPr>
              <a:t>Natures</a:t>
            </a:r>
          </a:p>
        </p:txBody>
      </p:sp>
      <p:sp>
        <p:nvSpPr>
          <p:cNvPr id="26" name="Card body Natures"/>
          <p:cNvSpPr txBox="1"/>
          <p:nvPr/>
        </p:nvSpPr>
        <p:spPr>
          <a:xfrm>
            <a:off x="713232" y="5227319"/>
            <a:ext cx="3031236" cy="652271"/>
          </a:xfrm>
          <a:prstGeom prst="rect">
            <a:avLst/>
          </a:prstGeom>
          <a:noFill/>
        </p:spPr>
        <p:txBody>
          <a:bodyPr wrap="square" lIns="0" rIns="0" tIns="0" bIns="0" anchor="t">
            <a:spAutoFit/>
          </a:bodyPr>
          <a:lstStyle/>
          <a:p>
            <a:pPr algn="l"/>
            <a:r>
              <a:rPr sz="1400" b="0" i="0">
                <a:solidFill>
                  <a:schemeClr val="tx1"/>
                </a:solidFill>
              </a:rPr>
              <a:t>Derived natures, nature attributes, domain-binding checks per LRM 3.6.2.2</a:t>
            </a:r>
          </a:p>
        </p:txBody>
      </p:sp>
      <p:sp>
        <p:nvSpPr>
          <p:cNvPr id="27" name="Chip E-39">
            <a:hlinkClick r:id="rId11"/>
          </p:cNvPr>
          <p:cNvSpPr/>
          <p:nvPr/>
        </p:nvSpPr>
        <p:spPr>
          <a:xfrm>
            <a:off x="713232" y="5934455"/>
            <a:ext cx="594360" cy="219456"/>
          </a:xfrm>
          <a:prstGeom prst="roundRect">
            <a:avLst>
              <a:gd name="adj" fmla="val 50000"/>
            </a:avLst>
          </a:prstGeom>
          <a:solidFill>
            <a:schemeClr val="accent1">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1">
                    <a:lumMod val="65000"/>
                  </a:schemeClr>
                </a:solidFill>
              </a:rPr>
              <a:t>E-39</a:t>
            </a:r>
          </a:p>
        </p:txBody>
      </p:sp>
      <p:sp>
        <p:nvSpPr>
          <p:cNvPr id="28" name="Chip E-50">
            <a:hlinkClick r:id="rId12"/>
          </p:cNvPr>
          <p:cNvSpPr/>
          <p:nvPr/>
        </p:nvSpPr>
        <p:spPr>
          <a:xfrm>
            <a:off x="1362456" y="5934455"/>
            <a:ext cx="594360" cy="219456"/>
          </a:xfrm>
          <a:prstGeom prst="roundRect">
            <a:avLst>
              <a:gd name="adj" fmla="val 50000"/>
            </a:avLst>
          </a:prstGeom>
          <a:solidFill>
            <a:schemeClr val="accent1">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1">
                    <a:lumMod val="65000"/>
                  </a:schemeClr>
                </a:solidFill>
              </a:rPr>
              <a:t>E-50</a:t>
            </a:r>
          </a:p>
        </p:txBody>
      </p:sp>
      <p:sp>
        <p:nvSpPr>
          <p:cNvPr id="29" name="Card Libraries &amp; state"/>
          <p:cNvSpPr/>
          <p:nvPr/>
        </p:nvSpPr>
        <p:spPr>
          <a:xfrm>
            <a:off x="4091939" y="4770119"/>
            <a:ext cx="3360420" cy="1493519"/>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Card title Libraries &amp; state"/>
          <p:cNvSpPr txBox="1"/>
          <p:nvPr/>
        </p:nvSpPr>
        <p:spPr>
          <a:xfrm>
            <a:off x="4256531" y="4888991"/>
            <a:ext cx="3031236" cy="292608"/>
          </a:xfrm>
          <a:prstGeom prst="rect">
            <a:avLst/>
          </a:prstGeom>
          <a:noFill/>
        </p:spPr>
        <p:txBody>
          <a:bodyPr wrap="square" lIns="0" rIns="0" tIns="0" bIns="0" anchor="ctr">
            <a:spAutoFit/>
          </a:bodyPr>
          <a:lstStyle/>
          <a:p>
            <a:pPr algn="l"/>
            <a:r>
              <a:rPr sz="1500" b="1" i="0">
                <a:solidFill>
                  <a:schemeClr val="tx2"/>
                </a:solidFill>
              </a:rPr>
              <a:t>Libraries &amp; state</a:t>
            </a:r>
          </a:p>
        </p:txBody>
      </p:sp>
      <p:sp>
        <p:nvSpPr>
          <p:cNvPr id="31" name="Card body Libraries &amp; state"/>
          <p:cNvSpPr txBox="1"/>
          <p:nvPr/>
        </p:nvSpPr>
        <p:spPr>
          <a:xfrm>
            <a:off x="4256531" y="5227319"/>
            <a:ext cx="3031236" cy="652271"/>
          </a:xfrm>
          <a:prstGeom prst="rect">
            <a:avLst/>
          </a:prstGeom>
          <a:noFill/>
        </p:spPr>
        <p:txBody>
          <a:bodyPr wrap="square" lIns="0" rIns="0" tIns="0" bIns="0" anchor="t">
            <a:spAutoFit/>
          </a:bodyPr>
          <a:lstStyle/>
          <a:p>
            <a:pPr algn="l"/>
            <a:r>
              <a:rPr sz="1400" b="0" i="0">
                <a:solidFill>
                  <a:schemeClr val="tx1"/>
                </a:solidFill>
              </a:rPr>
              <a:t>Several modules in one .osdi; persistent variables; several analog blocks</a:t>
            </a:r>
          </a:p>
        </p:txBody>
      </p:sp>
      <p:sp>
        <p:nvSpPr>
          <p:cNvPr id="32" name="Chip E-76">
            <a:hlinkClick r:id="rId13"/>
          </p:cNvPr>
          <p:cNvSpPr/>
          <p:nvPr/>
        </p:nvSpPr>
        <p:spPr>
          <a:xfrm>
            <a:off x="4256531" y="5934455"/>
            <a:ext cx="594360" cy="219456"/>
          </a:xfrm>
          <a:prstGeom prst="roundRect">
            <a:avLst>
              <a:gd name="adj" fmla="val 50000"/>
            </a:avLst>
          </a:prstGeom>
          <a:solidFill>
            <a:schemeClr val="accent1">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1">
                    <a:lumMod val="65000"/>
                  </a:schemeClr>
                </a:solidFill>
              </a:rPr>
              <a:t>E-76</a:t>
            </a:r>
          </a:p>
        </p:txBody>
      </p:sp>
      <p:sp>
        <p:nvSpPr>
          <p:cNvPr id="33" name="Chip E-60">
            <a:hlinkClick r:id="rId14"/>
          </p:cNvPr>
          <p:cNvSpPr/>
          <p:nvPr/>
        </p:nvSpPr>
        <p:spPr>
          <a:xfrm>
            <a:off x="4905755" y="5934455"/>
            <a:ext cx="594360" cy="219456"/>
          </a:xfrm>
          <a:prstGeom prst="roundRect">
            <a:avLst>
              <a:gd name="adj" fmla="val 50000"/>
            </a:avLst>
          </a:prstGeom>
          <a:solidFill>
            <a:schemeClr val="accent1">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1">
                    <a:lumMod val="65000"/>
                  </a:schemeClr>
                </a:solidFill>
              </a:rPr>
              <a:t>E-60</a:t>
            </a:r>
          </a:p>
        </p:txBody>
      </p:sp>
      <p:pic>
        <p:nvPicPr>
          <p:cNvPr id="34" name="Plot opamp741.png" descr="opamp741.png"/>
          <p:cNvPicPr>
            <a:picLocks noChangeAspect="1"/>
          </p:cNvPicPr>
          <p:nvPr/>
        </p:nvPicPr>
        <p:blipFill>
          <a:blip r:embed="rId15"/>
          <a:stretch>
            <a:fillRect/>
          </a:stretch>
        </p:blipFill>
        <p:spPr>
          <a:xfrm>
            <a:off x="7726679" y="1417320"/>
            <a:ext cx="3913632" cy="2661269"/>
          </a:xfrm>
          <a:prstGeom prst="rect">
            <a:avLst/>
          </a:prstGeom>
          <a:ln w="9525">
            <a:solidFill>
              <a:schemeClr val="bg2">
                <a:lumMod val="90000"/>
              </a:schemeClr>
            </a:solidFill>
          </a:ln>
        </p:spPr>
      </p:pic>
      <p:sp>
        <p:nvSpPr>
          <p:cNvPr id="35" name="Caption opamp741.png"/>
          <p:cNvSpPr txBox="1"/>
          <p:nvPr/>
        </p:nvSpPr>
        <p:spPr>
          <a:xfrm>
            <a:off x="7726679" y="4170029"/>
            <a:ext cx="3913632" cy="640080"/>
          </a:xfrm>
          <a:prstGeom prst="rect">
            <a:avLst/>
          </a:prstGeom>
          <a:noFill/>
        </p:spPr>
        <p:txBody>
          <a:bodyPr wrap="square" lIns="0" rIns="0" tIns="0" bIns="0" anchor="t">
            <a:spAutoFit/>
          </a:bodyPr>
          <a:lstStyle/>
          <a:p>
            <a:pPr algn="l"/>
            <a:r>
              <a:rPr sz="1100" b="0" i="1">
                <a:solidFill>
                  <a:schemeClr val="accent3"/>
                </a:solidFill>
              </a:rPr>
              <a:t>A transistor-level µA741 built from a Verilog-A BJT: follower, open-loop AC and slew limiting (examples/opamp741_examples)</a:t>
            </a:r>
          </a:p>
        </p:txBody>
      </p:sp>
      <p:sp>
        <p:nvSpPr>
          <p:cNvPr id="36" name="Binding panel"/>
          <p:cNvSpPr/>
          <p:nvPr/>
        </p:nvSpPr>
        <p:spPr>
          <a:xfrm>
            <a:off x="7726679" y="4892040"/>
            <a:ext cx="3913632" cy="1371600"/>
          </a:xfrm>
          <a:prstGeom prst="roundRect">
            <a:avLst>
              <a:gd name="adj" fmla="val 6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Binding text"/>
          <p:cNvSpPr txBox="1"/>
          <p:nvPr/>
        </p:nvSpPr>
        <p:spPr>
          <a:xfrm>
            <a:off x="7955279" y="5010912"/>
            <a:ext cx="3456432" cy="1161287"/>
          </a:xfrm>
          <a:prstGeom prst="rect">
            <a:avLst/>
          </a:prstGeom>
          <a:noFill/>
        </p:spPr>
        <p:txBody>
          <a:bodyPr wrap="square" lIns="0" rIns="0" tIns="0" bIns="0" anchor="t">
            <a:spAutoFit/>
          </a:bodyPr>
          <a:lstStyle/>
          <a:p>
            <a:pPr algn="l"/>
            <a:r>
              <a:rPr sz="1400" b="1" i="0">
                <a:solidFill>
                  <a:schemeClr val="accent6"/>
                </a:solidFill>
              </a:rPr>
              <a:t>Structure binds at compile time: </a:t>
            </a:r>
            <a:r>
              <a:rPr sz="1400" b="0" i="0">
                <a:solidFill>
                  <a:schemeClr val="bg1"/>
                </a:solidFill>
              </a:rPr>
              <a:t>hierarchy, generate, defparam, paramsets, bus widths. </a:t>
            </a:r>
            <a:r>
              <a:rPr sz="1400" b="1" i="0">
                <a:solidFill>
                  <a:schemeClr val="accent6"/>
                </a:solidFill>
              </a:rPr>
              <a:t>Behaviour binds at run time: </a:t>
            </a:r>
            <a:r>
              <a:rPr sz="1400" b="0" i="0">
                <a:solidFill>
                  <a:schemeClr val="bg1"/>
                </a:solidFill>
              </a:rPr>
              <a:t>loop counts and if arms may follow the parameters.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Buses, branches, ports and arrays</a:t>
            </a:r>
          </a:p>
        </p:txBody>
      </p:sp>
      <p:sp>
        <p:nvSpPr>
          <p:cNvPr id="3" name="Kicker"/>
          <p:cNvSpPr txBox="1"/>
          <p:nvPr/>
        </p:nvSpPr>
        <p:spPr>
          <a:xfrm>
            <a:off x="548640" y="274320"/>
            <a:ext cx="11094415" cy="274320"/>
          </a:xfrm>
          <a:prstGeom prst="rect">
            <a:avLst/>
          </a:prstGeom>
          <a:noFill/>
        </p:spPr>
        <p:txBody>
          <a:bodyPr wrap="square" lIns="0" rIns="0" tIns="0" bIns="0" anchor="t">
            <a:spAutoFit/>
          </a:bodyPr>
          <a:lstStyle/>
          <a:p>
            <a:pPr algn="l"/>
            <a:r>
              <a:rPr sz="1100" b="1" i="0" spc="120">
                <a:solidFill>
                  <a:schemeClr val="accent1">
                    <a:lumMod val="75000"/>
                  </a:schemeClr>
                </a:solidFill>
              </a:rPr>
              <a:t>COMPILER · 18 + 11 ENHANCEMENTS</a:t>
            </a:r>
          </a:p>
        </p:txBody>
      </p:sp>
      <p:sp>
        <p:nvSpPr>
          <p:cNvPr id="4" name="Card Buses"/>
          <p:cNvSpPr/>
          <p:nvPr/>
        </p:nvSpPr>
        <p:spPr>
          <a:xfrm>
            <a:off x="548640" y="1417320"/>
            <a:ext cx="3360420" cy="1493519"/>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Card title Buses"/>
          <p:cNvSpPr txBox="1"/>
          <p:nvPr/>
        </p:nvSpPr>
        <p:spPr>
          <a:xfrm>
            <a:off x="713232" y="1536192"/>
            <a:ext cx="3031236" cy="292608"/>
          </a:xfrm>
          <a:prstGeom prst="rect">
            <a:avLst/>
          </a:prstGeom>
          <a:noFill/>
        </p:spPr>
        <p:txBody>
          <a:bodyPr wrap="square" lIns="0" rIns="0" tIns="0" bIns="0" anchor="ctr">
            <a:spAutoFit/>
          </a:bodyPr>
          <a:lstStyle/>
          <a:p>
            <a:pPr algn="l"/>
            <a:r>
              <a:rPr sz="1500" b="1" i="0">
                <a:solidFill>
                  <a:schemeClr val="tx2"/>
                </a:solidFill>
              </a:rPr>
              <a:t>Buses</a:t>
            </a:r>
          </a:p>
        </p:txBody>
      </p:sp>
      <p:sp>
        <p:nvSpPr>
          <p:cNvPr id="6" name="Card body Buses"/>
          <p:cNvSpPr txBox="1"/>
          <p:nvPr/>
        </p:nvSpPr>
        <p:spPr>
          <a:xfrm>
            <a:off x="713232" y="1874519"/>
            <a:ext cx="3031236" cy="652271"/>
          </a:xfrm>
          <a:prstGeom prst="rect">
            <a:avLst/>
          </a:prstGeom>
          <a:noFill/>
        </p:spPr>
        <p:txBody>
          <a:bodyPr wrap="square" lIns="0" rIns="0" tIns="0" bIns="0" anchor="t">
            <a:spAutoFit/>
          </a:bodyPr>
          <a:lstStyle/>
          <a:p>
            <a:pPr algn="l"/>
            <a:r>
              <a:rPr sz="1400" b="0" i="0">
                <a:solidFill>
                  <a:schemeClr val="tx1"/>
                </a:solidFill>
              </a:rPr>
              <a:t>Vectored nets and ports, bit-selects and ranges a[0:1]; v(a[0]) in print and plot</a:t>
            </a:r>
          </a:p>
        </p:txBody>
      </p:sp>
      <p:sp>
        <p:nvSpPr>
          <p:cNvPr id="7" name="Chip E-3">
            <a:hlinkClick r:id="rId3"/>
          </p:cNvPr>
          <p:cNvSpPr/>
          <p:nvPr/>
        </p:nvSpPr>
        <p:spPr>
          <a:xfrm>
            <a:off x="713232" y="2581656"/>
            <a:ext cx="525780" cy="219456"/>
          </a:xfrm>
          <a:prstGeom prst="roundRect">
            <a:avLst>
              <a:gd name="adj" fmla="val 50000"/>
            </a:avLst>
          </a:prstGeom>
          <a:solidFill>
            <a:schemeClr val="accent1">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1">
                    <a:lumMod val="65000"/>
                  </a:schemeClr>
                </a:solidFill>
              </a:rPr>
              <a:t>E-3</a:t>
            </a:r>
          </a:p>
        </p:txBody>
      </p:sp>
      <p:sp>
        <p:nvSpPr>
          <p:cNvPr id="8" name="Chip E-221">
            <a:hlinkClick r:id="rId4"/>
          </p:cNvPr>
          <p:cNvSpPr/>
          <p:nvPr/>
        </p:nvSpPr>
        <p:spPr>
          <a:xfrm>
            <a:off x="1293876" y="2581656"/>
            <a:ext cx="662940" cy="219456"/>
          </a:xfrm>
          <a:prstGeom prst="roundRect">
            <a:avLst>
              <a:gd name="adj" fmla="val 50000"/>
            </a:avLst>
          </a:prstGeom>
          <a:solidFill>
            <a:schemeClr val="accent1">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1">
                    <a:lumMod val="65000"/>
                  </a:schemeClr>
                </a:solidFill>
              </a:rPr>
              <a:t>E-221</a:t>
            </a:r>
          </a:p>
        </p:txBody>
      </p:sp>
      <p:sp>
        <p:nvSpPr>
          <p:cNvPr id="9" name="Card Implicit nets"/>
          <p:cNvSpPr/>
          <p:nvPr/>
        </p:nvSpPr>
        <p:spPr>
          <a:xfrm>
            <a:off x="4091939" y="1417320"/>
            <a:ext cx="3360420" cy="1493519"/>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Card title Implicit nets"/>
          <p:cNvSpPr txBox="1"/>
          <p:nvPr/>
        </p:nvSpPr>
        <p:spPr>
          <a:xfrm>
            <a:off x="4256531" y="1536192"/>
            <a:ext cx="3031236" cy="292608"/>
          </a:xfrm>
          <a:prstGeom prst="rect">
            <a:avLst/>
          </a:prstGeom>
          <a:noFill/>
        </p:spPr>
        <p:txBody>
          <a:bodyPr wrap="square" lIns="0" rIns="0" tIns="0" bIns="0" anchor="ctr">
            <a:spAutoFit/>
          </a:bodyPr>
          <a:lstStyle/>
          <a:p>
            <a:pPr algn="l"/>
            <a:r>
              <a:rPr sz="1500" b="1" i="0">
                <a:solidFill>
                  <a:schemeClr val="tx2"/>
                </a:solidFill>
              </a:rPr>
              <a:t>Implicit nets</a:t>
            </a:r>
          </a:p>
        </p:txBody>
      </p:sp>
      <p:sp>
        <p:nvSpPr>
          <p:cNvPr id="11" name="Card body Implicit nets"/>
          <p:cNvSpPr txBox="1"/>
          <p:nvPr/>
        </p:nvSpPr>
        <p:spPr>
          <a:xfrm>
            <a:off x="4256531" y="1874519"/>
            <a:ext cx="3031236" cy="652271"/>
          </a:xfrm>
          <a:prstGeom prst="rect">
            <a:avLst/>
          </a:prstGeom>
          <a:noFill/>
        </p:spPr>
        <p:txBody>
          <a:bodyPr wrap="square" lIns="0" rIns="0" tIns="0" bIns="0" anchor="t">
            <a:spAutoFit/>
          </a:bodyPr>
          <a:lstStyle/>
          <a:p>
            <a:pPr algn="l"/>
            <a:r>
              <a:rPr sz="1400" b="0" i="0">
                <a:solidFill>
                  <a:schemeClr val="tx1"/>
                </a:solidFill>
              </a:rPr>
              <a:t>An undeclared net takes the discipline of the port it connects</a:t>
            </a:r>
          </a:p>
        </p:txBody>
      </p:sp>
      <p:sp>
        <p:nvSpPr>
          <p:cNvPr id="12" name="Chip E-41">
            <a:hlinkClick r:id="rId5"/>
          </p:cNvPr>
          <p:cNvSpPr/>
          <p:nvPr/>
        </p:nvSpPr>
        <p:spPr>
          <a:xfrm>
            <a:off x="4256531" y="2581656"/>
            <a:ext cx="594360" cy="219456"/>
          </a:xfrm>
          <a:prstGeom prst="roundRect">
            <a:avLst>
              <a:gd name="adj" fmla="val 50000"/>
            </a:avLst>
          </a:prstGeom>
          <a:solidFill>
            <a:schemeClr val="accent1">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1">
                    <a:lumMod val="65000"/>
                  </a:schemeClr>
                </a:solidFill>
              </a:rPr>
              <a:t>E-41</a:t>
            </a:r>
          </a:p>
        </p:txBody>
      </p:sp>
      <p:sp>
        <p:nvSpPr>
          <p:cNvPr id="13" name="Chip E-340">
            <a:hlinkClick r:id="rId6"/>
          </p:cNvPr>
          <p:cNvSpPr/>
          <p:nvPr/>
        </p:nvSpPr>
        <p:spPr>
          <a:xfrm>
            <a:off x="4905755" y="2581656"/>
            <a:ext cx="662940" cy="219456"/>
          </a:xfrm>
          <a:prstGeom prst="roundRect">
            <a:avLst>
              <a:gd name="adj" fmla="val 50000"/>
            </a:avLst>
          </a:prstGeom>
          <a:solidFill>
            <a:schemeClr val="accent1">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1">
                    <a:lumMod val="65000"/>
                  </a:schemeClr>
                </a:solidFill>
              </a:rPr>
              <a:t>E-340</a:t>
            </a:r>
          </a:p>
        </p:txBody>
      </p:sp>
      <p:sp>
        <p:nvSpPr>
          <p:cNvPr id="14" name="Card Flow probes"/>
          <p:cNvSpPr/>
          <p:nvPr/>
        </p:nvSpPr>
        <p:spPr>
          <a:xfrm>
            <a:off x="548640" y="3093719"/>
            <a:ext cx="3360420" cy="1493519"/>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Card title Flow probes"/>
          <p:cNvSpPr txBox="1"/>
          <p:nvPr/>
        </p:nvSpPr>
        <p:spPr>
          <a:xfrm>
            <a:off x="713232" y="3212591"/>
            <a:ext cx="3031236" cy="292608"/>
          </a:xfrm>
          <a:prstGeom prst="rect">
            <a:avLst/>
          </a:prstGeom>
          <a:noFill/>
        </p:spPr>
        <p:txBody>
          <a:bodyPr wrap="square" lIns="0" rIns="0" tIns="0" bIns="0" anchor="ctr">
            <a:spAutoFit/>
          </a:bodyPr>
          <a:lstStyle/>
          <a:p>
            <a:pPr algn="l"/>
            <a:r>
              <a:rPr sz="1500" b="1" i="0">
                <a:solidFill>
                  <a:schemeClr val="tx2"/>
                </a:solidFill>
              </a:rPr>
              <a:t>Flow probes</a:t>
            </a:r>
          </a:p>
        </p:txBody>
      </p:sp>
      <p:sp>
        <p:nvSpPr>
          <p:cNvPr id="16" name="Card body Flow probes"/>
          <p:cNvSpPr txBox="1"/>
          <p:nvPr/>
        </p:nvSpPr>
        <p:spPr>
          <a:xfrm>
            <a:off x="713232" y="3550919"/>
            <a:ext cx="3031236" cy="652271"/>
          </a:xfrm>
          <a:prstGeom prst="rect">
            <a:avLst/>
          </a:prstGeom>
          <a:noFill/>
        </p:spPr>
        <p:txBody>
          <a:bodyPr wrap="square" lIns="0" rIns="0" tIns="0" bIns="0" anchor="t">
            <a:spAutoFit/>
          </a:bodyPr>
          <a:lstStyle/>
          <a:p>
            <a:pPr algn="l"/>
            <a:r>
              <a:rPr sz="1400" b="0" i="0">
                <a:solidFill>
                  <a:schemeClr val="tx1"/>
                </a:solidFill>
              </a:rPr>
              <a:t>I(&lt;port&gt;), probe-only branches as ideal ammeters, hierarchical branch probes</a:t>
            </a:r>
          </a:p>
        </p:txBody>
      </p:sp>
      <p:sp>
        <p:nvSpPr>
          <p:cNvPr id="17" name="Chip E-29">
            <a:hlinkClick r:id="rId7"/>
          </p:cNvPr>
          <p:cNvSpPr/>
          <p:nvPr/>
        </p:nvSpPr>
        <p:spPr>
          <a:xfrm>
            <a:off x="713232" y="4258055"/>
            <a:ext cx="594360" cy="219456"/>
          </a:xfrm>
          <a:prstGeom prst="roundRect">
            <a:avLst>
              <a:gd name="adj" fmla="val 50000"/>
            </a:avLst>
          </a:prstGeom>
          <a:solidFill>
            <a:schemeClr val="accent1">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1">
                    <a:lumMod val="65000"/>
                  </a:schemeClr>
                </a:solidFill>
              </a:rPr>
              <a:t>E-29</a:t>
            </a:r>
          </a:p>
        </p:txBody>
      </p:sp>
      <p:sp>
        <p:nvSpPr>
          <p:cNvPr id="18" name="Chip E-36">
            <a:hlinkClick r:id="rId8"/>
          </p:cNvPr>
          <p:cNvSpPr/>
          <p:nvPr/>
        </p:nvSpPr>
        <p:spPr>
          <a:xfrm>
            <a:off x="1362456" y="4258055"/>
            <a:ext cx="594360" cy="219456"/>
          </a:xfrm>
          <a:prstGeom prst="roundRect">
            <a:avLst>
              <a:gd name="adj" fmla="val 50000"/>
            </a:avLst>
          </a:prstGeom>
          <a:solidFill>
            <a:schemeClr val="accent1">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1">
                    <a:lumMod val="65000"/>
                  </a:schemeClr>
                </a:solidFill>
              </a:rPr>
              <a:t>E-36</a:t>
            </a:r>
          </a:p>
        </p:txBody>
      </p:sp>
      <p:sp>
        <p:nvSpPr>
          <p:cNvPr id="19" name="Card Indirect assignment"/>
          <p:cNvSpPr/>
          <p:nvPr/>
        </p:nvSpPr>
        <p:spPr>
          <a:xfrm>
            <a:off x="4091939" y="3093719"/>
            <a:ext cx="3360420" cy="1493519"/>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Card title Indirect assignment"/>
          <p:cNvSpPr txBox="1"/>
          <p:nvPr/>
        </p:nvSpPr>
        <p:spPr>
          <a:xfrm>
            <a:off x="4256531" y="3212591"/>
            <a:ext cx="3031236" cy="292608"/>
          </a:xfrm>
          <a:prstGeom prst="rect">
            <a:avLst/>
          </a:prstGeom>
          <a:noFill/>
        </p:spPr>
        <p:txBody>
          <a:bodyPr wrap="square" lIns="0" rIns="0" tIns="0" bIns="0" anchor="ctr">
            <a:spAutoFit/>
          </a:bodyPr>
          <a:lstStyle/>
          <a:p>
            <a:pPr algn="l"/>
            <a:r>
              <a:rPr sz="1500" b="1" i="0">
                <a:solidFill>
                  <a:schemeClr val="tx2"/>
                </a:solidFill>
              </a:rPr>
              <a:t>Indirect assignment</a:t>
            </a:r>
          </a:p>
        </p:txBody>
      </p:sp>
      <p:sp>
        <p:nvSpPr>
          <p:cNvPr id="21" name="Card body Indirect assignment"/>
          <p:cNvSpPr txBox="1"/>
          <p:nvPr/>
        </p:nvSpPr>
        <p:spPr>
          <a:xfrm>
            <a:off x="4256531" y="3550919"/>
            <a:ext cx="3031236" cy="652271"/>
          </a:xfrm>
          <a:prstGeom prst="rect">
            <a:avLst/>
          </a:prstGeom>
          <a:noFill/>
        </p:spPr>
        <p:txBody>
          <a:bodyPr wrap="square" lIns="0" rIns="0" tIns="0" bIns="0" anchor="t">
            <a:spAutoFit/>
          </a:bodyPr>
          <a:lstStyle/>
          <a:p>
            <a:pPr algn="l"/>
            <a:r>
              <a:rPr sz="1400" b="0" i="0">
                <a:solidFill>
                  <a:schemeClr val="tx1"/>
                </a:solidFill>
              </a:rPr>
              <a:t>V(out) : V(x) == 0 writes an ideal op-amp; placement rules enforced</a:t>
            </a:r>
          </a:p>
        </p:txBody>
      </p:sp>
      <p:sp>
        <p:nvSpPr>
          <p:cNvPr id="22" name="Chip E-2">
            <a:hlinkClick r:id="rId9"/>
          </p:cNvPr>
          <p:cNvSpPr/>
          <p:nvPr/>
        </p:nvSpPr>
        <p:spPr>
          <a:xfrm>
            <a:off x="4256531" y="4258055"/>
            <a:ext cx="525780" cy="219456"/>
          </a:xfrm>
          <a:prstGeom prst="roundRect">
            <a:avLst>
              <a:gd name="adj" fmla="val 50000"/>
            </a:avLst>
          </a:prstGeom>
          <a:solidFill>
            <a:schemeClr val="accent1">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1">
                    <a:lumMod val="65000"/>
                  </a:schemeClr>
                </a:solidFill>
              </a:rPr>
              <a:t>E-2</a:t>
            </a:r>
          </a:p>
        </p:txBody>
      </p:sp>
      <p:sp>
        <p:nvSpPr>
          <p:cNvPr id="23" name="Card Array values"/>
          <p:cNvSpPr/>
          <p:nvPr/>
        </p:nvSpPr>
        <p:spPr>
          <a:xfrm>
            <a:off x="548640" y="4770119"/>
            <a:ext cx="3360420" cy="1493519"/>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Card title Array values"/>
          <p:cNvSpPr txBox="1"/>
          <p:nvPr/>
        </p:nvSpPr>
        <p:spPr>
          <a:xfrm>
            <a:off x="713232" y="4888991"/>
            <a:ext cx="3031236" cy="292608"/>
          </a:xfrm>
          <a:prstGeom prst="rect">
            <a:avLst/>
          </a:prstGeom>
          <a:noFill/>
        </p:spPr>
        <p:txBody>
          <a:bodyPr wrap="square" lIns="0" rIns="0" tIns="0" bIns="0" anchor="ctr">
            <a:spAutoFit/>
          </a:bodyPr>
          <a:lstStyle/>
          <a:p>
            <a:pPr algn="l"/>
            <a:r>
              <a:rPr sz="1500" b="1" i="0">
                <a:solidFill>
                  <a:schemeClr val="tx2"/>
                </a:solidFill>
              </a:rPr>
              <a:t>Array values</a:t>
            </a:r>
          </a:p>
        </p:txBody>
      </p:sp>
      <p:sp>
        <p:nvSpPr>
          <p:cNvPr id="25" name="Card body Array values"/>
          <p:cNvSpPr txBox="1"/>
          <p:nvPr/>
        </p:nvSpPr>
        <p:spPr>
          <a:xfrm>
            <a:off x="713232" y="5227319"/>
            <a:ext cx="3031236" cy="652271"/>
          </a:xfrm>
          <a:prstGeom prst="rect">
            <a:avLst/>
          </a:prstGeom>
          <a:noFill/>
        </p:spPr>
        <p:txBody>
          <a:bodyPr wrap="square" lIns="0" rIns="0" tIns="0" bIns="0" anchor="t">
            <a:spAutoFit/>
          </a:bodyPr>
          <a:lstStyle/>
          <a:p>
            <a:pPr algn="l"/>
            <a:r>
              <a:rPr sz="1400" b="0" i="0">
                <a:solidFill>
                  <a:schemeClr val="tx1"/>
                </a:solidFill>
              </a:rPr>
              <a:t>Literals, aggregates and dynamic indexing; N-D arrays with per-element overrides</a:t>
            </a:r>
          </a:p>
        </p:txBody>
      </p:sp>
      <p:sp>
        <p:nvSpPr>
          <p:cNvPr id="26" name="Chip E-14">
            <a:hlinkClick r:id="rId10"/>
          </p:cNvPr>
          <p:cNvSpPr/>
          <p:nvPr/>
        </p:nvSpPr>
        <p:spPr>
          <a:xfrm>
            <a:off x="713232" y="5934455"/>
            <a:ext cx="594360" cy="219456"/>
          </a:xfrm>
          <a:prstGeom prst="roundRect">
            <a:avLst>
              <a:gd name="adj" fmla="val 50000"/>
            </a:avLst>
          </a:prstGeom>
          <a:solidFill>
            <a:schemeClr val="accent1">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1">
                    <a:lumMod val="65000"/>
                  </a:schemeClr>
                </a:solidFill>
              </a:rPr>
              <a:t>E-14</a:t>
            </a:r>
          </a:p>
        </p:txBody>
      </p:sp>
      <p:sp>
        <p:nvSpPr>
          <p:cNvPr id="27" name="Chip E-15">
            <a:hlinkClick r:id="rId11"/>
          </p:cNvPr>
          <p:cNvSpPr/>
          <p:nvPr/>
        </p:nvSpPr>
        <p:spPr>
          <a:xfrm>
            <a:off x="1362456" y="5934455"/>
            <a:ext cx="594360" cy="219456"/>
          </a:xfrm>
          <a:prstGeom prst="roundRect">
            <a:avLst>
              <a:gd name="adj" fmla="val 50000"/>
            </a:avLst>
          </a:prstGeom>
          <a:solidFill>
            <a:schemeClr val="accent1">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1">
                    <a:lumMod val="65000"/>
                  </a:schemeClr>
                </a:solidFill>
              </a:rPr>
              <a:t>E-15</a:t>
            </a:r>
          </a:p>
        </p:txBody>
      </p:sp>
      <p:sp>
        <p:nvSpPr>
          <p:cNvPr id="28" name="Card Arrays in functions"/>
          <p:cNvSpPr/>
          <p:nvPr/>
        </p:nvSpPr>
        <p:spPr>
          <a:xfrm>
            <a:off x="4091939" y="4770119"/>
            <a:ext cx="3360420" cy="1493519"/>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Card title Arrays in functions"/>
          <p:cNvSpPr txBox="1"/>
          <p:nvPr/>
        </p:nvSpPr>
        <p:spPr>
          <a:xfrm>
            <a:off x="4256531" y="4888991"/>
            <a:ext cx="3031236" cy="292608"/>
          </a:xfrm>
          <a:prstGeom prst="rect">
            <a:avLst/>
          </a:prstGeom>
          <a:noFill/>
        </p:spPr>
        <p:txBody>
          <a:bodyPr wrap="square" lIns="0" rIns="0" tIns="0" bIns="0" anchor="ctr">
            <a:spAutoFit/>
          </a:bodyPr>
          <a:lstStyle/>
          <a:p>
            <a:pPr algn="l"/>
            <a:r>
              <a:rPr sz="1500" b="1" i="0">
                <a:solidFill>
                  <a:schemeClr val="tx2"/>
                </a:solidFill>
              </a:rPr>
              <a:t>Arrays in functions</a:t>
            </a:r>
          </a:p>
        </p:txBody>
      </p:sp>
      <p:sp>
        <p:nvSpPr>
          <p:cNvPr id="30" name="Card body Arrays in functions"/>
          <p:cNvSpPr txBox="1"/>
          <p:nvPr/>
        </p:nvSpPr>
        <p:spPr>
          <a:xfrm>
            <a:off x="4256531" y="5227319"/>
            <a:ext cx="3031236" cy="652271"/>
          </a:xfrm>
          <a:prstGeom prst="rect">
            <a:avLst/>
          </a:prstGeom>
          <a:noFill/>
        </p:spPr>
        <p:txBody>
          <a:bodyPr wrap="square" lIns="0" rIns="0" tIns="0" bIns="0" anchor="t">
            <a:spAutoFit/>
          </a:bodyPr>
          <a:lstStyle/>
          <a:p>
            <a:pPr algn="l"/>
            <a:r>
              <a:rPr sz="1400" b="0" i="0">
                <a:solidFill>
                  <a:schemeClr val="tx1"/>
                </a:solidFill>
              </a:rPr>
              <a:t>Array arguments in, out and inout; arrays returned from analog functions</a:t>
            </a:r>
          </a:p>
        </p:txBody>
      </p:sp>
      <p:sp>
        <p:nvSpPr>
          <p:cNvPr id="31" name="Chip E-20">
            <a:hlinkClick r:id="rId12"/>
          </p:cNvPr>
          <p:cNvSpPr/>
          <p:nvPr/>
        </p:nvSpPr>
        <p:spPr>
          <a:xfrm>
            <a:off x="4256531" y="5934455"/>
            <a:ext cx="594360" cy="219456"/>
          </a:xfrm>
          <a:prstGeom prst="roundRect">
            <a:avLst>
              <a:gd name="adj" fmla="val 50000"/>
            </a:avLst>
          </a:prstGeom>
          <a:solidFill>
            <a:schemeClr val="accent1">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1">
                    <a:lumMod val="65000"/>
                  </a:schemeClr>
                </a:solidFill>
              </a:rPr>
              <a:t>E-20</a:t>
            </a:r>
          </a:p>
        </p:txBody>
      </p:sp>
      <p:sp>
        <p:nvSpPr>
          <p:cNvPr id="32" name="Chip E-23">
            <a:hlinkClick r:id="rId13"/>
          </p:cNvPr>
          <p:cNvSpPr/>
          <p:nvPr/>
        </p:nvSpPr>
        <p:spPr>
          <a:xfrm>
            <a:off x="4905755" y="5934455"/>
            <a:ext cx="594360" cy="219456"/>
          </a:xfrm>
          <a:prstGeom prst="roundRect">
            <a:avLst>
              <a:gd name="adj" fmla="val 50000"/>
            </a:avLst>
          </a:prstGeom>
          <a:solidFill>
            <a:schemeClr val="accent1">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1">
                    <a:lumMod val="65000"/>
                  </a:schemeClr>
                </a:solidFill>
              </a:rPr>
              <a:t>E-23</a:t>
            </a:r>
          </a:p>
        </p:txBody>
      </p:sp>
      <p:sp>
        <p:nvSpPr>
          <p:cNvPr id="33" name="Code panel"/>
          <p:cNvSpPr/>
          <p:nvPr/>
        </p:nvSpPr>
        <p:spPr>
          <a:xfrm>
            <a:off x="7726679" y="1417320"/>
            <a:ext cx="3913632" cy="4846320"/>
          </a:xfrm>
          <a:prstGeom prst="roundRect">
            <a:avLst>
              <a:gd name="adj" fmla="val 4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Code title"/>
          <p:cNvSpPr txBox="1"/>
          <p:nvPr/>
        </p:nvSpPr>
        <p:spPr>
          <a:xfrm>
            <a:off x="7955279" y="1581912"/>
            <a:ext cx="3456432" cy="274320"/>
          </a:xfrm>
          <a:prstGeom prst="rect">
            <a:avLst/>
          </a:prstGeom>
          <a:noFill/>
        </p:spPr>
        <p:txBody>
          <a:bodyPr wrap="square" lIns="0" rIns="0" tIns="0" bIns="0" anchor="t">
            <a:spAutoFit/>
          </a:bodyPr>
          <a:lstStyle/>
          <a:p>
            <a:pPr algn="l"/>
            <a:r>
              <a:rPr sz="1200" b="1" i="0">
                <a:solidFill>
                  <a:schemeClr val="accent6"/>
                </a:solidFill>
              </a:rPr>
              <a:t>A 4-bit bus and one genvar loop</a:t>
            </a:r>
          </a:p>
        </p:txBody>
      </p:sp>
      <p:sp>
        <p:nvSpPr>
          <p:cNvPr id="35" name="Code"/>
          <p:cNvSpPr txBox="1"/>
          <p:nvPr/>
        </p:nvSpPr>
        <p:spPr>
          <a:xfrm>
            <a:off x="7955279" y="1947672"/>
            <a:ext cx="3456432" cy="4178807"/>
          </a:xfrm>
          <a:prstGeom prst="rect">
            <a:avLst/>
          </a:prstGeom>
          <a:noFill/>
        </p:spPr>
        <p:txBody>
          <a:bodyPr wrap="square" lIns="0" rIns="0" tIns="0" bIns="0" anchor="t">
            <a:spAutoFit/>
          </a:bodyPr>
          <a:lstStyle/>
          <a:p>
            <a:pPr algn="l">
              <a:lnSpc>
                <a:spcPct val="100000"/>
              </a:lnSpc>
            </a:pPr>
            <a:r>
              <a:rPr sz="1200" b="0" i="0">
                <a:solidFill>
                  <a:schemeClr val="bg1"/>
                </a:solidFill>
                <a:latin typeface="Courier New"/>
              </a:rPr>
              <a:t>`include "disciplines.vams"</a:t>
            </a:r>
          </a:p>
          <a:p>
            <a:pPr algn="l">
              <a:lnSpc>
                <a:spcPct val="100000"/>
              </a:lnSpc>
            </a:pPr>
            <a:r>
              <a:rPr sz="1200" b="0" i="0">
                <a:solidFill>
                  <a:schemeClr val="bg1"/>
                </a:solidFill>
                <a:latin typeface="Courier New"/>
              </a:rPr>
              <a:t>module bank(a, b);</a:t>
            </a:r>
          </a:p>
          <a:p>
            <a:pPr algn="l">
              <a:lnSpc>
                <a:spcPct val="100000"/>
              </a:lnSpc>
            </a:pPr>
            <a:r>
              <a:rPr sz="1200" b="0" i="0">
                <a:solidFill>
                  <a:schemeClr val="bg1"/>
                </a:solidFill>
                <a:latin typeface="Courier New"/>
              </a:rPr>
              <a:t>  inout [0:3] a;</a:t>
            </a:r>
          </a:p>
          <a:p>
            <a:pPr algn="l">
              <a:lnSpc>
                <a:spcPct val="100000"/>
              </a:lnSpc>
            </a:pPr>
            <a:r>
              <a:rPr sz="1200" b="0" i="0">
                <a:solidFill>
                  <a:schemeClr val="bg1"/>
                </a:solidFill>
                <a:latin typeface="Courier New"/>
              </a:rPr>
              <a:t>  electrical [0:3] a;</a:t>
            </a:r>
          </a:p>
          <a:p>
            <a:pPr algn="l">
              <a:lnSpc>
                <a:spcPct val="100000"/>
              </a:lnSpc>
            </a:pPr>
            <a:r>
              <a:rPr sz="1200" b="0" i="0">
                <a:solidFill>
                  <a:schemeClr val="bg1"/>
                </a:solidFill>
                <a:latin typeface="Courier New"/>
              </a:rPr>
              <a:t>  inout b; electrical b;</a:t>
            </a:r>
          </a:p>
          <a:p>
            <a:pPr algn="l">
              <a:lnSpc>
                <a:spcPct val="100000"/>
              </a:lnSpc>
            </a:pPr>
            <a:r>
              <a:rPr sz="1200" b="0" i="0">
                <a:solidFill>
                  <a:schemeClr val="bg1"/>
                </a:solidFill>
                <a:latin typeface="Courier New"/>
              </a:rPr>
              <a:t>  parameter real g = 1m</a:t>
            </a:r>
          </a:p>
          <a:p>
            <a:pPr algn="l">
              <a:lnSpc>
                <a:spcPct val="100000"/>
              </a:lnSpc>
            </a:pPr>
            <a:r>
              <a:rPr sz="1200" b="0" i="0">
                <a:solidFill>
                  <a:schemeClr val="bg1"/>
                </a:solidFill>
                <a:latin typeface="Courier New"/>
              </a:rPr>
              <a:t>    from (0:inf);</a:t>
            </a:r>
          </a:p>
          <a:p>
            <a:pPr algn="l">
              <a:lnSpc>
                <a:spcPct val="100000"/>
              </a:lnSpc>
            </a:pPr>
            <a:r>
              <a:rPr sz="1200" b="0" i="0">
                <a:solidFill>
                  <a:schemeClr val="bg1"/>
                </a:solidFill>
                <a:latin typeface="Courier New"/>
              </a:rPr>
              <a:t>  genvar i;</a:t>
            </a:r>
          </a:p>
          <a:p>
            <a:pPr algn="l">
              <a:lnSpc>
                <a:spcPct val="100000"/>
              </a:lnSpc>
            </a:pPr>
            <a:r>
              <a:rPr sz="1200" b="0" i="0">
                <a:solidFill>
                  <a:schemeClr val="bg1"/>
                </a:solidFill>
                <a:latin typeface="Courier New"/>
              </a:rPr>
              <a:t>  analog begin</a:t>
            </a:r>
          </a:p>
          <a:p>
            <a:pPr algn="l">
              <a:lnSpc>
                <a:spcPct val="100000"/>
              </a:lnSpc>
            </a:pPr>
            <a:r>
              <a:rPr sz="1200" b="0" i="0">
                <a:solidFill>
                  <a:schemeClr val="bg1"/>
                </a:solidFill>
                <a:latin typeface="Courier New"/>
              </a:rPr>
              <a:t>    for (i = 0; i &lt; 4; i = i + 1)</a:t>
            </a:r>
          </a:p>
          <a:p>
            <a:pPr algn="l">
              <a:lnSpc>
                <a:spcPct val="100000"/>
              </a:lnSpc>
            </a:pPr>
            <a:r>
              <a:rPr sz="1200" b="0" i="0">
                <a:solidFill>
                  <a:schemeClr val="bg1"/>
                </a:solidFill>
                <a:latin typeface="Courier New"/>
              </a:rPr>
              <a:t>      I(a[i], b) &lt;+</a:t>
            </a:r>
          </a:p>
          <a:p>
            <a:pPr algn="l">
              <a:lnSpc>
                <a:spcPct val="100000"/>
              </a:lnSpc>
            </a:pPr>
            <a:r>
              <a:rPr sz="1200" b="0" i="0">
                <a:solidFill>
                  <a:schemeClr val="bg1"/>
                </a:solidFill>
                <a:latin typeface="Courier New"/>
              </a:rPr>
              <a:t>        g * (1 &lt;&lt; i) * V(a[i], b);</a:t>
            </a:r>
          </a:p>
          <a:p>
            <a:pPr algn="l">
              <a:lnSpc>
                <a:spcPct val="100000"/>
              </a:lnSpc>
            </a:pPr>
            <a:r>
              <a:rPr sz="1200" b="0" i="0">
                <a:solidFill>
                  <a:schemeClr val="bg1"/>
                </a:solidFill>
                <a:latin typeface="Courier New"/>
              </a:rPr>
              <a:t>  end</a:t>
            </a:r>
          </a:p>
          <a:p>
            <a:pPr algn="l">
              <a:lnSpc>
                <a:spcPct val="100000"/>
              </a:lnSpc>
            </a:pPr>
            <a:r>
              <a:rPr sz="1200" b="0" i="0">
                <a:solidFill>
                  <a:schemeClr val="bg1"/>
                </a:solidFill>
                <a:latin typeface="Courier New"/>
              </a:rPr>
              <a:t>endmodule</a:t>
            </a:r>
          </a:p>
          <a:p>
            <a:pPr algn="l">
              <a:lnSpc>
                <a:spcPct val="100000"/>
              </a:lnSpc>
            </a:pPr>
            <a:r>
              <a:rPr sz="1200" b="0" i="0">
                <a:solidFill>
                  <a:schemeClr val="bg1"/>
                </a:solidFill>
                <a:latin typeface="Courier New"/>
              </a:rPr>
              <a:t/>
            </a:r>
          </a:p>
          <a:p>
            <a:pPr algn="l">
              <a:lnSpc>
                <a:spcPct val="100000"/>
              </a:lnSpc>
            </a:pPr>
            <a:r>
              <a:rPr sz="1200" b="0" i="0">
                <a:solidFill>
                  <a:schemeClr val="bg1"/>
                </a:solidFill>
                <a:latin typeface="Courier New"/>
              </a:rPr>
              <a:t>// ngspice op, 1 V on each bit:</a:t>
            </a:r>
          </a:p>
          <a:p>
            <a:pPr algn="l">
              <a:lnSpc>
                <a:spcPct val="100000"/>
              </a:lnSpc>
            </a:pPr>
            <a:r>
              <a:rPr sz="1200" b="0" i="0">
                <a:solidFill>
                  <a:schemeClr val="bg1"/>
                </a:solidFill>
                <a:latin typeface="Courier New"/>
              </a:rPr>
              <a:t>// 1, 2, 4, 8 mA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Lookup tables and noise models</a:t>
            </a:r>
          </a:p>
        </p:txBody>
      </p:sp>
      <p:sp>
        <p:nvSpPr>
          <p:cNvPr id="3" name="Kicker"/>
          <p:cNvSpPr txBox="1"/>
          <p:nvPr/>
        </p:nvSpPr>
        <p:spPr>
          <a:xfrm>
            <a:off x="548640" y="274320"/>
            <a:ext cx="11094415" cy="274320"/>
          </a:xfrm>
          <a:prstGeom prst="rect">
            <a:avLst/>
          </a:prstGeom>
          <a:noFill/>
        </p:spPr>
        <p:txBody>
          <a:bodyPr wrap="square" lIns="0" rIns="0" tIns="0" bIns="0" anchor="t">
            <a:spAutoFit/>
          </a:bodyPr>
          <a:lstStyle/>
          <a:p>
            <a:pPr algn="l"/>
            <a:r>
              <a:rPr sz="1100" b="1" i="0" spc="120">
                <a:solidFill>
                  <a:schemeClr val="accent1">
                    <a:lumMod val="75000"/>
                  </a:schemeClr>
                </a:solidFill>
              </a:rPr>
              <a:t>COMPILER · 6 + 5 ENHANCEMENTS</a:t>
            </a:r>
          </a:p>
        </p:txBody>
      </p:sp>
      <p:sp>
        <p:nvSpPr>
          <p:cNvPr id="4" name="Column Lookup tables"/>
          <p:cNvSpPr/>
          <p:nvPr/>
        </p:nvSpPr>
        <p:spPr>
          <a:xfrm>
            <a:off x="548640" y="1417320"/>
            <a:ext cx="5364327" cy="484632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Column title Lookup tables"/>
          <p:cNvSpPr txBox="1"/>
          <p:nvPr/>
        </p:nvSpPr>
        <p:spPr>
          <a:xfrm>
            <a:off x="777240" y="1581912"/>
            <a:ext cx="2377440" cy="320040"/>
          </a:xfrm>
          <a:prstGeom prst="rect">
            <a:avLst/>
          </a:prstGeom>
          <a:noFill/>
        </p:spPr>
        <p:txBody>
          <a:bodyPr wrap="square" lIns="0" rIns="0" tIns="0" bIns="0" anchor="t">
            <a:spAutoFit/>
          </a:bodyPr>
          <a:lstStyle/>
          <a:p>
            <a:pPr algn="l"/>
            <a:r>
              <a:rPr sz="1800" b="1" i="0">
                <a:solidFill>
                  <a:schemeClr val="tx2"/>
                </a:solidFill>
              </a:rPr>
              <a:t>Lookup tables</a:t>
            </a:r>
          </a:p>
        </p:txBody>
      </p:sp>
      <p:sp>
        <p:nvSpPr>
          <p:cNvPr id="6" name="Chip E-16">
            <a:hlinkClick r:id="rId3"/>
          </p:cNvPr>
          <p:cNvSpPr/>
          <p:nvPr/>
        </p:nvSpPr>
        <p:spPr>
          <a:xfrm>
            <a:off x="3142335" y="1618488"/>
            <a:ext cx="594360" cy="237744"/>
          </a:xfrm>
          <a:prstGeom prst="roundRect">
            <a:avLst>
              <a:gd name="adj" fmla="val 50000"/>
            </a:avLst>
          </a:prstGeom>
          <a:solidFill>
            <a:schemeClr val="accent1">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1">
                    <a:lumMod val="65000"/>
                  </a:schemeClr>
                </a:solidFill>
              </a:rPr>
              <a:t>E-16</a:t>
            </a:r>
          </a:p>
        </p:txBody>
      </p:sp>
      <p:sp>
        <p:nvSpPr>
          <p:cNvPr id="7" name="Chip E-17">
            <a:hlinkClick r:id="rId4"/>
          </p:cNvPr>
          <p:cNvSpPr/>
          <p:nvPr/>
        </p:nvSpPr>
        <p:spPr>
          <a:xfrm>
            <a:off x="3791559" y="1618488"/>
            <a:ext cx="594360" cy="237744"/>
          </a:xfrm>
          <a:prstGeom prst="roundRect">
            <a:avLst>
              <a:gd name="adj" fmla="val 50000"/>
            </a:avLst>
          </a:prstGeom>
          <a:solidFill>
            <a:schemeClr val="accent1">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1">
                    <a:lumMod val="65000"/>
                  </a:schemeClr>
                </a:solidFill>
              </a:rPr>
              <a:t>E-17</a:t>
            </a:r>
          </a:p>
        </p:txBody>
      </p:sp>
      <p:sp>
        <p:nvSpPr>
          <p:cNvPr id="8" name="Chip E-22">
            <a:hlinkClick r:id="rId5"/>
          </p:cNvPr>
          <p:cNvSpPr/>
          <p:nvPr/>
        </p:nvSpPr>
        <p:spPr>
          <a:xfrm>
            <a:off x="4440783" y="1618488"/>
            <a:ext cx="594360" cy="237744"/>
          </a:xfrm>
          <a:prstGeom prst="roundRect">
            <a:avLst>
              <a:gd name="adj" fmla="val 50000"/>
            </a:avLst>
          </a:prstGeom>
          <a:solidFill>
            <a:schemeClr val="accent1">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1">
                    <a:lumMod val="65000"/>
                  </a:schemeClr>
                </a:solidFill>
              </a:rPr>
              <a:t>E-22</a:t>
            </a:r>
          </a:p>
        </p:txBody>
      </p:sp>
      <p:sp>
        <p:nvSpPr>
          <p:cNvPr id="9" name="Chip E-40">
            <a:hlinkClick r:id="rId6"/>
          </p:cNvPr>
          <p:cNvSpPr/>
          <p:nvPr/>
        </p:nvSpPr>
        <p:spPr>
          <a:xfrm>
            <a:off x="5090007" y="1618488"/>
            <a:ext cx="594360" cy="237744"/>
          </a:xfrm>
          <a:prstGeom prst="roundRect">
            <a:avLst>
              <a:gd name="adj" fmla="val 50000"/>
            </a:avLst>
          </a:prstGeom>
          <a:solidFill>
            <a:schemeClr val="accent1">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1">
                    <a:lumMod val="65000"/>
                  </a:schemeClr>
                </a:solidFill>
              </a:rPr>
              <a:t>E-40</a:t>
            </a:r>
          </a:p>
        </p:txBody>
      </p:sp>
      <p:sp>
        <p:nvSpPr>
          <p:cNvPr id="10" name="Column bullets Lookup tables"/>
          <p:cNvSpPr txBox="1"/>
          <p:nvPr/>
        </p:nvSpPr>
        <p:spPr>
          <a:xfrm>
            <a:off x="777240" y="2057400"/>
            <a:ext cx="4907127" cy="1463040"/>
          </a:xfrm>
          <a:prstGeom prst="rect">
            <a:avLst/>
          </a:prstGeom>
          <a:noFill/>
        </p:spPr>
        <p:txBody>
          <a:bodyPr wrap="square" lIns="0" rIns="0" tIns="0" bIns="0" anchor="t">
            <a:spAutoFit/>
          </a:bodyPr>
          <a:lstStyle/>
          <a:p>
            <a:pPr algn="l" marL="201168" indent="-201168">
              <a:spcAft>
                <a:spcPts val="400"/>
              </a:spcAft>
              <a:buClr>
                <a:schemeClr val="accent3"/>
              </a:buClr>
              <a:buFont typeface="Arial"/>
              <a:buChar char="•"/>
            </a:pPr>
            <a:r>
              <a:rPr sz="1400" b="0" i="0">
                <a:solidFill>
                  <a:schemeClr val="tx1"/>
                </a:solidFill>
              </a:rPr>
              <a:t>$table_model in any number of dimensions: linear, cubic spline, isoline files</a:t>
            </a:r>
          </a:p>
          <a:p>
            <a:pPr algn="l" marL="201168" indent="-201168">
              <a:spcAft>
                <a:spcPts val="400"/>
              </a:spcAft>
              <a:buClr>
                <a:schemeClr val="accent3"/>
              </a:buClr>
              <a:buFont typeface="Arial"/>
              <a:buChar char="•"/>
            </a:pPr>
            <a:r>
              <a:rPr sz="1400" b="0" i="0">
                <a:solidFill>
                  <a:schemeClr val="tx1"/>
                </a:solidFill>
              </a:rPr>
              <a:t>Lowered to differentiable MIR: an exact Jacobian, no finite differences</a:t>
            </a:r>
          </a:p>
          <a:p>
            <a:pPr algn="l" marL="201168" indent="-201168">
              <a:spcAft>
                <a:spcPts val="400"/>
              </a:spcAft>
              <a:buClr>
                <a:schemeClr val="accent3"/>
              </a:buClr>
              <a:buFont typeface="Arial"/>
              <a:buChar char="•"/>
            </a:pPr>
            <a:r>
              <a:rPr sz="1400" b="0" i="0">
                <a:solidFill>
                  <a:schemeClr val="tx1"/>
                </a:solidFill>
              </a:rPr>
              <a:t>Data inline, from arrays or from files; extrapolation per dimension</a:t>
            </a:r>
          </a:p>
        </p:txBody>
      </p:sp>
      <p:pic>
        <p:nvPicPr>
          <p:cNvPr id="11" name="Plot mdtable_iv.png" descr="mdtable_iv.png"/>
          <p:cNvPicPr>
            <a:picLocks noChangeAspect="1"/>
          </p:cNvPicPr>
          <p:nvPr/>
        </p:nvPicPr>
        <p:blipFill>
          <a:blip r:embed="rId7"/>
          <a:stretch>
            <a:fillRect/>
          </a:stretch>
        </p:blipFill>
        <p:spPr>
          <a:xfrm>
            <a:off x="777240" y="3520439"/>
            <a:ext cx="4907127" cy="1962851"/>
          </a:xfrm>
          <a:prstGeom prst="rect">
            <a:avLst/>
          </a:prstGeom>
          <a:ln w="9525">
            <a:solidFill>
              <a:schemeClr val="bg2">
                <a:lumMod val="90000"/>
              </a:schemeClr>
            </a:solidFill>
          </a:ln>
        </p:spPr>
      </p:pic>
      <p:sp>
        <p:nvSpPr>
          <p:cNvPr id="12" name="Caption mdtable_iv.png"/>
          <p:cNvSpPr txBox="1"/>
          <p:nvPr/>
        </p:nvSpPr>
        <p:spPr>
          <a:xfrm>
            <a:off x="777240" y="5574731"/>
            <a:ext cx="4907127" cy="411480"/>
          </a:xfrm>
          <a:prstGeom prst="rect">
            <a:avLst/>
          </a:prstGeom>
          <a:noFill/>
        </p:spPr>
        <p:txBody>
          <a:bodyPr wrap="square" lIns="0" rIns="0" tIns="0" bIns="0" anchor="t">
            <a:spAutoFit/>
          </a:bodyPr>
          <a:lstStyle/>
          <a:p>
            <a:pPr algn="l"/>
            <a:r>
              <a:rPr sz="1100" b="0" i="1">
                <a:solidFill>
                  <a:schemeClr val="accent3"/>
                </a:solidFill>
              </a:rPr>
              <a:t>A bilinear 2-D I(Vgs, Vds) table as a transistor (examples/mdtable_examples)</a:t>
            </a:r>
          </a:p>
        </p:txBody>
      </p:sp>
      <p:sp>
        <p:nvSpPr>
          <p:cNvPr id="13" name="Column Noise models"/>
          <p:cNvSpPr/>
          <p:nvPr/>
        </p:nvSpPr>
        <p:spPr>
          <a:xfrm>
            <a:off x="6278727" y="1417320"/>
            <a:ext cx="5364327" cy="484632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Column title Noise models"/>
          <p:cNvSpPr txBox="1"/>
          <p:nvPr/>
        </p:nvSpPr>
        <p:spPr>
          <a:xfrm>
            <a:off x="6507327" y="1581912"/>
            <a:ext cx="2377440" cy="320040"/>
          </a:xfrm>
          <a:prstGeom prst="rect">
            <a:avLst/>
          </a:prstGeom>
          <a:noFill/>
        </p:spPr>
        <p:txBody>
          <a:bodyPr wrap="square" lIns="0" rIns="0" tIns="0" bIns="0" anchor="t">
            <a:spAutoFit/>
          </a:bodyPr>
          <a:lstStyle/>
          <a:p>
            <a:pPr algn="l"/>
            <a:r>
              <a:rPr sz="1800" b="1" i="0">
                <a:solidFill>
                  <a:schemeClr val="tx2"/>
                </a:solidFill>
              </a:rPr>
              <a:t>Noise models</a:t>
            </a:r>
          </a:p>
        </p:txBody>
      </p:sp>
      <p:sp>
        <p:nvSpPr>
          <p:cNvPr id="15" name="Chip E-9">
            <a:hlinkClick r:id="rId8"/>
          </p:cNvPr>
          <p:cNvSpPr/>
          <p:nvPr/>
        </p:nvSpPr>
        <p:spPr>
          <a:xfrm>
            <a:off x="8872423" y="1618488"/>
            <a:ext cx="525780" cy="237744"/>
          </a:xfrm>
          <a:prstGeom prst="roundRect">
            <a:avLst>
              <a:gd name="adj" fmla="val 50000"/>
            </a:avLst>
          </a:prstGeom>
          <a:solidFill>
            <a:schemeClr val="accent1">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1">
                    <a:lumMod val="65000"/>
                  </a:schemeClr>
                </a:solidFill>
              </a:rPr>
              <a:t>E-9</a:t>
            </a:r>
          </a:p>
        </p:txBody>
      </p:sp>
      <p:sp>
        <p:nvSpPr>
          <p:cNvPr id="16" name="Chip E-42">
            <a:hlinkClick r:id="rId9"/>
          </p:cNvPr>
          <p:cNvSpPr/>
          <p:nvPr/>
        </p:nvSpPr>
        <p:spPr>
          <a:xfrm>
            <a:off x="9453067" y="1618488"/>
            <a:ext cx="594360" cy="237744"/>
          </a:xfrm>
          <a:prstGeom prst="roundRect">
            <a:avLst>
              <a:gd name="adj" fmla="val 50000"/>
            </a:avLst>
          </a:prstGeom>
          <a:solidFill>
            <a:schemeClr val="accent1">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1">
                    <a:lumMod val="65000"/>
                  </a:schemeClr>
                </a:solidFill>
              </a:rPr>
              <a:t>E-42</a:t>
            </a:r>
          </a:p>
        </p:txBody>
      </p:sp>
      <p:sp>
        <p:nvSpPr>
          <p:cNvPr id="17" name="Chip E-54">
            <a:hlinkClick r:id="rId10"/>
          </p:cNvPr>
          <p:cNvSpPr/>
          <p:nvPr/>
        </p:nvSpPr>
        <p:spPr>
          <a:xfrm>
            <a:off x="10102291" y="1618488"/>
            <a:ext cx="594360" cy="237744"/>
          </a:xfrm>
          <a:prstGeom prst="roundRect">
            <a:avLst>
              <a:gd name="adj" fmla="val 50000"/>
            </a:avLst>
          </a:prstGeom>
          <a:solidFill>
            <a:schemeClr val="accent1">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1">
                    <a:lumMod val="65000"/>
                  </a:schemeClr>
                </a:solidFill>
              </a:rPr>
              <a:t>E-54</a:t>
            </a:r>
          </a:p>
        </p:txBody>
      </p:sp>
      <p:sp>
        <p:nvSpPr>
          <p:cNvPr id="18" name="Chip E-364">
            <a:hlinkClick r:id="rId11"/>
          </p:cNvPr>
          <p:cNvSpPr/>
          <p:nvPr/>
        </p:nvSpPr>
        <p:spPr>
          <a:xfrm>
            <a:off x="10751515" y="1618488"/>
            <a:ext cx="662940" cy="237744"/>
          </a:xfrm>
          <a:prstGeom prst="roundRect">
            <a:avLst>
              <a:gd name="adj" fmla="val 50000"/>
            </a:avLst>
          </a:prstGeom>
          <a:solidFill>
            <a:schemeClr val="accent1">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1">
                    <a:lumMod val="65000"/>
                  </a:schemeClr>
                </a:solidFill>
              </a:rPr>
              <a:t>E-364</a:t>
            </a:r>
          </a:p>
        </p:txBody>
      </p:sp>
      <p:sp>
        <p:nvSpPr>
          <p:cNvPr id="19" name="Column bullets Noise models"/>
          <p:cNvSpPr txBox="1"/>
          <p:nvPr/>
        </p:nvSpPr>
        <p:spPr>
          <a:xfrm>
            <a:off x="6507327" y="2057400"/>
            <a:ext cx="4907127" cy="1463040"/>
          </a:xfrm>
          <a:prstGeom prst="rect">
            <a:avLst/>
          </a:prstGeom>
          <a:noFill/>
        </p:spPr>
        <p:txBody>
          <a:bodyPr wrap="square" lIns="0" rIns="0" tIns="0" bIns="0" anchor="t">
            <a:spAutoFit/>
          </a:bodyPr>
          <a:lstStyle/>
          <a:p>
            <a:pPr algn="l" marL="201168" indent="-201168">
              <a:spcAft>
                <a:spcPts val="400"/>
              </a:spcAft>
              <a:buClr>
                <a:schemeClr val="accent3"/>
              </a:buClr>
              <a:buFont typeface="Arial"/>
              <a:buChar char="•"/>
            </a:pPr>
            <a:r>
              <a:rPr sz="1400" b="0" i="0">
                <a:solidFill>
                  <a:schemeClr val="tx1"/>
                </a:solidFill>
              </a:rPr>
              <a:t>white_noise, flicker_noise, noise_table and noise_table_log</a:t>
            </a:r>
          </a:p>
          <a:p>
            <a:pPr algn="l" marL="201168" indent="-201168">
              <a:spcAft>
                <a:spcPts val="400"/>
              </a:spcAft>
              <a:buClr>
                <a:schemeClr val="accent3"/>
              </a:buClr>
              <a:buFont typeface="Arial"/>
              <a:buChar char="•"/>
            </a:pPr>
            <a:r>
              <a:rPr sz="1400" b="0" i="0">
                <a:solidFill>
                  <a:schemeClr val="tx1"/>
                </a:solidFill>
              </a:rPr>
              <a:t>Same-named sources correlate and sum coherently; op-dependent factors</a:t>
            </a:r>
          </a:p>
          <a:p>
            <a:pPr algn="l" marL="201168" indent="-201168">
              <a:spcAft>
                <a:spcPts val="400"/>
              </a:spcAft>
              <a:buClr>
                <a:schemeClr val="accent3"/>
              </a:buClr>
              <a:buFont typeface="Arial"/>
              <a:buChar char="•"/>
            </a:pPr>
            <a:r>
              <a:rPr sz="1400" b="0" i="0">
                <a:solidFill>
                  <a:schemeClr val="tx1"/>
                </a:solidFill>
              </a:rPr>
              <a:t>Node-free noise factors (OSDI 0.7); device noise also in .tran</a:t>
            </a:r>
          </a:p>
        </p:txBody>
      </p:sp>
      <p:pic>
        <p:nvPicPr>
          <p:cNvPr id="20" name="Plot noise_spectra.png" descr="noise_spectra.png"/>
          <p:cNvPicPr>
            <a:picLocks noChangeAspect="1"/>
          </p:cNvPicPr>
          <p:nvPr/>
        </p:nvPicPr>
        <p:blipFill>
          <a:blip r:embed="rId12"/>
          <a:stretch>
            <a:fillRect/>
          </a:stretch>
        </p:blipFill>
        <p:spPr>
          <a:xfrm>
            <a:off x="7326401" y="3246120"/>
            <a:ext cx="3268979" cy="2377440"/>
          </a:xfrm>
          <a:prstGeom prst="rect">
            <a:avLst/>
          </a:prstGeom>
          <a:ln w="9525">
            <a:solidFill>
              <a:schemeClr val="bg2">
                <a:lumMod val="90000"/>
              </a:schemeClr>
            </a:solidFill>
          </a:ln>
        </p:spPr>
      </p:pic>
      <p:sp>
        <p:nvSpPr>
          <p:cNvPr id="21" name="Caption noise_spectra.png"/>
          <p:cNvSpPr txBox="1"/>
          <p:nvPr/>
        </p:nvSpPr>
        <p:spPr>
          <a:xfrm>
            <a:off x="6507327" y="5715000"/>
            <a:ext cx="4907127" cy="411480"/>
          </a:xfrm>
          <a:prstGeom prst="rect">
            <a:avLst/>
          </a:prstGeom>
          <a:noFill/>
        </p:spPr>
        <p:txBody>
          <a:bodyPr wrap="square" lIns="0" rIns="0" tIns="0" bIns="0" anchor="t">
            <a:spAutoFit/>
          </a:bodyPr>
          <a:lstStyle/>
          <a:p>
            <a:pPr algn="l"/>
            <a:r>
              <a:rPr sz="1100" b="0" i="1">
                <a:solidFill>
                  <a:schemeClr val="accent3"/>
                </a:solidFill>
              </a:rPr>
              <a:t>Each noise source against its analytic spectrum (examples/noise_examples)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System tasks and functions</a:t>
            </a:r>
          </a:p>
        </p:txBody>
      </p:sp>
      <p:sp>
        <p:nvSpPr>
          <p:cNvPr id="3" name="Kicker"/>
          <p:cNvSpPr txBox="1"/>
          <p:nvPr/>
        </p:nvSpPr>
        <p:spPr>
          <a:xfrm>
            <a:off x="548640" y="274320"/>
            <a:ext cx="11094415" cy="274320"/>
          </a:xfrm>
          <a:prstGeom prst="rect">
            <a:avLst/>
          </a:prstGeom>
          <a:noFill/>
        </p:spPr>
        <p:txBody>
          <a:bodyPr wrap="square" lIns="0" rIns="0" tIns="0" bIns="0" anchor="t">
            <a:spAutoFit/>
          </a:bodyPr>
          <a:lstStyle/>
          <a:p>
            <a:pPr algn="l"/>
            <a:r>
              <a:rPr sz="1100" b="1" i="0" spc="120">
                <a:solidFill>
                  <a:schemeClr val="accent1">
                    <a:lumMod val="75000"/>
                  </a:schemeClr>
                </a:solidFill>
              </a:rPr>
              <a:t>COMPILER · 35 ENHANCEMENTS</a:t>
            </a:r>
          </a:p>
        </p:txBody>
      </p:sp>
      <p:sp>
        <p:nvSpPr>
          <p:cNvPr id="4" name="Card Random"/>
          <p:cNvSpPr/>
          <p:nvPr/>
        </p:nvSpPr>
        <p:spPr>
          <a:xfrm>
            <a:off x="548640" y="1417320"/>
            <a:ext cx="2602153" cy="230886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oken $random"/>
          <p:cNvSpPr/>
          <p:nvPr/>
        </p:nvSpPr>
        <p:spPr>
          <a:xfrm>
            <a:off x="731520" y="1600200"/>
            <a:ext cx="1874519" cy="384048"/>
          </a:xfrm>
          <a:prstGeom prst="roundRect">
            <a:avLst>
              <a:gd name="adj" fmla="val 2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300" b="1">
                <a:solidFill>
                  <a:schemeClr val="accent1">
                    <a:lumMod val="80000"/>
                    <a:lumOff val="20000"/>
                  </a:schemeClr>
                </a:solidFill>
                <a:latin typeface="Courier New"/>
              </a:rPr>
              <a:t>$random</a:t>
            </a:r>
          </a:p>
        </p:txBody>
      </p:sp>
      <p:sp>
        <p:nvSpPr>
          <p:cNvPr id="6" name="Card title Random"/>
          <p:cNvSpPr txBox="1"/>
          <p:nvPr/>
        </p:nvSpPr>
        <p:spPr>
          <a:xfrm>
            <a:off x="731520" y="2148840"/>
            <a:ext cx="2236393" cy="320040"/>
          </a:xfrm>
          <a:prstGeom prst="rect">
            <a:avLst/>
          </a:prstGeom>
          <a:noFill/>
        </p:spPr>
        <p:txBody>
          <a:bodyPr wrap="square" lIns="0" rIns="0" tIns="0" bIns="0" anchor="t">
            <a:spAutoFit/>
          </a:bodyPr>
          <a:lstStyle/>
          <a:p>
            <a:pPr algn="l"/>
            <a:r>
              <a:rPr sz="1600" b="1" i="0">
                <a:solidFill>
                  <a:schemeClr val="tx2"/>
                </a:solidFill>
              </a:rPr>
              <a:t>Random</a:t>
            </a:r>
          </a:p>
        </p:txBody>
      </p:sp>
      <p:sp>
        <p:nvSpPr>
          <p:cNvPr id="7" name="Card body Random"/>
          <p:cNvSpPr txBox="1"/>
          <p:nvPr/>
        </p:nvSpPr>
        <p:spPr>
          <a:xfrm>
            <a:off x="731520" y="2514600"/>
            <a:ext cx="2236393" cy="800100"/>
          </a:xfrm>
          <a:prstGeom prst="rect">
            <a:avLst/>
          </a:prstGeom>
          <a:noFill/>
        </p:spPr>
        <p:txBody>
          <a:bodyPr wrap="square" lIns="0" rIns="0" tIns="0" bIns="0" anchor="t">
            <a:spAutoFit/>
          </a:bodyPr>
          <a:lstStyle/>
          <a:p>
            <a:pPr algn="l"/>
            <a:r>
              <a:rPr sz="1400" b="0" i="0">
                <a:solidFill>
                  <a:schemeClr val="tx1"/>
                </a:solidFill>
              </a:rPr>
              <a:t>$random, every $dist_* and $rdist_*; reproducible per instance</a:t>
            </a:r>
          </a:p>
        </p:txBody>
      </p:sp>
      <p:sp>
        <p:nvSpPr>
          <p:cNvPr id="8" name="Chip E-10">
            <a:hlinkClick r:id="rId3"/>
          </p:cNvPr>
          <p:cNvSpPr/>
          <p:nvPr/>
        </p:nvSpPr>
        <p:spPr>
          <a:xfrm>
            <a:off x="731520" y="3342132"/>
            <a:ext cx="594360" cy="237744"/>
          </a:xfrm>
          <a:prstGeom prst="roundRect">
            <a:avLst>
              <a:gd name="adj" fmla="val 50000"/>
            </a:avLst>
          </a:prstGeom>
          <a:solidFill>
            <a:schemeClr val="accent1">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1">
                    <a:lumMod val="65000"/>
                  </a:schemeClr>
                </a:solidFill>
              </a:rPr>
              <a:t>E-10</a:t>
            </a:r>
          </a:p>
        </p:txBody>
      </p:sp>
      <p:sp>
        <p:nvSpPr>
          <p:cNvPr id="9" name="Chip E-376">
            <a:hlinkClick r:id="rId4"/>
          </p:cNvPr>
          <p:cNvSpPr/>
          <p:nvPr/>
        </p:nvSpPr>
        <p:spPr>
          <a:xfrm>
            <a:off x="1380744" y="3342132"/>
            <a:ext cx="662940" cy="237744"/>
          </a:xfrm>
          <a:prstGeom prst="roundRect">
            <a:avLst>
              <a:gd name="adj" fmla="val 50000"/>
            </a:avLst>
          </a:prstGeom>
          <a:solidFill>
            <a:schemeClr val="accent1">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1">
                    <a:lumMod val="65000"/>
                  </a:schemeClr>
                </a:solidFill>
              </a:rPr>
              <a:t>E-376</a:t>
            </a:r>
          </a:p>
        </p:txBody>
      </p:sp>
      <p:sp>
        <p:nvSpPr>
          <p:cNvPr id="10" name="Card File I/O"/>
          <p:cNvSpPr/>
          <p:nvPr/>
        </p:nvSpPr>
        <p:spPr>
          <a:xfrm>
            <a:off x="3379393" y="1417320"/>
            <a:ext cx="2602153" cy="230886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oken $fopen"/>
          <p:cNvSpPr/>
          <p:nvPr/>
        </p:nvSpPr>
        <p:spPr>
          <a:xfrm>
            <a:off x="3562273" y="1600200"/>
            <a:ext cx="1874519" cy="384048"/>
          </a:xfrm>
          <a:prstGeom prst="roundRect">
            <a:avLst>
              <a:gd name="adj" fmla="val 2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300" b="1">
                <a:solidFill>
                  <a:schemeClr val="accent1">
                    <a:lumMod val="80000"/>
                    <a:lumOff val="20000"/>
                  </a:schemeClr>
                </a:solidFill>
                <a:latin typeface="Courier New"/>
              </a:rPr>
              <a:t>$fopen</a:t>
            </a:r>
          </a:p>
        </p:txBody>
      </p:sp>
      <p:sp>
        <p:nvSpPr>
          <p:cNvPr id="12" name="Card title File I/O"/>
          <p:cNvSpPr txBox="1"/>
          <p:nvPr/>
        </p:nvSpPr>
        <p:spPr>
          <a:xfrm>
            <a:off x="3562273" y="2148840"/>
            <a:ext cx="2236393" cy="320040"/>
          </a:xfrm>
          <a:prstGeom prst="rect">
            <a:avLst/>
          </a:prstGeom>
          <a:noFill/>
        </p:spPr>
        <p:txBody>
          <a:bodyPr wrap="square" lIns="0" rIns="0" tIns="0" bIns="0" anchor="t">
            <a:spAutoFit/>
          </a:bodyPr>
          <a:lstStyle/>
          <a:p>
            <a:pPr algn="l"/>
            <a:r>
              <a:rPr sz="1600" b="1" i="0">
                <a:solidFill>
                  <a:schemeClr val="tx2"/>
                </a:solidFill>
              </a:rPr>
              <a:t>File I/O</a:t>
            </a:r>
          </a:p>
        </p:txBody>
      </p:sp>
      <p:sp>
        <p:nvSpPr>
          <p:cNvPr id="13" name="Card body File I/O"/>
          <p:cNvSpPr txBox="1"/>
          <p:nvPr/>
        </p:nvSpPr>
        <p:spPr>
          <a:xfrm>
            <a:off x="3562273" y="2514600"/>
            <a:ext cx="2236393" cy="800100"/>
          </a:xfrm>
          <a:prstGeom prst="rect">
            <a:avLst/>
          </a:prstGeom>
          <a:noFill/>
        </p:spPr>
        <p:txBody>
          <a:bodyPr wrap="square" lIns="0" rIns="0" tIns="0" bIns="0" anchor="t">
            <a:spAutoFit/>
          </a:bodyPr>
          <a:lstStyle/>
          <a:p>
            <a:pPr algn="l"/>
            <a:r>
              <a:rPr sz="1400" b="0" i="0">
                <a:solidFill>
                  <a:schemeClr val="tx1"/>
                </a:solidFill>
              </a:rPr>
              <a:t>$fopen, $fwrite, $fscanf, $fgetc, $ungetc, append mode</a:t>
            </a:r>
          </a:p>
        </p:txBody>
      </p:sp>
      <p:sp>
        <p:nvSpPr>
          <p:cNvPr id="14" name="Chip E-11">
            <a:hlinkClick r:id="rId5"/>
          </p:cNvPr>
          <p:cNvSpPr/>
          <p:nvPr/>
        </p:nvSpPr>
        <p:spPr>
          <a:xfrm>
            <a:off x="3562273" y="3342132"/>
            <a:ext cx="594360" cy="237744"/>
          </a:xfrm>
          <a:prstGeom prst="roundRect">
            <a:avLst>
              <a:gd name="adj" fmla="val 50000"/>
            </a:avLst>
          </a:prstGeom>
          <a:solidFill>
            <a:schemeClr val="accent1">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1">
                    <a:lumMod val="65000"/>
                  </a:schemeClr>
                </a:solidFill>
              </a:rPr>
              <a:t>E-11</a:t>
            </a:r>
          </a:p>
        </p:txBody>
      </p:sp>
      <p:sp>
        <p:nvSpPr>
          <p:cNvPr id="15" name="Chip E-107">
            <a:hlinkClick r:id="rId6"/>
          </p:cNvPr>
          <p:cNvSpPr/>
          <p:nvPr/>
        </p:nvSpPr>
        <p:spPr>
          <a:xfrm>
            <a:off x="4211497" y="3342132"/>
            <a:ext cx="662940" cy="237744"/>
          </a:xfrm>
          <a:prstGeom prst="roundRect">
            <a:avLst>
              <a:gd name="adj" fmla="val 50000"/>
            </a:avLst>
          </a:prstGeom>
          <a:solidFill>
            <a:schemeClr val="accent1">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1">
                    <a:lumMod val="65000"/>
                  </a:schemeClr>
                </a:solidFill>
              </a:rPr>
              <a:t>E-107</a:t>
            </a:r>
          </a:p>
        </p:txBody>
      </p:sp>
      <p:sp>
        <p:nvSpPr>
          <p:cNvPr id="16" name="Card Strings"/>
          <p:cNvSpPr/>
          <p:nvPr/>
        </p:nvSpPr>
        <p:spPr>
          <a:xfrm>
            <a:off x="6210147" y="1417320"/>
            <a:ext cx="2602153" cy="230886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oken $sscanf"/>
          <p:cNvSpPr/>
          <p:nvPr/>
        </p:nvSpPr>
        <p:spPr>
          <a:xfrm>
            <a:off x="6393027" y="1600200"/>
            <a:ext cx="1874519" cy="384048"/>
          </a:xfrm>
          <a:prstGeom prst="roundRect">
            <a:avLst>
              <a:gd name="adj" fmla="val 2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300" b="1">
                <a:solidFill>
                  <a:schemeClr val="accent1">
                    <a:lumMod val="80000"/>
                    <a:lumOff val="20000"/>
                  </a:schemeClr>
                </a:solidFill>
                <a:latin typeface="Courier New"/>
              </a:rPr>
              <a:t>$sscanf</a:t>
            </a:r>
          </a:p>
        </p:txBody>
      </p:sp>
      <p:sp>
        <p:nvSpPr>
          <p:cNvPr id="18" name="Card title Strings"/>
          <p:cNvSpPr txBox="1"/>
          <p:nvPr/>
        </p:nvSpPr>
        <p:spPr>
          <a:xfrm>
            <a:off x="6393027" y="2148840"/>
            <a:ext cx="2236393" cy="320040"/>
          </a:xfrm>
          <a:prstGeom prst="rect">
            <a:avLst/>
          </a:prstGeom>
          <a:noFill/>
        </p:spPr>
        <p:txBody>
          <a:bodyPr wrap="square" lIns="0" rIns="0" tIns="0" bIns="0" anchor="t">
            <a:spAutoFit/>
          </a:bodyPr>
          <a:lstStyle/>
          <a:p>
            <a:pPr algn="l"/>
            <a:r>
              <a:rPr sz="1600" b="1" i="0">
                <a:solidFill>
                  <a:schemeClr val="tx2"/>
                </a:solidFill>
              </a:rPr>
              <a:t>Strings</a:t>
            </a:r>
          </a:p>
        </p:txBody>
      </p:sp>
      <p:sp>
        <p:nvSpPr>
          <p:cNvPr id="19" name="Card body Strings"/>
          <p:cNvSpPr txBox="1"/>
          <p:nvPr/>
        </p:nvSpPr>
        <p:spPr>
          <a:xfrm>
            <a:off x="6393027" y="2514600"/>
            <a:ext cx="2236393" cy="800100"/>
          </a:xfrm>
          <a:prstGeom prst="rect">
            <a:avLst/>
          </a:prstGeom>
          <a:noFill/>
        </p:spPr>
        <p:txBody>
          <a:bodyPr wrap="square" lIns="0" rIns="0" tIns="0" bIns="0" anchor="t">
            <a:spAutoFit/>
          </a:bodyPr>
          <a:lstStyle/>
          <a:p>
            <a:pPr algn="l"/>
            <a:r>
              <a:rPr sz="1400" b="0" i="0">
                <a:solidFill>
                  <a:schemeClr val="tx1"/>
                </a:solidFill>
              </a:rPr>
              <a:t>$sformat and $sscanf in every base; string compare and returns</a:t>
            </a:r>
          </a:p>
        </p:txBody>
      </p:sp>
      <p:sp>
        <p:nvSpPr>
          <p:cNvPr id="20" name="Chip E-105">
            <a:hlinkClick r:id="rId7"/>
          </p:cNvPr>
          <p:cNvSpPr/>
          <p:nvPr/>
        </p:nvSpPr>
        <p:spPr>
          <a:xfrm>
            <a:off x="6393027" y="3342132"/>
            <a:ext cx="662940" cy="237744"/>
          </a:xfrm>
          <a:prstGeom prst="roundRect">
            <a:avLst>
              <a:gd name="adj" fmla="val 50000"/>
            </a:avLst>
          </a:prstGeom>
          <a:solidFill>
            <a:schemeClr val="accent1">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1">
                    <a:lumMod val="65000"/>
                  </a:schemeClr>
                </a:solidFill>
              </a:rPr>
              <a:t>E-105</a:t>
            </a:r>
          </a:p>
        </p:txBody>
      </p:sp>
      <p:sp>
        <p:nvSpPr>
          <p:cNvPr id="21" name="Chip E-106">
            <a:hlinkClick r:id="rId8"/>
          </p:cNvPr>
          <p:cNvSpPr/>
          <p:nvPr/>
        </p:nvSpPr>
        <p:spPr>
          <a:xfrm>
            <a:off x="7110831" y="3342132"/>
            <a:ext cx="662940" cy="237744"/>
          </a:xfrm>
          <a:prstGeom prst="roundRect">
            <a:avLst>
              <a:gd name="adj" fmla="val 50000"/>
            </a:avLst>
          </a:prstGeom>
          <a:solidFill>
            <a:schemeClr val="accent1">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1">
                    <a:lumMod val="65000"/>
                  </a:schemeClr>
                </a:solidFill>
              </a:rPr>
              <a:t>E-106</a:t>
            </a:r>
          </a:p>
        </p:txBody>
      </p:sp>
      <p:sp>
        <p:nvSpPr>
          <p:cNvPr id="22" name="Card Display"/>
          <p:cNvSpPr/>
          <p:nvPr/>
        </p:nvSpPr>
        <p:spPr>
          <a:xfrm>
            <a:off x="9040901" y="1417320"/>
            <a:ext cx="2602153" cy="230886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oken $display"/>
          <p:cNvSpPr/>
          <p:nvPr/>
        </p:nvSpPr>
        <p:spPr>
          <a:xfrm>
            <a:off x="9223781" y="1600200"/>
            <a:ext cx="1874519" cy="384048"/>
          </a:xfrm>
          <a:prstGeom prst="roundRect">
            <a:avLst>
              <a:gd name="adj" fmla="val 2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300" b="1">
                <a:solidFill>
                  <a:schemeClr val="accent1">
                    <a:lumMod val="80000"/>
                    <a:lumOff val="20000"/>
                  </a:schemeClr>
                </a:solidFill>
                <a:latin typeface="Courier New"/>
              </a:rPr>
              <a:t>$display</a:t>
            </a:r>
          </a:p>
        </p:txBody>
      </p:sp>
      <p:sp>
        <p:nvSpPr>
          <p:cNvPr id="24" name="Card title Display"/>
          <p:cNvSpPr txBox="1"/>
          <p:nvPr/>
        </p:nvSpPr>
        <p:spPr>
          <a:xfrm>
            <a:off x="9223781" y="2148840"/>
            <a:ext cx="2236393" cy="320040"/>
          </a:xfrm>
          <a:prstGeom prst="rect">
            <a:avLst/>
          </a:prstGeom>
          <a:noFill/>
        </p:spPr>
        <p:txBody>
          <a:bodyPr wrap="square" lIns="0" rIns="0" tIns="0" bIns="0" anchor="t">
            <a:spAutoFit/>
          </a:bodyPr>
          <a:lstStyle/>
          <a:p>
            <a:pPr algn="l"/>
            <a:r>
              <a:rPr sz="1600" b="1" i="0">
                <a:solidFill>
                  <a:schemeClr val="tx2"/>
                </a:solidFill>
              </a:rPr>
              <a:t>Display</a:t>
            </a:r>
          </a:p>
        </p:txBody>
      </p:sp>
      <p:sp>
        <p:nvSpPr>
          <p:cNvPr id="25" name="Card body Display"/>
          <p:cNvSpPr txBox="1"/>
          <p:nvPr/>
        </p:nvSpPr>
        <p:spPr>
          <a:xfrm>
            <a:off x="9223781" y="2514600"/>
            <a:ext cx="2236393" cy="800100"/>
          </a:xfrm>
          <a:prstGeom prst="rect">
            <a:avLst/>
          </a:prstGeom>
          <a:noFill/>
        </p:spPr>
        <p:txBody>
          <a:bodyPr wrap="square" lIns="0" rIns="0" tIns="0" bIns="0" anchor="t">
            <a:spAutoFit/>
          </a:bodyPr>
          <a:lstStyle/>
          <a:p>
            <a:pPr algn="l"/>
            <a:r>
              <a:rPr sz="1400" b="0" i="0">
                <a:solidFill>
                  <a:schemeClr val="tx1"/>
                </a:solidFill>
              </a:rPr>
              <a:t>$display, $strobe, $monitor, $write: the full format surface</a:t>
            </a:r>
          </a:p>
        </p:txBody>
      </p:sp>
      <p:sp>
        <p:nvSpPr>
          <p:cNvPr id="26" name="Chip E-71">
            <a:hlinkClick r:id="rId9"/>
          </p:cNvPr>
          <p:cNvSpPr/>
          <p:nvPr/>
        </p:nvSpPr>
        <p:spPr>
          <a:xfrm>
            <a:off x="9223781" y="3342132"/>
            <a:ext cx="594360" cy="237744"/>
          </a:xfrm>
          <a:prstGeom prst="roundRect">
            <a:avLst>
              <a:gd name="adj" fmla="val 50000"/>
            </a:avLst>
          </a:prstGeom>
          <a:solidFill>
            <a:schemeClr val="accent1">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1">
                    <a:lumMod val="65000"/>
                  </a:schemeClr>
                </a:solidFill>
              </a:rPr>
              <a:t>E-71</a:t>
            </a:r>
          </a:p>
        </p:txBody>
      </p:sp>
      <p:sp>
        <p:nvSpPr>
          <p:cNvPr id="27" name="Card Simulation control"/>
          <p:cNvSpPr/>
          <p:nvPr/>
        </p:nvSpPr>
        <p:spPr>
          <a:xfrm>
            <a:off x="548640" y="3954780"/>
            <a:ext cx="2602153" cy="230886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oken $fatal"/>
          <p:cNvSpPr/>
          <p:nvPr/>
        </p:nvSpPr>
        <p:spPr>
          <a:xfrm>
            <a:off x="731520" y="4137660"/>
            <a:ext cx="1874519" cy="384048"/>
          </a:xfrm>
          <a:prstGeom prst="roundRect">
            <a:avLst>
              <a:gd name="adj" fmla="val 2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300" b="1">
                <a:solidFill>
                  <a:schemeClr val="accent1">
                    <a:lumMod val="80000"/>
                    <a:lumOff val="20000"/>
                  </a:schemeClr>
                </a:solidFill>
                <a:latin typeface="Courier New"/>
              </a:rPr>
              <a:t>$fatal</a:t>
            </a:r>
          </a:p>
        </p:txBody>
      </p:sp>
      <p:sp>
        <p:nvSpPr>
          <p:cNvPr id="29" name="Card title Simulation control"/>
          <p:cNvSpPr txBox="1"/>
          <p:nvPr/>
        </p:nvSpPr>
        <p:spPr>
          <a:xfrm>
            <a:off x="731520" y="4686300"/>
            <a:ext cx="2236393" cy="320040"/>
          </a:xfrm>
          <a:prstGeom prst="rect">
            <a:avLst/>
          </a:prstGeom>
          <a:noFill/>
        </p:spPr>
        <p:txBody>
          <a:bodyPr wrap="square" lIns="0" rIns="0" tIns="0" bIns="0" anchor="t">
            <a:spAutoFit/>
          </a:bodyPr>
          <a:lstStyle/>
          <a:p>
            <a:pPr algn="l"/>
            <a:r>
              <a:rPr sz="1600" b="1" i="0">
                <a:solidFill>
                  <a:schemeClr val="tx2"/>
                </a:solidFill>
              </a:rPr>
              <a:t>Simulation control</a:t>
            </a:r>
          </a:p>
        </p:txBody>
      </p:sp>
      <p:sp>
        <p:nvSpPr>
          <p:cNvPr id="30" name="Card body Simulation control"/>
          <p:cNvSpPr txBox="1"/>
          <p:nvPr/>
        </p:nvSpPr>
        <p:spPr>
          <a:xfrm>
            <a:off x="731520" y="5052060"/>
            <a:ext cx="2236393" cy="800100"/>
          </a:xfrm>
          <a:prstGeom prst="rect">
            <a:avLst/>
          </a:prstGeom>
          <a:noFill/>
        </p:spPr>
        <p:txBody>
          <a:bodyPr wrap="square" lIns="0" rIns="0" tIns="0" bIns="0" anchor="t">
            <a:spAutoFit/>
          </a:bodyPr>
          <a:lstStyle/>
          <a:p>
            <a:pPr algn="l"/>
            <a:r>
              <a:rPr sz="1400" b="0" i="0">
                <a:solidFill>
                  <a:schemeClr val="tx1"/>
                </a:solidFill>
              </a:rPr>
              <a:t>$finish, $stop, $fatal and $error at the accepted iteration</a:t>
            </a:r>
          </a:p>
        </p:txBody>
      </p:sp>
      <p:sp>
        <p:nvSpPr>
          <p:cNvPr id="31" name="Chip E-55">
            <a:hlinkClick r:id="rId10"/>
          </p:cNvPr>
          <p:cNvSpPr/>
          <p:nvPr/>
        </p:nvSpPr>
        <p:spPr>
          <a:xfrm>
            <a:off x="731520" y="5879592"/>
            <a:ext cx="594360" cy="237744"/>
          </a:xfrm>
          <a:prstGeom prst="roundRect">
            <a:avLst>
              <a:gd name="adj" fmla="val 50000"/>
            </a:avLst>
          </a:prstGeom>
          <a:solidFill>
            <a:schemeClr val="accent1">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1">
                    <a:lumMod val="65000"/>
                  </a:schemeClr>
                </a:solidFill>
              </a:rPr>
              <a:t>E-55</a:t>
            </a:r>
          </a:p>
        </p:txBody>
      </p:sp>
      <p:sp>
        <p:nvSpPr>
          <p:cNvPr id="32" name="Chip E-378">
            <a:hlinkClick r:id="rId11"/>
          </p:cNvPr>
          <p:cNvSpPr/>
          <p:nvPr/>
        </p:nvSpPr>
        <p:spPr>
          <a:xfrm>
            <a:off x="1380744" y="5879592"/>
            <a:ext cx="662940" cy="237744"/>
          </a:xfrm>
          <a:prstGeom prst="roundRect">
            <a:avLst>
              <a:gd name="adj" fmla="val 50000"/>
            </a:avLst>
          </a:prstGeom>
          <a:solidFill>
            <a:schemeClr val="accent1">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1">
                    <a:lumMod val="65000"/>
                  </a:schemeClr>
                </a:solidFill>
              </a:rPr>
              <a:t>E-378</a:t>
            </a:r>
          </a:p>
        </p:txBody>
      </p:sp>
      <p:sp>
        <p:nvSpPr>
          <p:cNvPr id="33" name="Card Environment"/>
          <p:cNvSpPr/>
          <p:nvPr/>
        </p:nvSpPr>
        <p:spPr>
          <a:xfrm>
            <a:off x="3379393" y="3954780"/>
            <a:ext cx="2602153" cy="230886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oken $simparam"/>
          <p:cNvSpPr/>
          <p:nvPr/>
        </p:nvSpPr>
        <p:spPr>
          <a:xfrm>
            <a:off x="3562273" y="4137660"/>
            <a:ext cx="1874519" cy="384048"/>
          </a:xfrm>
          <a:prstGeom prst="roundRect">
            <a:avLst>
              <a:gd name="adj" fmla="val 2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300" b="1">
                <a:solidFill>
                  <a:schemeClr val="accent1">
                    <a:lumMod val="80000"/>
                    <a:lumOff val="20000"/>
                  </a:schemeClr>
                </a:solidFill>
                <a:latin typeface="Courier New"/>
              </a:rPr>
              <a:t>$simparam</a:t>
            </a:r>
          </a:p>
        </p:txBody>
      </p:sp>
      <p:sp>
        <p:nvSpPr>
          <p:cNvPr id="35" name="Card title Environment"/>
          <p:cNvSpPr txBox="1"/>
          <p:nvPr/>
        </p:nvSpPr>
        <p:spPr>
          <a:xfrm>
            <a:off x="3562273" y="4686300"/>
            <a:ext cx="2236393" cy="320040"/>
          </a:xfrm>
          <a:prstGeom prst="rect">
            <a:avLst/>
          </a:prstGeom>
          <a:noFill/>
        </p:spPr>
        <p:txBody>
          <a:bodyPr wrap="square" lIns="0" rIns="0" tIns="0" bIns="0" anchor="t">
            <a:spAutoFit/>
          </a:bodyPr>
          <a:lstStyle/>
          <a:p>
            <a:pPr algn="l"/>
            <a:r>
              <a:rPr sz="1600" b="1" i="0">
                <a:solidFill>
                  <a:schemeClr val="tx2"/>
                </a:solidFill>
              </a:rPr>
              <a:t>Environment</a:t>
            </a:r>
          </a:p>
        </p:txBody>
      </p:sp>
      <p:sp>
        <p:nvSpPr>
          <p:cNvPr id="36" name="Card body Environment"/>
          <p:cNvSpPr txBox="1"/>
          <p:nvPr/>
        </p:nvSpPr>
        <p:spPr>
          <a:xfrm>
            <a:off x="3562273" y="5052060"/>
            <a:ext cx="2236393" cy="800100"/>
          </a:xfrm>
          <a:prstGeom prst="rect">
            <a:avLst/>
          </a:prstGeom>
          <a:noFill/>
        </p:spPr>
        <p:txBody>
          <a:bodyPr wrap="square" lIns="0" rIns="0" tIns="0" bIns="0" anchor="t">
            <a:spAutoFit/>
          </a:bodyPr>
          <a:lstStyle/>
          <a:p>
            <a:pPr algn="l"/>
            <a:r>
              <a:rPr sz="1400" b="0" i="0">
                <a:solidFill>
                  <a:schemeClr val="tx1"/>
                </a:solidFill>
              </a:rPr>
              <a:t>$simparam, $simparam$str, analysis(), $temperature, $vt</a:t>
            </a:r>
          </a:p>
        </p:txBody>
      </p:sp>
      <p:sp>
        <p:nvSpPr>
          <p:cNvPr id="37" name="Chip E-25">
            <a:hlinkClick r:id="rId12"/>
          </p:cNvPr>
          <p:cNvSpPr/>
          <p:nvPr/>
        </p:nvSpPr>
        <p:spPr>
          <a:xfrm>
            <a:off x="3562273" y="5879592"/>
            <a:ext cx="594360" cy="237744"/>
          </a:xfrm>
          <a:prstGeom prst="roundRect">
            <a:avLst>
              <a:gd name="adj" fmla="val 50000"/>
            </a:avLst>
          </a:prstGeom>
          <a:solidFill>
            <a:schemeClr val="accent1">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1">
                    <a:lumMod val="65000"/>
                  </a:schemeClr>
                </a:solidFill>
              </a:rPr>
              <a:t>E-25</a:t>
            </a:r>
          </a:p>
        </p:txBody>
      </p:sp>
      <p:sp>
        <p:nvSpPr>
          <p:cNvPr id="38" name="Chip E-30">
            <a:hlinkClick r:id="rId13"/>
          </p:cNvPr>
          <p:cNvSpPr/>
          <p:nvPr/>
        </p:nvSpPr>
        <p:spPr>
          <a:xfrm>
            <a:off x="4211497" y="5879592"/>
            <a:ext cx="594360" cy="237744"/>
          </a:xfrm>
          <a:prstGeom prst="roundRect">
            <a:avLst>
              <a:gd name="adj" fmla="val 50000"/>
            </a:avLst>
          </a:prstGeom>
          <a:solidFill>
            <a:schemeClr val="accent1">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1">
                    <a:lumMod val="65000"/>
                  </a:schemeClr>
                </a:solidFill>
              </a:rPr>
              <a:t>E-30</a:t>
            </a:r>
          </a:p>
        </p:txBody>
      </p:sp>
      <p:sp>
        <p:nvSpPr>
          <p:cNvPr id="39" name="Card Plusargs"/>
          <p:cNvSpPr/>
          <p:nvPr/>
        </p:nvSpPr>
        <p:spPr>
          <a:xfrm>
            <a:off x="6210147" y="3954780"/>
            <a:ext cx="2602153" cy="230886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oken $test$plusargs"/>
          <p:cNvSpPr/>
          <p:nvPr/>
        </p:nvSpPr>
        <p:spPr>
          <a:xfrm>
            <a:off x="6393027" y="4137660"/>
            <a:ext cx="1874519" cy="384048"/>
          </a:xfrm>
          <a:prstGeom prst="roundRect">
            <a:avLst>
              <a:gd name="adj" fmla="val 2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300" b="1">
                <a:solidFill>
                  <a:schemeClr val="accent1">
                    <a:lumMod val="80000"/>
                    <a:lumOff val="20000"/>
                  </a:schemeClr>
                </a:solidFill>
                <a:latin typeface="Courier New"/>
              </a:rPr>
              <a:t>$test$plusargs</a:t>
            </a:r>
          </a:p>
        </p:txBody>
      </p:sp>
      <p:sp>
        <p:nvSpPr>
          <p:cNvPr id="41" name="Card title Plusargs"/>
          <p:cNvSpPr txBox="1"/>
          <p:nvPr/>
        </p:nvSpPr>
        <p:spPr>
          <a:xfrm>
            <a:off x="6393027" y="4686300"/>
            <a:ext cx="2236393" cy="320040"/>
          </a:xfrm>
          <a:prstGeom prst="rect">
            <a:avLst/>
          </a:prstGeom>
          <a:noFill/>
        </p:spPr>
        <p:txBody>
          <a:bodyPr wrap="square" lIns="0" rIns="0" tIns="0" bIns="0" anchor="t">
            <a:spAutoFit/>
          </a:bodyPr>
          <a:lstStyle/>
          <a:p>
            <a:pPr algn="l"/>
            <a:r>
              <a:rPr sz="1600" b="1" i="0">
                <a:solidFill>
                  <a:schemeClr val="tx2"/>
                </a:solidFill>
              </a:rPr>
              <a:t>Plusargs</a:t>
            </a:r>
          </a:p>
        </p:txBody>
      </p:sp>
      <p:sp>
        <p:nvSpPr>
          <p:cNvPr id="42" name="Card body Plusargs"/>
          <p:cNvSpPr txBox="1"/>
          <p:nvPr/>
        </p:nvSpPr>
        <p:spPr>
          <a:xfrm>
            <a:off x="6393027" y="5052060"/>
            <a:ext cx="2236393" cy="800100"/>
          </a:xfrm>
          <a:prstGeom prst="rect">
            <a:avLst/>
          </a:prstGeom>
          <a:noFill/>
        </p:spPr>
        <p:txBody>
          <a:bodyPr wrap="square" lIns="0" rIns="0" tIns="0" bIns="0" anchor="t">
            <a:spAutoFit/>
          </a:bodyPr>
          <a:lstStyle/>
          <a:p>
            <a:pPr algn="l"/>
            <a:r>
              <a:rPr sz="1400" b="0" i="0">
                <a:solidFill>
                  <a:schemeClr val="tx1"/>
                </a:solidFill>
              </a:rPr>
              <a:t>$test$plusargs and $value$plusargs read the simulator's arguments</a:t>
            </a:r>
          </a:p>
        </p:txBody>
      </p:sp>
      <p:sp>
        <p:nvSpPr>
          <p:cNvPr id="43" name="Chip E-215">
            <a:hlinkClick r:id="rId14"/>
          </p:cNvPr>
          <p:cNvSpPr/>
          <p:nvPr/>
        </p:nvSpPr>
        <p:spPr>
          <a:xfrm>
            <a:off x="6393027" y="5879592"/>
            <a:ext cx="662940" cy="237744"/>
          </a:xfrm>
          <a:prstGeom prst="roundRect">
            <a:avLst>
              <a:gd name="adj" fmla="val 50000"/>
            </a:avLst>
          </a:prstGeom>
          <a:solidFill>
            <a:schemeClr val="accent1">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1">
                    <a:lumMod val="65000"/>
                  </a:schemeClr>
                </a:solidFill>
              </a:rPr>
              <a:t>E-215</a:t>
            </a:r>
          </a:p>
        </p:txBody>
      </p:sp>
      <p:sp>
        <p:nvSpPr>
          <p:cNvPr id="44" name="Card Math"/>
          <p:cNvSpPr/>
          <p:nvPr/>
        </p:nvSpPr>
        <p:spPr>
          <a:xfrm>
            <a:off x="9040901" y="3954780"/>
            <a:ext cx="2602153" cy="230886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oken $clog2"/>
          <p:cNvSpPr/>
          <p:nvPr/>
        </p:nvSpPr>
        <p:spPr>
          <a:xfrm>
            <a:off x="9223781" y="4137660"/>
            <a:ext cx="1874519" cy="384048"/>
          </a:xfrm>
          <a:prstGeom prst="roundRect">
            <a:avLst>
              <a:gd name="adj" fmla="val 2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300" b="1">
                <a:solidFill>
                  <a:schemeClr val="accent1">
                    <a:lumMod val="80000"/>
                    <a:lumOff val="20000"/>
                  </a:schemeClr>
                </a:solidFill>
                <a:latin typeface="Courier New"/>
              </a:rPr>
              <a:t>$clog2</a:t>
            </a:r>
          </a:p>
        </p:txBody>
      </p:sp>
      <p:sp>
        <p:nvSpPr>
          <p:cNvPr id="46" name="Card title Math"/>
          <p:cNvSpPr txBox="1"/>
          <p:nvPr/>
        </p:nvSpPr>
        <p:spPr>
          <a:xfrm>
            <a:off x="9223781" y="4686300"/>
            <a:ext cx="2236393" cy="320040"/>
          </a:xfrm>
          <a:prstGeom prst="rect">
            <a:avLst/>
          </a:prstGeom>
          <a:noFill/>
        </p:spPr>
        <p:txBody>
          <a:bodyPr wrap="square" lIns="0" rIns="0" tIns="0" bIns="0" anchor="t">
            <a:spAutoFit/>
          </a:bodyPr>
          <a:lstStyle/>
          <a:p>
            <a:pPr algn="l"/>
            <a:r>
              <a:rPr sz="1600" b="1" i="0">
                <a:solidFill>
                  <a:schemeClr val="tx2"/>
                </a:solidFill>
              </a:rPr>
              <a:t>Math</a:t>
            </a:r>
          </a:p>
        </p:txBody>
      </p:sp>
      <p:sp>
        <p:nvSpPr>
          <p:cNvPr id="47" name="Card body Math"/>
          <p:cNvSpPr txBox="1"/>
          <p:nvPr/>
        </p:nvSpPr>
        <p:spPr>
          <a:xfrm>
            <a:off x="9223781" y="5052060"/>
            <a:ext cx="2236393" cy="800100"/>
          </a:xfrm>
          <a:prstGeom prst="rect">
            <a:avLst/>
          </a:prstGeom>
          <a:noFill/>
        </p:spPr>
        <p:txBody>
          <a:bodyPr wrap="square" lIns="0" rIns="0" tIns="0" bIns="0" anchor="t">
            <a:spAutoFit/>
          </a:bodyPr>
          <a:lstStyle/>
          <a:p>
            <a:pPr algn="l"/>
            <a:r>
              <a:rPr sz="1400" b="0" i="0">
                <a:solidFill>
                  <a:schemeClr val="tx1"/>
                </a:solidFill>
              </a:rPr>
              <a:t>$clog2, $rtoi, $itor, ln1p, expm1; hypot and atan2 derivatives fixed</a:t>
            </a:r>
          </a:p>
        </p:txBody>
      </p:sp>
      <p:sp>
        <p:nvSpPr>
          <p:cNvPr id="48" name="Chip E-101">
            <a:hlinkClick r:id="rId15"/>
          </p:cNvPr>
          <p:cNvSpPr/>
          <p:nvPr/>
        </p:nvSpPr>
        <p:spPr>
          <a:xfrm>
            <a:off x="9223781" y="5879592"/>
            <a:ext cx="662940" cy="237744"/>
          </a:xfrm>
          <a:prstGeom prst="roundRect">
            <a:avLst>
              <a:gd name="adj" fmla="val 50000"/>
            </a:avLst>
          </a:prstGeom>
          <a:solidFill>
            <a:schemeClr val="accent1">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1">
                    <a:lumMod val="65000"/>
                  </a:schemeClr>
                </a:solidFill>
              </a:rPr>
              <a:t>E-101</a:t>
            </a:r>
          </a:p>
        </p:txBody>
      </p:sp>
      <p:sp>
        <p:nvSpPr>
          <p:cNvPr id="49" name="Chip E-185">
            <a:hlinkClick r:id="rId16"/>
          </p:cNvPr>
          <p:cNvSpPr/>
          <p:nvPr/>
        </p:nvSpPr>
        <p:spPr>
          <a:xfrm>
            <a:off x="9941585" y="5879592"/>
            <a:ext cx="662940" cy="237744"/>
          </a:xfrm>
          <a:prstGeom prst="roundRect">
            <a:avLst>
              <a:gd name="adj" fmla="val 50000"/>
            </a:avLst>
          </a:prstGeom>
          <a:solidFill>
            <a:schemeClr val="accent1">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1">
                    <a:lumMod val="65000"/>
                  </a:schemeClr>
                </a:solidFill>
              </a:rPr>
              <a:t>E-185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Operators, control flow and compile time</a:t>
            </a:r>
          </a:p>
        </p:txBody>
      </p:sp>
      <p:sp>
        <p:nvSpPr>
          <p:cNvPr id="3" name="Kicker"/>
          <p:cNvSpPr txBox="1"/>
          <p:nvPr/>
        </p:nvSpPr>
        <p:spPr>
          <a:xfrm>
            <a:off x="548640" y="274320"/>
            <a:ext cx="11094415" cy="274320"/>
          </a:xfrm>
          <a:prstGeom prst="rect">
            <a:avLst/>
          </a:prstGeom>
          <a:noFill/>
        </p:spPr>
        <p:txBody>
          <a:bodyPr wrap="square" lIns="0" rIns="0" tIns="0" bIns="0" anchor="t">
            <a:spAutoFit/>
          </a:bodyPr>
          <a:lstStyle/>
          <a:p>
            <a:pPr algn="l"/>
            <a:r>
              <a:rPr sz="1100" b="1" i="0" spc="120">
                <a:solidFill>
                  <a:schemeClr val="accent1">
                    <a:lumMod val="75000"/>
                  </a:schemeClr>
                </a:solidFill>
              </a:rPr>
              <a:t>COMPILER · 16 ENHANCEMENTS</a:t>
            </a:r>
          </a:p>
        </p:txBody>
      </p:sp>
      <p:sp>
        <p:nvSpPr>
          <p:cNvPr id="4" name="Card Operators"/>
          <p:cNvSpPr/>
          <p:nvPr/>
        </p:nvSpPr>
        <p:spPr>
          <a:xfrm>
            <a:off x="548640" y="1417320"/>
            <a:ext cx="3360420" cy="1493519"/>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Card title Operators"/>
          <p:cNvSpPr txBox="1"/>
          <p:nvPr/>
        </p:nvSpPr>
        <p:spPr>
          <a:xfrm>
            <a:off x="713232" y="1536192"/>
            <a:ext cx="3031236" cy="292608"/>
          </a:xfrm>
          <a:prstGeom prst="rect">
            <a:avLst/>
          </a:prstGeom>
          <a:noFill/>
        </p:spPr>
        <p:txBody>
          <a:bodyPr wrap="square" lIns="0" rIns="0" tIns="0" bIns="0" anchor="ctr">
            <a:spAutoFit/>
          </a:bodyPr>
          <a:lstStyle/>
          <a:p>
            <a:pPr algn="l"/>
            <a:r>
              <a:rPr sz="1500" b="1" i="0">
                <a:solidFill>
                  <a:schemeClr val="tx2"/>
                </a:solidFill>
              </a:rPr>
              <a:t>Operators</a:t>
            </a:r>
          </a:p>
        </p:txBody>
      </p:sp>
      <p:sp>
        <p:nvSpPr>
          <p:cNvPr id="6" name="Card body Operators"/>
          <p:cNvSpPr txBox="1"/>
          <p:nvPr/>
        </p:nvSpPr>
        <p:spPr>
          <a:xfrm>
            <a:off x="713232" y="1874519"/>
            <a:ext cx="3031236" cy="652271"/>
          </a:xfrm>
          <a:prstGeom prst="rect">
            <a:avLst/>
          </a:prstGeom>
          <a:noFill/>
        </p:spPr>
        <p:txBody>
          <a:bodyPr wrap="square" lIns="0" rIns="0" tIns="0" bIns="0" anchor="t">
            <a:spAutoFit/>
          </a:bodyPr>
          <a:lstStyle/>
          <a:p>
            <a:pPr algn="l"/>
            <a:r>
              <a:rPr sz="1400" b="0" i="0">
                <a:solidFill>
                  <a:schemeClr val="tx1"/>
                </a:solidFill>
              </a:rPr>
              <a:t>Table 4-2 precedence; {…} concatenation, {n{…}} replication; &lt;&lt;&lt; and &gt;&gt;&gt;</a:t>
            </a:r>
          </a:p>
        </p:txBody>
      </p:sp>
      <p:sp>
        <p:nvSpPr>
          <p:cNvPr id="7" name="Chip E-37">
            <a:hlinkClick r:id="rId3"/>
          </p:cNvPr>
          <p:cNvSpPr/>
          <p:nvPr/>
        </p:nvSpPr>
        <p:spPr>
          <a:xfrm>
            <a:off x="713232" y="2581656"/>
            <a:ext cx="594360" cy="219456"/>
          </a:xfrm>
          <a:prstGeom prst="roundRect">
            <a:avLst>
              <a:gd name="adj" fmla="val 50000"/>
            </a:avLst>
          </a:prstGeom>
          <a:solidFill>
            <a:schemeClr val="accent1">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1">
                    <a:lumMod val="65000"/>
                  </a:schemeClr>
                </a:solidFill>
              </a:rPr>
              <a:t>E-37</a:t>
            </a:r>
          </a:p>
        </p:txBody>
      </p:sp>
      <p:sp>
        <p:nvSpPr>
          <p:cNvPr id="8" name="Chip E-38">
            <a:hlinkClick r:id="rId4"/>
          </p:cNvPr>
          <p:cNvSpPr/>
          <p:nvPr/>
        </p:nvSpPr>
        <p:spPr>
          <a:xfrm>
            <a:off x="1362456" y="2581656"/>
            <a:ext cx="594360" cy="219456"/>
          </a:xfrm>
          <a:prstGeom prst="roundRect">
            <a:avLst>
              <a:gd name="adj" fmla="val 50000"/>
            </a:avLst>
          </a:prstGeom>
          <a:solidFill>
            <a:schemeClr val="accent1">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1">
                    <a:lumMod val="65000"/>
                  </a:schemeClr>
                </a:solidFill>
              </a:rPr>
              <a:t>E-38</a:t>
            </a:r>
          </a:p>
        </p:txBody>
      </p:sp>
      <p:sp>
        <p:nvSpPr>
          <p:cNvPr id="9" name="Chip E-34">
            <a:hlinkClick r:id="rId5"/>
          </p:cNvPr>
          <p:cNvSpPr/>
          <p:nvPr/>
        </p:nvSpPr>
        <p:spPr>
          <a:xfrm>
            <a:off x="2011680" y="2581656"/>
            <a:ext cx="594360" cy="219456"/>
          </a:xfrm>
          <a:prstGeom prst="roundRect">
            <a:avLst>
              <a:gd name="adj" fmla="val 50000"/>
            </a:avLst>
          </a:prstGeom>
          <a:solidFill>
            <a:schemeClr val="accent1">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1">
                    <a:lumMod val="65000"/>
                  </a:schemeClr>
                </a:solidFill>
              </a:rPr>
              <a:t>E-34</a:t>
            </a:r>
          </a:p>
        </p:txBody>
      </p:sp>
      <p:sp>
        <p:nvSpPr>
          <p:cNvPr id="10" name="Card Control flow"/>
          <p:cNvSpPr/>
          <p:nvPr/>
        </p:nvSpPr>
        <p:spPr>
          <a:xfrm>
            <a:off x="4091939" y="1417320"/>
            <a:ext cx="3360420" cy="1493519"/>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Card title Control flow"/>
          <p:cNvSpPr txBox="1"/>
          <p:nvPr/>
        </p:nvSpPr>
        <p:spPr>
          <a:xfrm>
            <a:off x="4256531" y="1536192"/>
            <a:ext cx="3031236" cy="292608"/>
          </a:xfrm>
          <a:prstGeom prst="rect">
            <a:avLst/>
          </a:prstGeom>
          <a:noFill/>
        </p:spPr>
        <p:txBody>
          <a:bodyPr wrap="square" lIns="0" rIns="0" tIns="0" bIns="0" anchor="ctr">
            <a:spAutoFit/>
          </a:bodyPr>
          <a:lstStyle/>
          <a:p>
            <a:pPr algn="l"/>
            <a:r>
              <a:rPr sz="1500" b="1" i="0">
                <a:solidFill>
                  <a:schemeClr val="tx2"/>
                </a:solidFill>
              </a:rPr>
              <a:t>Control flow</a:t>
            </a:r>
          </a:p>
        </p:txBody>
      </p:sp>
      <p:sp>
        <p:nvSpPr>
          <p:cNvPr id="12" name="Card body Control flow"/>
          <p:cNvSpPr txBox="1"/>
          <p:nvPr/>
        </p:nvSpPr>
        <p:spPr>
          <a:xfrm>
            <a:off x="4256531" y="1874519"/>
            <a:ext cx="3031236" cy="652271"/>
          </a:xfrm>
          <a:prstGeom prst="rect">
            <a:avLst/>
          </a:prstGeom>
          <a:noFill/>
        </p:spPr>
        <p:txBody>
          <a:bodyPr wrap="square" lIns="0" rIns="0" tIns="0" bIns="0" anchor="t">
            <a:spAutoFit/>
          </a:bodyPr>
          <a:lstStyle/>
          <a:p>
            <a:pPr algn="l"/>
            <a:r>
              <a:rPr sz="1400" b="0" i="0">
                <a:solidFill>
                  <a:schemeClr val="tx1"/>
                </a:solidFill>
              </a:rPr>
              <a:t>do…while, repeat, disable, break, continue, return; casex and casez</a:t>
            </a:r>
          </a:p>
        </p:txBody>
      </p:sp>
      <p:sp>
        <p:nvSpPr>
          <p:cNvPr id="13" name="Chip E-19">
            <a:hlinkClick r:id="rId6"/>
          </p:cNvPr>
          <p:cNvSpPr/>
          <p:nvPr/>
        </p:nvSpPr>
        <p:spPr>
          <a:xfrm>
            <a:off x="4256531" y="2581656"/>
            <a:ext cx="594360" cy="219456"/>
          </a:xfrm>
          <a:prstGeom prst="roundRect">
            <a:avLst>
              <a:gd name="adj" fmla="val 50000"/>
            </a:avLst>
          </a:prstGeom>
          <a:solidFill>
            <a:schemeClr val="accent1">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1">
                    <a:lumMod val="65000"/>
                  </a:schemeClr>
                </a:solidFill>
              </a:rPr>
              <a:t>E-19</a:t>
            </a:r>
          </a:p>
        </p:txBody>
      </p:sp>
      <p:sp>
        <p:nvSpPr>
          <p:cNvPr id="14" name="Chip E-78">
            <a:hlinkClick r:id="rId7"/>
          </p:cNvPr>
          <p:cNvSpPr/>
          <p:nvPr/>
        </p:nvSpPr>
        <p:spPr>
          <a:xfrm>
            <a:off x="4905755" y="2581656"/>
            <a:ext cx="594360" cy="219456"/>
          </a:xfrm>
          <a:prstGeom prst="roundRect">
            <a:avLst>
              <a:gd name="adj" fmla="val 50000"/>
            </a:avLst>
          </a:prstGeom>
          <a:solidFill>
            <a:schemeClr val="accent1">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1">
                    <a:lumMod val="65000"/>
                  </a:schemeClr>
                </a:solidFill>
              </a:rPr>
              <a:t>E-78</a:t>
            </a:r>
          </a:p>
        </p:txBody>
      </p:sp>
      <p:sp>
        <p:nvSpPr>
          <p:cNvPr id="15" name="Card Literals &amp; directives"/>
          <p:cNvSpPr/>
          <p:nvPr/>
        </p:nvSpPr>
        <p:spPr>
          <a:xfrm>
            <a:off x="548640" y="3093719"/>
            <a:ext cx="3360420" cy="1493519"/>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Card title Literals &amp; directives"/>
          <p:cNvSpPr txBox="1"/>
          <p:nvPr/>
        </p:nvSpPr>
        <p:spPr>
          <a:xfrm>
            <a:off x="713232" y="3212591"/>
            <a:ext cx="3031236" cy="292608"/>
          </a:xfrm>
          <a:prstGeom prst="rect">
            <a:avLst/>
          </a:prstGeom>
          <a:noFill/>
        </p:spPr>
        <p:txBody>
          <a:bodyPr wrap="square" lIns="0" rIns="0" tIns="0" bIns="0" anchor="ctr">
            <a:spAutoFit/>
          </a:bodyPr>
          <a:lstStyle/>
          <a:p>
            <a:pPr algn="l"/>
            <a:r>
              <a:rPr sz="1500" b="1" i="0">
                <a:solidFill>
                  <a:schemeClr val="tx2"/>
                </a:solidFill>
              </a:rPr>
              <a:t>Literals &amp; directives</a:t>
            </a:r>
          </a:p>
        </p:txBody>
      </p:sp>
      <p:sp>
        <p:nvSpPr>
          <p:cNvPr id="17" name="Card body Literals &amp; directives"/>
          <p:cNvSpPr txBox="1"/>
          <p:nvPr/>
        </p:nvSpPr>
        <p:spPr>
          <a:xfrm>
            <a:off x="713232" y="3550919"/>
            <a:ext cx="3031236" cy="652271"/>
          </a:xfrm>
          <a:prstGeom prst="rect">
            <a:avLst/>
          </a:prstGeom>
          <a:noFill/>
        </p:spPr>
        <p:txBody>
          <a:bodyPr wrap="square" lIns="0" rIns="0" tIns="0" bIns="0" anchor="t">
            <a:spAutoFit/>
          </a:bodyPr>
          <a:lstStyle/>
          <a:p>
            <a:pPr algn="l"/>
            <a:r>
              <a:rPr sz="1400" b="0" i="0">
                <a:solidFill>
                  <a:schemeClr val="tx1"/>
                </a:solidFill>
              </a:rPr>
              <a:t>Escaped identifiers, based integers; `__FILE__`, `__LINE__`; recursion guard</a:t>
            </a:r>
          </a:p>
        </p:txBody>
      </p:sp>
      <p:sp>
        <p:nvSpPr>
          <p:cNvPr id="18" name="Chip E-46">
            <a:hlinkClick r:id="rId8"/>
          </p:cNvPr>
          <p:cNvSpPr/>
          <p:nvPr/>
        </p:nvSpPr>
        <p:spPr>
          <a:xfrm>
            <a:off x="713232" y="4258055"/>
            <a:ext cx="594360" cy="219456"/>
          </a:xfrm>
          <a:prstGeom prst="roundRect">
            <a:avLst>
              <a:gd name="adj" fmla="val 50000"/>
            </a:avLst>
          </a:prstGeom>
          <a:solidFill>
            <a:schemeClr val="accent1">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1">
                    <a:lumMod val="65000"/>
                  </a:schemeClr>
                </a:solidFill>
              </a:rPr>
              <a:t>E-46</a:t>
            </a:r>
          </a:p>
        </p:txBody>
      </p:sp>
      <p:sp>
        <p:nvSpPr>
          <p:cNvPr id="19" name="Chip E-85">
            <a:hlinkClick r:id="rId9"/>
          </p:cNvPr>
          <p:cNvSpPr/>
          <p:nvPr/>
        </p:nvSpPr>
        <p:spPr>
          <a:xfrm>
            <a:off x="1362456" y="4258055"/>
            <a:ext cx="594360" cy="219456"/>
          </a:xfrm>
          <a:prstGeom prst="roundRect">
            <a:avLst>
              <a:gd name="adj" fmla="val 50000"/>
            </a:avLst>
          </a:prstGeom>
          <a:solidFill>
            <a:schemeClr val="accent1">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1">
                    <a:lumMod val="65000"/>
                  </a:schemeClr>
                </a:solidFill>
              </a:rPr>
              <a:t>E-85</a:t>
            </a:r>
          </a:p>
        </p:txBody>
      </p:sp>
      <p:sp>
        <p:nvSpPr>
          <p:cNvPr id="20" name="Card Compile cost"/>
          <p:cNvSpPr/>
          <p:nvPr/>
        </p:nvSpPr>
        <p:spPr>
          <a:xfrm>
            <a:off x="4091939" y="3093719"/>
            <a:ext cx="3360420" cy="1493519"/>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Card title Compile cost"/>
          <p:cNvSpPr txBox="1"/>
          <p:nvPr/>
        </p:nvSpPr>
        <p:spPr>
          <a:xfrm>
            <a:off x="4256531" y="3212591"/>
            <a:ext cx="3031236" cy="292608"/>
          </a:xfrm>
          <a:prstGeom prst="rect">
            <a:avLst/>
          </a:prstGeom>
          <a:noFill/>
        </p:spPr>
        <p:txBody>
          <a:bodyPr wrap="square" lIns="0" rIns="0" tIns="0" bIns="0" anchor="ctr">
            <a:spAutoFit/>
          </a:bodyPr>
          <a:lstStyle/>
          <a:p>
            <a:pPr algn="l"/>
            <a:r>
              <a:rPr sz="1500" b="1" i="0">
                <a:solidFill>
                  <a:schemeClr val="tx2"/>
                </a:solidFill>
              </a:rPr>
              <a:t>Compile cost</a:t>
            </a:r>
          </a:p>
        </p:txBody>
      </p:sp>
      <p:sp>
        <p:nvSpPr>
          <p:cNvPr id="22" name="Card body Compile cost"/>
          <p:cNvSpPr txBox="1"/>
          <p:nvPr/>
        </p:nvSpPr>
        <p:spPr>
          <a:xfrm>
            <a:off x="4256531" y="3550919"/>
            <a:ext cx="3031236" cy="652271"/>
          </a:xfrm>
          <a:prstGeom prst="rect">
            <a:avLst/>
          </a:prstGeom>
          <a:noFill/>
        </p:spPr>
        <p:txBody>
          <a:bodyPr wrap="square" lIns="0" rIns="0" tIns="0" bIns="0" anchor="t">
            <a:spAutoFit/>
          </a:bodyPr>
          <a:lstStyle/>
          <a:p>
            <a:pPr algn="l"/>
            <a:r>
              <a:rPr sz="1400" b="0" i="0">
                <a:solidFill>
                  <a:schemeClr val="tx1"/>
                </a:solidFill>
              </a:rPr>
              <a:t>Nested ?: from O(2^N) to O(N); wide buses and instance arrays elaborate in linear time</a:t>
            </a:r>
          </a:p>
        </p:txBody>
      </p:sp>
      <p:sp>
        <p:nvSpPr>
          <p:cNvPr id="23" name="Chip E-147">
            <a:hlinkClick r:id="rId10"/>
          </p:cNvPr>
          <p:cNvSpPr/>
          <p:nvPr/>
        </p:nvSpPr>
        <p:spPr>
          <a:xfrm>
            <a:off x="4256531" y="4258055"/>
            <a:ext cx="662940" cy="219456"/>
          </a:xfrm>
          <a:prstGeom prst="roundRect">
            <a:avLst>
              <a:gd name="adj" fmla="val 50000"/>
            </a:avLst>
          </a:prstGeom>
          <a:solidFill>
            <a:schemeClr val="accent1">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1">
                    <a:lumMod val="65000"/>
                  </a:schemeClr>
                </a:solidFill>
              </a:rPr>
              <a:t>E-147</a:t>
            </a:r>
          </a:p>
        </p:txBody>
      </p:sp>
      <p:sp>
        <p:nvSpPr>
          <p:cNvPr id="24" name="Chip E-404">
            <a:hlinkClick r:id="rId11"/>
          </p:cNvPr>
          <p:cNvSpPr/>
          <p:nvPr/>
        </p:nvSpPr>
        <p:spPr>
          <a:xfrm>
            <a:off x="4974336" y="4258055"/>
            <a:ext cx="662940" cy="219456"/>
          </a:xfrm>
          <a:prstGeom prst="roundRect">
            <a:avLst>
              <a:gd name="adj" fmla="val 50000"/>
            </a:avLst>
          </a:prstGeom>
          <a:solidFill>
            <a:schemeClr val="accent1">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1">
                    <a:lumMod val="65000"/>
                  </a:schemeClr>
                </a:solidFill>
              </a:rPr>
              <a:t>E-404</a:t>
            </a:r>
          </a:p>
        </p:txBody>
      </p:sp>
      <p:sp>
        <p:nvSpPr>
          <p:cNvPr id="25" name="Card Strings"/>
          <p:cNvSpPr/>
          <p:nvPr/>
        </p:nvSpPr>
        <p:spPr>
          <a:xfrm>
            <a:off x="548640" y="4770119"/>
            <a:ext cx="3360420" cy="1493519"/>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Card title Strings"/>
          <p:cNvSpPr txBox="1"/>
          <p:nvPr/>
        </p:nvSpPr>
        <p:spPr>
          <a:xfrm>
            <a:off x="713232" y="4888991"/>
            <a:ext cx="3031236" cy="292608"/>
          </a:xfrm>
          <a:prstGeom prst="rect">
            <a:avLst/>
          </a:prstGeom>
          <a:noFill/>
        </p:spPr>
        <p:txBody>
          <a:bodyPr wrap="square" lIns="0" rIns="0" tIns="0" bIns="0" anchor="ctr">
            <a:spAutoFit/>
          </a:bodyPr>
          <a:lstStyle/>
          <a:p>
            <a:pPr algn="l"/>
            <a:r>
              <a:rPr sz="1500" b="1" i="0">
                <a:solidFill>
                  <a:schemeClr val="tx2"/>
                </a:solidFill>
              </a:rPr>
              <a:t>Strings</a:t>
            </a:r>
          </a:p>
        </p:txBody>
      </p:sp>
      <p:sp>
        <p:nvSpPr>
          <p:cNvPr id="27" name="Card body Strings"/>
          <p:cNvSpPr txBox="1"/>
          <p:nvPr/>
        </p:nvSpPr>
        <p:spPr>
          <a:xfrm>
            <a:off x="713232" y="5227319"/>
            <a:ext cx="3031236" cy="652271"/>
          </a:xfrm>
          <a:prstGeom prst="rect">
            <a:avLst/>
          </a:prstGeom>
          <a:noFill/>
        </p:spPr>
        <p:txBody>
          <a:bodyPr wrap="square" lIns="0" rIns="0" tIns="0" bIns="0" anchor="t">
            <a:spAutoFit/>
          </a:bodyPr>
          <a:lstStyle/>
          <a:p>
            <a:pPr algn="l"/>
            <a:r>
              <a:rPr sz="1400" b="0" i="0">
                <a:solidFill>
                  <a:schemeClr val="tx1"/>
                </a:solidFill>
              </a:rPr>
              <a:t>Escape sequences read in one pass; string relational operators and string returns</a:t>
            </a:r>
          </a:p>
        </p:txBody>
      </p:sp>
      <p:sp>
        <p:nvSpPr>
          <p:cNvPr id="28" name="Chip E-48">
            <a:hlinkClick r:id="rId12"/>
          </p:cNvPr>
          <p:cNvSpPr/>
          <p:nvPr/>
        </p:nvSpPr>
        <p:spPr>
          <a:xfrm>
            <a:off x="713232" y="5934455"/>
            <a:ext cx="594360" cy="219456"/>
          </a:xfrm>
          <a:prstGeom prst="roundRect">
            <a:avLst>
              <a:gd name="adj" fmla="val 50000"/>
            </a:avLst>
          </a:prstGeom>
          <a:solidFill>
            <a:schemeClr val="accent1">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1">
                    <a:lumMod val="65000"/>
                  </a:schemeClr>
                </a:solidFill>
              </a:rPr>
              <a:t>E-48</a:t>
            </a:r>
          </a:p>
        </p:txBody>
      </p:sp>
      <p:sp>
        <p:nvSpPr>
          <p:cNvPr id="29" name="Chip E-106">
            <a:hlinkClick r:id="rId13"/>
          </p:cNvPr>
          <p:cNvSpPr/>
          <p:nvPr/>
        </p:nvSpPr>
        <p:spPr>
          <a:xfrm>
            <a:off x="1362456" y="5934455"/>
            <a:ext cx="662940" cy="219456"/>
          </a:xfrm>
          <a:prstGeom prst="roundRect">
            <a:avLst>
              <a:gd name="adj" fmla="val 50000"/>
            </a:avLst>
          </a:prstGeom>
          <a:solidFill>
            <a:schemeClr val="accent1">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1">
                    <a:lumMod val="65000"/>
                  </a:schemeClr>
                </a:solidFill>
              </a:rPr>
              <a:t>E-106</a:t>
            </a:r>
          </a:p>
        </p:txBody>
      </p:sp>
      <p:sp>
        <p:nvSpPr>
          <p:cNvPr id="30" name="Card Domain errors"/>
          <p:cNvSpPr/>
          <p:nvPr/>
        </p:nvSpPr>
        <p:spPr>
          <a:xfrm>
            <a:off x="4091939" y="4770119"/>
            <a:ext cx="3360420" cy="1493519"/>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Card title Domain errors"/>
          <p:cNvSpPr txBox="1"/>
          <p:nvPr/>
        </p:nvSpPr>
        <p:spPr>
          <a:xfrm>
            <a:off x="4256531" y="4888991"/>
            <a:ext cx="3031236" cy="292608"/>
          </a:xfrm>
          <a:prstGeom prst="rect">
            <a:avLst/>
          </a:prstGeom>
          <a:noFill/>
        </p:spPr>
        <p:txBody>
          <a:bodyPr wrap="square" lIns="0" rIns="0" tIns="0" bIns="0" anchor="ctr">
            <a:spAutoFit/>
          </a:bodyPr>
          <a:lstStyle/>
          <a:p>
            <a:pPr algn="l"/>
            <a:r>
              <a:rPr sz="1500" b="1" i="0">
                <a:solidFill>
                  <a:schemeClr val="tx2"/>
                </a:solidFill>
              </a:rPr>
              <a:t>Domain errors</a:t>
            </a:r>
          </a:p>
        </p:txBody>
      </p:sp>
      <p:sp>
        <p:nvSpPr>
          <p:cNvPr id="32" name="Card body Domain errors"/>
          <p:cNvSpPr txBox="1"/>
          <p:nvPr/>
        </p:nvSpPr>
        <p:spPr>
          <a:xfrm>
            <a:off x="4256531" y="5227319"/>
            <a:ext cx="3031236" cy="652271"/>
          </a:xfrm>
          <a:prstGeom prst="rect">
            <a:avLst/>
          </a:prstGeom>
          <a:noFill/>
        </p:spPr>
        <p:txBody>
          <a:bodyPr wrap="square" lIns="0" rIns="0" tIns="0" bIns="0" anchor="t">
            <a:spAutoFit/>
          </a:bodyPr>
          <a:lstStyle/>
          <a:p>
            <a:pPr algn="l"/>
            <a:r>
              <a:rPr sz="1400" b="0" i="0">
                <a:solidFill>
                  <a:schemeClr val="tx1"/>
                </a:solidFill>
              </a:rPr>
              <a:t>A constant outside a builtin's domain is a compile error naming the value</a:t>
            </a:r>
          </a:p>
        </p:txBody>
      </p:sp>
      <p:sp>
        <p:nvSpPr>
          <p:cNvPr id="33" name="Chip E-396">
            <a:hlinkClick r:id="rId14"/>
          </p:cNvPr>
          <p:cNvSpPr/>
          <p:nvPr/>
        </p:nvSpPr>
        <p:spPr>
          <a:xfrm>
            <a:off x="4256531" y="5934455"/>
            <a:ext cx="662940" cy="219456"/>
          </a:xfrm>
          <a:prstGeom prst="roundRect">
            <a:avLst>
              <a:gd name="adj" fmla="val 50000"/>
            </a:avLst>
          </a:prstGeom>
          <a:solidFill>
            <a:schemeClr val="accent1">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1">
                    <a:lumMod val="65000"/>
                  </a:schemeClr>
                </a:solidFill>
              </a:rPr>
              <a:t>E-396</a:t>
            </a:r>
          </a:p>
        </p:txBody>
      </p:sp>
      <p:sp>
        <p:nvSpPr>
          <p:cNvPr id="34" name="Chip E-509">
            <a:hlinkClick r:id="rId15"/>
          </p:cNvPr>
          <p:cNvSpPr/>
          <p:nvPr/>
        </p:nvSpPr>
        <p:spPr>
          <a:xfrm>
            <a:off x="4974336" y="5934455"/>
            <a:ext cx="662940" cy="219456"/>
          </a:xfrm>
          <a:prstGeom prst="roundRect">
            <a:avLst>
              <a:gd name="adj" fmla="val 50000"/>
            </a:avLst>
          </a:prstGeom>
          <a:solidFill>
            <a:schemeClr val="accent1">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1">
                    <a:lumMod val="65000"/>
                  </a:schemeClr>
                </a:solidFill>
              </a:rPr>
              <a:t>E-509</a:t>
            </a:r>
          </a:p>
        </p:txBody>
      </p:sp>
      <p:pic>
        <p:nvPicPr>
          <p:cNvPr id="35" name="Plot compile_times.png" descr="compile_times.png"/>
          <p:cNvPicPr>
            <a:picLocks noChangeAspect="1"/>
          </p:cNvPicPr>
          <p:nvPr/>
        </p:nvPicPr>
        <p:blipFill>
          <a:blip r:embed="rId16"/>
          <a:stretch>
            <a:fillRect/>
          </a:stretch>
        </p:blipFill>
        <p:spPr>
          <a:xfrm>
            <a:off x="7726679" y="1417320"/>
            <a:ext cx="3913632" cy="2795451"/>
          </a:xfrm>
          <a:prstGeom prst="rect">
            <a:avLst/>
          </a:prstGeom>
          <a:ln w="9525">
            <a:solidFill>
              <a:schemeClr val="bg2">
                <a:lumMod val="90000"/>
              </a:schemeClr>
            </a:solidFill>
          </a:ln>
        </p:spPr>
      </p:pic>
      <p:sp>
        <p:nvSpPr>
          <p:cNvPr id="36" name="Caption compile_times.png"/>
          <p:cNvSpPr txBox="1"/>
          <p:nvPr/>
        </p:nvSpPr>
        <p:spPr>
          <a:xfrm>
            <a:off x="7726679" y="4304211"/>
            <a:ext cx="3913632" cy="822960"/>
          </a:xfrm>
          <a:prstGeom prst="rect">
            <a:avLst/>
          </a:prstGeom>
          <a:noFill/>
        </p:spPr>
        <p:txBody>
          <a:bodyPr wrap="square" lIns="0" rIns="0" tIns="0" bIns="0" anchor="t">
            <a:spAutoFit/>
          </a:bodyPr>
          <a:lstStyle/>
          <a:p>
            <a:pPr algn="l"/>
            <a:r>
              <a:rPr sz="1100" b="0" i="1">
                <a:solidFill>
                  <a:schemeClr val="accent3"/>
                </a:solidFill>
              </a:rPr>
              <a:t>Flagship compile times, median of 3: BSIM-CMG 3.9 s, MEXTRAM 505 0.37 s. About 70 % of the time is LLVM optimizing one eval function.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Correctness and robustness</a:t>
            </a:r>
          </a:p>
        </p:txBody>
      </p:sp>
      <p:sp>
        <p:nvSpPr>
          <p:cNvPr id="3" name="Kicker"/>
          <p:cNvSpPr txBox="1"/>
          <p:nvPr/>
        </p:nvSpPr>
        <p:spPr>
          <a:xfrm>
            <a:off x="548640" y="274320"/>
            <a:ext cx="11094415" cy="274320"/>
          </a:xfrm>
          <a:prstGeom prst="rect">
            <a:avLst/>
          </a:prstGeom>
          <a:noFill/>
        </p:spPr>
        <p:txBody>
          <a:bodyPr wrap="square" lIns="0" rIns="0" tIns="0" bIns="0" anchor="t">
            <a:spAutoFit/>
          </a:bodyPr>
          <a:lstStyle/>
          <a:p>
            <a:pPr algn="l"/>
            <a:r>
              <a:rPr sz="1100" b="1" i="0" spc="120">
                <a:solidFill>
                  <a:schemeClr val="accent1">
                    <a:lumMod val="75000"/>
                  </a:schemeClr>
                </a:solidFill>
              </a:rPr>
              <a:t>COMPILER · 310 ENHANCEMENTS</a:t>
            </a:r>
          </a:p>
        </p:txBody>
      </p:sp>
      <p:sp>
        <p:nvSpPr>
          <p:cNvPr id="4" name="Big stat panel"/>
          <p:cNvSpPr/>
          <p:nvPr/>
        </p:nvSpPr>
        <p:spPr>
          <a:xfrm>
            <a:off x="548640" y="1417320"/>
            <a:ext cx="3200400" cy="4846320"/>
          </a:xfrm>
          <a:prstGeom prst="roundRect">
            <a:avLst>
              <a:gd name="adj" fmla="val 6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ig stat"/>
          <p:cNvSpPr txBox="1"/>
          <p:nvPr/>
        </p:nvSpPr>
        <p:spPr>
          <a:xfrm>
            <a:off x="822959" y="1737360"/>
            <a:ext cx="2651760" cy="1097280"/>
          </a:xfrm>
          <a:prstGeom prst="rect">
            <a:avLst/>
          </a:prstGeom>
          <a:noFill/>
        </p:spPr>
        <p:txBody>
          <a:bodyPr wrap="square" lIns="0" rIns="0" tIns="0" bIns="0" anchor="t">
            <a:spAutoFit/>
          </a:bodyPr>
          <a:lstStyle/>
          <a:p>
            <a:pPr algn="l"/>
            <a:r>
              <a:rPr sz="7200" b="1" i="0">
                <a:solidFill>
                  <a:schemeClr val="accent1"/>
                </a:solidFill>
                <a:latin typeface="+mj-lt"/>
              </a:rPr>
              <a:t>310</a:t>
            </a:r>
          </a:p>
        </p:txBody>
      </p:sp>
      <p:sp>
        <p:nvSpPr>
          <p:cNvPr id="6" name="Big stat label"/>
          <p:cNvSpPr txBox="1"/>
          <p:nvPr/>
        </p:nvSpPr>
        <p:spPr>
          <a:xfrm>
            <a:off x="822959" y="2926080"/>
            <a:ext cx="2651760" cy="3108960"/>
          </a:xfrm>
          <a:prstGeom prst="rect">
            <a:avLst/>
          </a:prstGeom>
          <a:noFill/>
        </p:spPr>
        <p:txBody>
          <a:bodyPr wrap="square" lIns="0" rIns="0" tIns="0" bIns="0" anchor="t">
            <a:spAutoFit/>
          </a:bodyPr>
          <a:lstStyle/>
          <a:p>
            <a:pPr algn="l"/>
            <a:r>
              <a:rPr sz="1600" b="0" i="0">
                <a:solidFill>
                  <a:schemeClr val="bg1"/>
                </a:solidFill>
              </a:rPr>
              <a:t>enhancements in the largest area: crash and hang fixes, wrong-answer fixes, corpus and LRM sweeps, physics checks, lints that name silent mistakes</a:t>
            </a:r>
          </a:p>
        </p:txBody>
      </p:sp>
      <p:sp>
        <p:nvSpPr>
          <p:cNvPr id="7" name="Evidence 92 / 92"/>
          <p:cNvSpPr/>
          <p:nvPr/>
        </p:nvSpPr>
        <p:spPr>
          <a:xfrm>
            <a:off x="4023359" y="1417320"/>
            <a:ext cx="2387498" cy="230886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Evidence number 92 / 92"/>
          <p:cNvSpPr txBox="1"/>
          <p:nvPr/>
        </p:nvSpPr>
        <p:spPr>
          <a:xfrm>
            <a:off x="4224527" y="1600200"/>
            <a:ext cx="1985162" cy="594360"/>
          </a:xfrm>
          <a:prstGeom prst="rect">
            <a:avLst/>
          </a:prstGeom>
          <a:noFill/>
        </p:spPr>
        <p:txBody>
          <a:bodyPr wrap="square" lIns="0" rIns="0" tIns="0" bIns="0" anchor="t">
            <a:spAutoFit/>
          </a:bodyPr>
          <a:lstStyle/>
          <a:p>
            <a:pPr algn="l"/>
            <a:r>
              <a:rPr sz="3000" b="1" i="0">
                <a:solidFill>
                  <a:schemeClr val="accent1">
                    <a:lumMod val="85000"/>
                  </a:schemeClr>
                </a:solidFill>
                <a:latin typeface="+mj-lt"/>
              </a:rPr>
              <a:t>92 / 92</a:t>
            </a:r>
          </a:p>
        </p:txBody>
      </p:sp>
      <p:sp>
        <p:nvSpPr>
          <p:cNvPr id="9" name="Evidence text 92 / 92"/>
          <p:cNvSpPr txBox="1"/>
          <p:nvPr/>
        </p:nvSpPr>
        <p:spPr>
          <a:xfrm>
            <a:off x="4224527" y="2258568"/>
            <a:ext cx="1985162" cy="1028700"/>
          </a:xfrm>
          <a:prstGeom prst="rect">
            <a:avLst/>
          </a:prstGeom>
          <a:noFill/>
        </p:spPr>
        <p:txBody>
          <a:bodyPr wrap="square" lIns="0" rIns="0" tIns="0" bIns="0" anchor="t">
            <a:spAutoFit/>
          </a:bodyPr>
          <a:lstStyle/>
          <a:p>
            <a:pPr algn="l"/>
            <a:r>
              <a:rPr sz="1400" b="0" i="0">
                <a:solidFill>
                  <a:schemeClr val="tx1"/>
                </a:solidFill>
              </a:rPr>
              <a:t>standalone VA-Models compile: BSIM4/6/CMG/SOI, PSP, HiCUM, MEXTRAM, EKV</a:t>
            </a:r>
          </a:p>
        </p:txBody>
      </p:sp>
      <p:sp>
        <p:nvSpPr>
          <p:cNvPr id="10" name="Chip E-56">
            <a:hlinkClick r:id="rId3"/>
          </p:cNvPr>
          <p:cNvSpPr/>
          <p:nvPr/>
        </p:nvSpPr>
        <p:spPr>
          <a:xfrm>
            <a:off x="4224527" y="3342132"/>
            <a:ext cx="594360" cy="237744"/>
          </a:xfrm>
          <a:prstGeom prst="roundRect">
            <a:avLst>
              <a:gd name="adj" fmla="val 50000"/>
            </a:avLst>
          </a:prstGeom>
          <a:solidFill>
            <a:schemeClr val="accent1">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1">
                    <a:lumMod val="65000"/>
                  </a:schemeClr>
                </a:solidFill>
              </a:rPr>
              <a:t>E-56</a:t>
            </a:r>
          </a:p>
        </p:txBody>
      </p:sp>
      <p:sp>
        <p:nvSpPr>
          <p:cNvPr id="11" name="Chip E-159">
            <a:hlinkClick r:id="rId4"/>
          </p:cNvPr>
          <p:cNvSpPr/>
          <p:nvPr/>
        </p:nvSpPr>
        <p:spPr>
          <a:xfrm>
            <a:off x="4873751" y="3342132"/>
            <a:ext cx="662940" cy="237744"/>
          </a:xfrm>
          <a:prstGeom prst="roundRect">
            <a:avLst>
              <a:gd name="adj" fmla="val 50000"/>
            </a:avLst>
          </a:prstGeom>
          <a:solidFill>
            <a:schemeClr val="accent1">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1">
                    <a:lumMod val="65000"/>
                  </a:schemeClr>
                </a:solidFill>
              </a:rPr>
              <a:t>E-159</a:t>
            </a:r>
          </a:p>
        </p:txBody>
      </p:sp>
      <p:sp>
        <p:nvSpPr>
          <p:cNvPr id="12" name="Evidence 496"/>
          <p:cNvSpPr/>
          <p:nvPr/>
        </p:nvSpPr>
        <p:spPr>
          <a:xfrm>
            <a:off x="6639458" y="1417320"/>
            <a:ext cx="2387498" cy="230886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Evidence number 496"/>
          <p:cNvSpPr txBox="1"/>
          <p:nvPr/>
        </p:nvSpPr>
        <p:spPr>
          <a:xfrm>
            <a:off x="6840626" y="1600200"/>
            <a:ext cx="1985162" cy="594360"/>
          </a:xfrm>
          <a:prstGeom prst="rect">
            <a:avLst/>
          </a:prstGeom>
          <a:noFill/>
        </p:spPr>
        <p:txBody>
          <a:bodyPr wrap="square" lIns="0" rIns="0" tIns="0" bIns="0" anchor="t">
            <a:spAutoFit/>
          </a:bodyPr>
          <a:lstStyle/>
          <a:p>
            <a:pPr algn="l"/>
            <a:r>
              <a:rPr sz="3000" b="1" i="0">
                <a:solidFill>
                  <a:schemeClr val="accent1">
                    <a:lumMod val="85000"/>
                  </a:schemeClr>
                </a:solidFill>
                <a:latin typeface="+mj-lt"/>
              </a:rPr>
              <a:t>496</a:t>
            </a:r>
          </a:p>
        </p:txBody>
      </p:sp>
      <p:sp>
        <p:nvSpPr>
          <p:cNvPr id="14" name="Evidence text 496"/>
          <p:cNvSpPr txBox="1"/>
          <p:nvPr/>
        </p:nvSpPr>
        <p:spPr>
          <a:xfrm>
            <a:off x="6840626" y="2258568"/>
            <a:ext cx="1985162" cy="1028700"/>
          </a:xfrm>
          <a:prstGeom prst="rect">
            <a:avLst/>
          </a:prstGeom>
          <a:noFill/>
        </p:spPr>
        <p:txBody>
          <a:bodyPr wrap="square" lIns="0" rIns="0" tIns="0" bIns="0" anchor="t">
            <a:spAutoFit/>
          </a:bodyPr>
          <a:lstStyle/>
          <a:p>
            <a:pPr algn="l"/>
            <a:r>
              <a:rPr sz="1400" b="0" i="0">
                <a:solidFill>
                  <a:schemeClr val="tx1"/>
                </a:solidFill>
              </a:rPr>
              <a:t>corpus files compile with no assertion failure in an assertions build</a:t>
            </a:r>
          </a:p>
        </p:txBody>
      </p:sp>
      <p:sp>
        <p:nvSpPr>
          <p:cNvPr id="15" name="Chip E-347">
            <a:hlinkClick r:id="rId5"/>
          </p:cNvPr>
          <p:cNvSpPr/>
          <p:nvPr/>
        </p:nvSpPr>
        <p:spPr>
          <a:xfrm>
            <a:off x="6840626" y="3342132"/>
            <a:ext cx="662940" cy="237744"/>
          </a:xfrm>
          <a:prstGeom prst="roundRect">
            <a:avLst>
              <a:gd name="adj" fmla="val 50000"/>
            </a:avLst>
          </a:prstGeom>
          <a:solidFill>
            <a:schemeClr val="accent1">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1">
                    <a:lumMod val="65000"/>
                  </a:schemeClr>
                </a:solidFill>
              </a:rPr>
              <a:t>E-347</a:t>
            </a:r>
          </a:p>
        </p:txBody>
      </p:sp>
      <p:sp>
        <p:nvSpPr>
          <p:cNvPr id="16" name="Evidence 4,000"/>
          <p:cNvSpPr/>
          <p:nvPr/>
        </p:nvSpPr>
        <p:spPr>
          <a:xfrm>
            <a:off x="9255556" y="1417320"/>
            <a:ext cx="2387498" cy="230886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Evidence number 4,000"/>
          <p:cNvSpPr txBox="1"/>
          <p:nvPr/>
        </p:nvSpPr>
        <p:spPr>
          <a:xfrm>
            <a:off x="9456724" y="1600200"/>
            <a:ext cx="1985162" cy="594360"/>
          </a:xfrm>
          <a:prstGeom prst="rect">
            <a:avLst/>
          </a:prstGeom>
          <a:noFill/>
        </p:spPr>
        <p:txBody>
          <a:bodyPr wrap="square" lIns="0" rIns="0" tIns="0" bIns="0" anchor="t">
            <a:spAutoFit/>
          </a:bodyPr>
          <a:lstStyle/>
          <a:p>
            <a:pPr algn="l"/>
            <a:r>
              <a:rPr sz="3000" b="1" i="0">
                <a:solidFill>
                  <a:schemeClr val="accent1">
                    <a:lumMod val="85000"/>
                  </a:schemeClr>
                </a:solidFill>
                <a:latin typeface="+mj-lt"/>
              </a:rPr>
              <a:t>4,000</a:t>
            </a:r>
          </a:p>
        </p:txBody>
      </p:sp>
      <p:sp>
        <p:nvSpPr>
          <p:cNvPr id="18" name="Evidence text 4,000"/>
          <p:cNvSpPr txBox="1"/>
          <p:nvPr/>
        </p:nvSpPr>
        <p:spPr>
          <a:xfrm>
            <a:off x="9456724" y="2258568"/>
            <a:ext cx="1985162" cy="1028700"/>
          </a:xfrm>
          <a:prstGeom prst="rect">
            <a:avLst/>
          </a:prstGeom>
          <a:noFill/>
        </p:spPr>
        <p:txBody>
          <a:bodyPr wrap="square" lIns="0" rIns="0" tIns="0" bIns="0" anchor="t">
            <a:spAutoFit/>
          </a:bodyPr>
          <a:lstStyle/>
          <a:p>
            <a:pPr algn="l"/>
            <a:r>
              <a:rPr sz="1400" b="0" i="0">
                <a:solidFill>
                  <a:schemeClr val="tx1"/>
                </a:solidFill>
              </a:rPr>
              <a:t>mutation-fuzz iterations and ~50 adversarial inputs; crash paths fixed</a:t>
            </a:r>
          </a:p>
        </p:txBody>
      </p:sp>
      <p:sp>
        <p:nvSpPr>
          <p:cNvPr id="19" name="Chip E-147">
            <a:hlinkClick r:id="rId6"/>
          </p:cNvPr>
          <p:cNvSpPr/>
          <p:nvPr/>
        </p:nvSpPr>
        <p:spPr>
          <a:xfrm>
            <a:off x="9456724" y="3342132"/>
            <a:ext cx="662940" cy="237744"/>
          </a:xfrm>
          <a:prstGeom prst="roundRect">
            <a:avLst>
              <a:gd name="adj" fmla="val 50000"/>
            </a:avLst>
          </a:prstGeom>
          <a:solidFill>
            <a:schemeClr val="accent1">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1">
                    <a:lumMod val="65000"/>
                  </a:schemeClr>
                </a:solidFill>
              </a:rPr>
              <a:t>E-147</a:t>
            </a:r>
          </a:p>
        </p:txBody>
      </p:sp>
      <p:sp>
        <p:nvSpPr>
          <p:cNvPr id="20" name="Chip E-148">
            <a:hlinkClick r:id="rId7"/>
          </p:cNvPr>
          <p:cNvSpPr/>
          <p:nvPr/>
        </p:nvSpPr>
        <p:spPr>
          <a:xfrm>
            <a:off x="10174528" y="3342132"/>
            <a:ext cx="662940" cy="237744"/>
          </a:xfrm>
          <a:prstGeom prst="roundRect">
            <a:avLst>
              <a:gd name="adj" fmla="val 50000"/>
            </a:avLst>
          </a:prstGeom>
          <a:solidFill>
            <a:schemeClr val="accent1">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1">
                    <a:lumMod val="65000"/>
                  </a:schemeClr>
                </a:solidFill>
              </a:rPr>
              <a:t>E-148</a:t>
            </a:r>
          </a:p>
        </p:txBody>
      </p:sp>
      <p:sp>
        <p:nvSpPr>
          <p:cNvPr id="21" name="Evidence 2,089"/>
          <p:cNvSpPr/>
          <p:nvPr/>
        </p:nvSpPr>
        <p:spPr>
          <a:xfrm>
            <a:off x="4023359" y="3954780"/>
            <a:ext cx="2387498" cy="230886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Evidence number 2,089"/>
          <p:cNvSpPr txBox="1"/>
          <p:nvPr/>
        </p:nvSpPr>
        <p:spPr>
          <a:xfrm>
            <a:off x="4224527" y="4137660"/>
            <a:ext cx="1985162" cy="594360"/>
          </a:xfrm>
          <a:prstGeom prst="rect">
            <a:avLst/>
          </a:prstGeom>
          <a:noFill/>
        </p:spPr>
        <p:txBody>
          <a:bodyPr wrap="square" lIns="0" rIns="0" tIns="0" bIns="0" anchor="t">
            <a:spAutoFit/>
          </a:bodyPr>
          <a:lstStyle/>
          <a:p>
            <a:pPr algn="l"/>
            <a:r>
              <a:rPr sz="3000" b="1" i="0">
                <a:solidFill>
                  <a:schemeClr val="accent1">
                    <a:lumMod val="85000"/>
                  </a:schemeClr>
                </a:solidFill>
                <a:latin typeface="+mj-lt"/>
              </a:rPr>
              <a:t>2,089</a:t>
            </a:r>
          </a:p>
        </p:txBody>
      </p:sp>
      <p:sp>
        <p:nvSpPr>
          <p:cNvPr id="23" name="Evidence text 2,089"/>
          <p:cNvSpPr txBox="1"/>
          <p:nvPr/>
        </p:nvSpPr>
        <p:spPr>
          <a:xfrm>
            <a:off x="4224527" y="4796028"/>
            <a:ext cx="1985162" cy="1028700"/>
          </a:xfrm>
          <a:prstGeom prst="rect">
            <a:avLst/>
          </a:prstGeom>
          <a:noFill/>
        </p:spPr>
        <p:txBody>
          <a:bodyPr wrap="square" lIns="0" rIns="0" tIns="0" bIns="0" anchor="t">
            <a:spAutoFit/>
          </a:bodyPr>
          <a:lstStyle/>
          <a:p>
            <a:pPr algn="l"/>
            <a:r>
              <a:rPr sz="1400" b="0" i="0">
                <a:solidFill>
                  <a:schemeClr val="tx1"/>
                </a:solidFill>
              </a:rPr>
              <a:t>constant-folded expressions fuzzed; two library calls fixed</a:t>
            </a:r>
          </a:p>
        </p:txBody>
      </p:sp>
      <p:sp>
        <p:nvSpPr>
          <p:cNvPr id="24" name="Chip E-510">
            <a:hlinkClick r:id="rId8"/>
          </p:cNvPr>
          <p:cNvSpPr/>
          <p:nvPr/>
        </p:nvSpPr>
        <p:spPr>
          <a:xfrm>
            <a:off x="4224527" y="5879592"/>
            <a:ext cx="662940" cy="237744"/>
          </a:xfrm>
          <a:prstGeom prst="roundRect">
            <a:avLst>
              <a:gd name="adj" fmla="val 50000"/>
            </a:avLst>
          </a:prstGeom>
          <a:solidFill>
            <a:schemeClr val="accent1">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1">
                    <a:lumMod val="65000"/>
                  </a:schemeClr>
                </a:solidFill>
              </a:rPr>
              <a:t>E-510</a:t>
            </a:r>
          </a:p>
        </p:txBody>
      </p:sp>
      <p:sp>
        <p:nvSpPr>
          <p:cNvPr id="25" name="Evidence LRM 2023"/>
          <p:cNvSpPr/>
          <p:nvPr/>
        </p:nvSpPr>
        <p:spPr>
          <a:xfrm>
            <a:off x="6639458" y="3954780"/>
            <a:ext cx="2387498" cy="230886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Evidence number LRM 2023"/>
          <p:cNvSpPr txBox="1"/>
          <p:nvPr/>
        </p:nvSpPr>
        <p:spPr>
          <a:xfrm>
            <a:off x="6840626" y="4137660"/>
            <a:ext cx="1985162" cy="594360"/>
          </a:xfrm>
          <a:prstGeom prst="rect">
            <a:avLst/>
          </a:prstGeom>
          <a:noFill/>
        </p:spPr>
        <p:txBody>
          <a:bodyPr wrap="square" lIns="0" rIns="0" tIns="0" bIns="0" anchor="t">
            <a:spAutoFit/>
          </a:bodyPr>
          <a:lstStyle/>
          <a:p>
            <a:pPr algn="l"/>
            <a:r>
              <a:rPr sz="3000" b="1" i="0">
                <a:solidFill>
                  <a:schemeClr val="accent1">
                    <a:lumMod val="85000"/>
                  </a:schemeClr>
                </a:solidFill>
                <a:latin typeface="+mj-lt"/>
              </a:rPr>
              <a:t>LRM 2023</a:t>
            </a:r>
          </a:p>
        </p:txBody>
      </p:sp>
      <p:sp>
        <p:nvSpPr>
          <p:cNvPr id="27" name="Evidence text LRM 2023"/>
          <p:cNvSpPr txBox="1"/>
          <p:nvPr/>
        </p:nvSpPr>
        <p:spPr>
          <a:xfrm>
            <a:off x="6840626" y="4796028"/>
            <a:ext cx="1985162" cy="1028700"/>
          </a:xfrm>
          <a:prstGeom prst="rect">
            <a:avLst/>
          </a:prstGeom>
          <a:noFill/>
        </p:spPr>
        <p:txBody>
          <a:bodyPr wrap="square" lIns="0" rIns="0" tIns="0" bIns="0" anchor="t">
            <a:spAutoFit/>
          </a:bodyPr>
          <a:lstStyle/>
          <a:p>
            <a:pPr algn="l"/>
            <a:r>
              <a:rPr sz="1400" b="0" i="0">
                <a:solidFill>
                  <a:schemeClr val="tx1"/>
                </a:solidFill>
              </a:rPr>
              <a:t>every code example in the standard extracted and compiled</a:t>
            </a:r>
          </a:p>
        </p:txBody>
      </p:sp>
      <p:sp>
        <p:nvSpPr>
          <p:cNvPr id="28" name="Chip E-84">
            <a:hlinkClick r:id="rId9"/>
          </p:cNvPr>
          <p:cNvSpPr/>
          <p:nvPr/>
        </p:nvSpPr>
        <p:spPr>
          <a:xfrm>
            <a:off x="6840626" y="5879592"/>
            <a:ext cx="594360" cy="237744"/>
          </a:xfrm>
          <a:prstGeom prst="roundRect">
            <a:avLst>
              <a:gd name="adj" fmla="val 50000"/>
            </a:avLst>
          </a:prstGeom>
          <a:solidFill>
            <a:schemeClr val="accent1">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1">
                    <a:lumMod val="65000"/>
                  </a:schemeClr>
                </a:solidFill>
              </a:rPr>
              <a:t>E-84</a:t>
            </a:r>
          </a:p>
        </p:txBody>
      </p:sp>
      <p:sp>
        <p:nvSpPr>
          <p:cNvPr id="29" name="Evidence Lints"/>
          <p:cNvSpPr/>
          <p:nvPr/>
        </p:nvSpPr>
        <p:spPr>
          <a:xfrm>
            <a:off x="9255556" y="3954780"/>
            <a:ext cx="2387498" cy="230886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Evidence number Lints"/>
          <p:cNvSpPr txBox="1"/>
          <p:nvPr/>
        </p:nvSpPr>
        <p:spPr>
          <a:xfrm>
            <a:off x="9456724" y="4137660"/>
            <a:ext cx="1985162" cy="594360"/>
          </a:xfrm>
          <a:prstGeom prst="rect">
            <a:avLst/>
          </a:prstGeom>
          <a:noFill/>
        </p:spPr>
        <p:txBody>
          <a:bodyPr wrap="square" lIns="0" rIns="0" tIns="0" bIns="0" anchor="t">
            <a:spAutoFit/>
          </a:bodyPr>
          <a:lstStyle/>
          <a:p>
            <a:pPr algn="l"/>
            <a:r>
              <a:rPr sz="3000" b="1" i="0">
                <a:solidFill>
                  <a:schemeClr val="accent1">
                    <a:lumMod val="85000"/>
                  </a:schemeClr>
                </a:solidFill>
                <a:latin typeface="+mj-lt"/>
              </a:rPr>
              <a:t>Lints</a:t>
            </a:r>
          </a:p>
        </p:txBody>
      </p:sp>
      <p:sp>
        <p:nvSpPr>
          <p:cNvPr id="31" name="Evidence text Lints"/>
          <p:cNvSpPr txBox="1"/>
          <p:nvPr/>
        </p:nvSpPr>
        <p:spPr>
          <a:xfrm>
            <a:off x="9456724" y="4796028"/>
            <a:ext cx="1985162" cy="1028700"/>
          </a:xfrm>
          <a:prstGeom prst="rect">
            <a:avLst/>
          </a:prstGeom>
          <a:noFill/>
        </p:spPr>
        <p:txBody>
          <a:bodyPr wrap="square" lIns="0" rIns="0" tIns="0" bIns="0" anchor="t">
            <a:spAutoFit/>
          </a:bodyPr>
          <a:lstStyle/>
          <a:p>
            <a:pPr algn="l"/>
            <a:r>
              <a:rPr sz="1400" b="0" i="0">
                <a:solidFill>
                  <a:schemeClr val="tx1"/>
                </a:solidFill>
              </a:rPr>
              <a:t>silent mistakes named: L022 discarded contribution, L031 input-port write</a:t>
            </a:r>
          </a:p>
        </p:txBody>
      </p:sp>
      <p:sp>
        <p:nvSpPr>
          <p:cNvPr id="32" name="Chip E-400">
            <a:hlinkClick r:id="rId10"/>
          </p:cNvPr>
          <p:cNvSpPr/>
          <p:nvPr/>
        </p:nvSpPr>
        <p:spPr>
          <a:xfrm>
            <a:off x="9456724" y="5879592"/>
            <a:ext cx="662940" cy="237744"/>
          </a:xfrm>
          <a:prstGeom prst="roundRect">
            <a:avLst>
              <a:gd name="adj" fmla="val 50000"/>
            </a:avLst>
          </a:prstGeom>
          <a:solidFill>
            <a:schemeClr val="accent1">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1">
                    <a:lumMod val="65000"/>
                  </a:schemeClr>
                </a:solidFill>
              </a:rPr>
              <a:t>E-400</a:t>
            </a:r>
          </a:p>
        </p:txBody>
      </p:sp>
      <p:sp>
        <p:nvSpPr>
          <p:cNvPr id="33" name="Chip E-639">
            <a:hlinkClick r:id="rId11"/>
          </p:cNvPr>
          <p:cNvSpPr/>
          <p:nvPr/>
        </p:nvSpPr>
        <p:spPr>
          <a:xfrm>
            <a:off x="10174528" y="5879592"/>
            <a:ext cx="662940" cy="237744"/>
          </a:xfrm>
          <a:prstGeom prst="roundRect">
            <a:avLst>
              <a:gd name="adj" fmla="val 50000"/>
            </a:avLst>
          </a:prstGeom>
          <a:solidFill>
            <a:schemeClr val="accent1">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1">
                    <a:lumMod val="65000"/>
                  </a:schemeClr>
                </a:solidFill>
              </a:rPr>
              <a:t>E-639</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ngspice-46: the simulator</a:t>
            </a:r>
          </a:p>
        </p:txBody>
      </p:sp>
      <p:sp>
        <p:nvSpPr>
          <p:cNvPr id="3" name="Text Placeholder 2"/>
          <p:cNvSpPr>
            <a:spLocks noGrp="1"/>
          </p:cNvSpPr>
          <p:nvPr>
            <p:ph type="body" idx="1"/>
          </p:nvPr>
        </p:nvSpPr>
        <p:spPr/>
        <p:txBody>
          <a:bodyPr/>
          <a:lstStyle/>
          <a:p>
            <a:r>
              <a:t>Part 2 · Compiled Verilog-A devices as first-class citizens, a complete RF periodic suite, statistics, optimization and convergence aids.</a:t>
            </a:r>
          </a:p>
        </p:txBody>
      </p:sp>
      <p:sp>
        <p:nvSpPr>
          <p:cNvPr id="4" name="Stat 424"/>
          <p:cNvSpPr/>
          <p:nvPr/>
        </p:nvSpPr>
        <p:spPr>
          <a:xfrm>
            <a:off x="8229600" y="2377440"/>
            <a:ext cx="3383280" cy="2103120"/>
          </a:xfrm>
          <a:prstGeom prst="roundRect">
            <a:avLst>
              <a:gd name="adj" fmla="val 6000"/>
            </a:avLst>
          </a:prstGeom>
          <a:solidFill>
            <a:schemeClr val="tx2">
              <a:lumMod val="88000"/>
              <a:lumOff val="1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Stat number 424"/>
          <p:cNvSpPr txBox="1"/>
          <p:nvPr/>
        </p:nvSpPr>
        <p:spPr>
          <a:xfrm>
            <a:off x="8458200" y="2560320"/>
            <a:ext cx="2926080" cy="868680"/>
          </a:xfrm>
          <a:prstGeom prst="rect">
            <a:avLst/>
          </a:prstGeom>
          <a:noFill/>
        </p:spPr>
        <p:txBody>
          <a:bodyPr wrap="square" lIns="0" rIns="0" tIns="0" bIns="0" anchor="t">
            <a:spAutoFit/>
          </a:bodyPr>
          <a:lstStyle/>
          <a:p>
            <a:pPr algn="l"/>
            <a:r>
              <a:rPr sz="6000" b="1" i="0">
                <a:solidFill>
                  <a:schemeClr val="accent2"/>
                </a:solidFill>
                <a:latin typeface="+mj-lt"/>
              </a:rPr>
              <a:t>424</a:t>
            </a:r>
          </a:p>
        </p:txBody>
      </p:sp>
      <p:sp>
        <p:nvSpPr>
          <p:cNvPr id="6" name="Stat label 424"/>
          <p:cNvSpPr txBox="1"/>
          <p:nvPr/>
        </p:nvSpPr>
        <p:spPr>
          <a:xfrm>
            <a:off x="8458200" y="3512820"/>
            <a:ext cx="2926080" cy="784859"/>
          </a:xfrm>
          <a:prstGeom prst="rect">
            <a:avLst/>
          </a:prstGeom>
          <a:noFill/>
        </p:spPr>
        <p:txBody>
          <a:bodyPr wrap="square" lIns="0" rIns="0" tIns="0" bIns="0" anchor="t">
            <a:spAutoFit/>
          </a:bodyPr>
          <a:lstStyle/>
          <a:p>
            <a:pPr algn="l"/>
            <a:r>
              <a:rPr sz="1600" b="0" i="0">
                <a:solidFill>
                  <a:schemeClr val="bg1"/>
                </a:solidFill>
              </a:rPr>
              <a:t>enhancements across ten simulator feature areas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Compiled devices in ngspice</a:t>
            </a:r>
          </a:p>
        </p:txBody>
      </p:sp>
      <p:sp>
        <p:nvSpPr>
          <p:cNvPr id="3" name="Kicker"/>
          <p:cNvSpPr txBox="1"/>
          <p:nvPr/>
        </p:nvSpPr>
        <p:spPr>
          <a:xfrm>
            <a:off x="548640" y="274320"/>
            <a:ext cx="11094415" cy="274320"/>
          </a:xfrm>
          <a:prstGeom prst="rect">
            <a:avLst/>
          </a:prstGeom>
          <a:noFill/>
        </p:spPr>
        <p:txBody>
          <a:bodyPr wrap="square" lIns="0" rIns="0" tIns="0" bIns="0" anchor="t">
            <a:spAutoFit/>
          </a:bodyPr>
          <a:lstStyle/>
          <a:p>
            <a:pPr algn="l"/>
            <a:r>
              <a:rPr sz="1100" b="1" i="0" spc="120">
                <a:solidFill>
                  <a:schemeClr val="accent2">
                    <a:lumMod val="75000"/>
                  </a:schemeClr>
                </a:solidFill>
              </a:rPr>
              <a:t>SIMULATOR · THE OSDI DEVICE PATH</a:t>
            </a:r>
          </a:p>
        </p:txBody>
      </p:sp>
      <p:sp>
        <p:nvSpPr>
          <p:cNvPr id="4" name="Code panel"/>
          <p:cNvSpPr/>
          <p:nvPr/>
        </p:nvSpPr>
        <p:spPr>
          <a:xfrm>
            <a:off x="548640" y="1417320"/>
            <a:ext cx="4343400" cy="4846320"/>
          </a:xfrm>
          <a:prstGeom prst="roundRect">
            <a:avLst>
              <a:gd name="adj" fmla="val 4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Code title"/>
          <p:cNvSpPr txBox="1"/>
          <p:nvPr/>
        </p:nvSpPr>
        <p:spPr>
          <a:xfrm>
            <a:off x="777240" y="1581912"/>
            <a:ext cx="3886200" cy="274320"/>
          </a:xfrm>
          <a:prstGeom prst="rect">
            <a:avLst/>
          </a:prstGeom>
          <a:noFill/>
        </p:spPr>
        <p:txBody>
          <a:bodyPr wrap="square" lIns="0" rIns="0" tIns="0" bIns="0" anchor="t">
            <a:spAutoFit/>
          </a:bodyPr>
          <a:lstStyle/>
          <a:p>
            <a:pPr algn="l"/>
            <a:r>
              <a:rPr sz="1200" b="1" i="0">
                <a:solidFill>
                  <a:schemeClr val="accent6"/>
                </a:solidFill>
              </a:rPr>
              <a:t>divider.cir</a:t>
            </a:r>
          </a:p>
        </p:txBody>
      </p:sp>
      <p:sp>
        <p:nvSpPr>
          <p:cNvPr id="6" name="Code"/>
          <p:cNvSpPr txBox="1"/>
          <p:nvPr/>
        </p:nvSpPr>
        <p:spPr>
          <a:xfrm>
            <a:off x="777240" y="1947672"/>
            <a:ext cx="3886200" cy="4178807"/>
          </a:xfrm>
          <a:prstGeom prst="rect">
            <a:avLst/>
          </a:prstGeom>
          <a:noFill/>
        </p:spPr>
        <p:txBody>
          <a:bodyPr wrap="square" lIns="0" rIns="0" tIns="0" bIns="0" anchor="t">
            <a:spAutoFit/>
          </a:bodyPr>
          <a:lstStyle/>
          <a:p>
            <a:pPr algn="l">
              <a:lnSpc>
                <a:spcPct val="100000"/>
              </a:lnSpc>
            </a:pPr>
            <a:r>
              <a:rPr sz="1200" b="0" i="0">
                <a:solidFill>
                  <a:schemeClr val="bg1"/>
                </a:solidFill>
                <a:latin typeface="Courier New"/>
              </a:rPr>
              <a:t>* divider from a Verilog-A resistor</a:t>
            </a:r>
          </a:p>
          <a:p>
            <a:pPr algn="l">
              <a:lnSpc>
                <a:spcPct val="100000"/>
              </a:lnSpc>
            </a:pPr>
            <a:r>
              <a:rPr sz="1200" b="0" i="0">
                <a:solidFill>
                  <a:schemeClr val="bg1"/>
                </a:solidFill>
                <a:latin typeface="Courier New"/>
              </a:rPr>
              <a:t>vin in 0 dc 2</a:t>
            </a:r>
          </a:p>
          <a:p>
            <a:pPr algn="l">
              <a:lnSpc>
                <a:spcPct val="100000"/>
              </a:lnSpc>
            </a:pPr>
            <a:r>
              <a:rPr sz="1200" b="0" i="0">
                <a:solidFill>
                  <a:schemeClr val="bg1"/>
                </a:solidFill>
                <a:latin typeface="Courier New"/>
              </a:rPr>
              <a:t>n1 in mid ra</a:t>
            </a:r>
          </a:p>
          <a:p>
            <a:pPr algn="l">
              <a:lnSpc>
                <a:spcPct val="100000"/>
              </a:lnSpc>
            </a:pPr>
            <a:r>
              <a:rPr sz="1200" b="0" i="0">
                <a:solidFill>
                  <a:schemeClr val="bg1"/>
                </a:solidFill>
                <a:latin typeface="Courier New"/>
              </a:rPr>
              <a:t>n2 mid 0 rb</a:t>
            </a:r>
          </a:p>
          <a:p>
            <a:pPr algn="l">
              <a:lnSpc>
                <a:spcPct val="100000"/>
              </a:lnSpc>
            </a:pPr>
            <a:r>
              <a:rPr sz="1200" b="0" i="0">
                <a:solidFill>
                  <a:schemeClr val="bg1"/>
                </a:solidFill>
                <a:latin typeface="Courier New"/>
              </a:rPr>
              <a:t>.model ra myres(r=1k)</a:t>
            </a:r>
          </a:p>
          <a:p>
            <a:pPr algn="l">
              <a:lnSpc>
                <a:spcPct val="100000"/>
              </a:lnSpc>
            </a:pPr>
            <a:r>
              <a:rPr sz="1200" b="0" i="0">
                <a:solidFill>
                  <a:schemeClr val="bg1"/>
                </a:solidFill>
                <a:latin typeface="Courier New"/>
              </a:rPr>
              <a:t>.model rb myres(r=1k)</a:t>
            </a:r>
          </a:p>
          <a:p>
            <a:pPr algn="l">
              <a:lnSpc>
                <a:spcPct val="100000"/>
              </a:lnSpc>
            </a:pPr>
            <a:r>
              <a:rPr sz="1200" b="0" i="0">
                <a:solidFill>
                  <a:schemeClr val="bg1"/>
                </a:solidFill>
                <a:latin typeface="Courier New"/>
              </a:rPr>
              <a:t>.control</a:t>
            </a:r>
          </a:p>
          <a:p>
            <a:pPr algn="l">
              <a:lnSpc>
                <a:spcPct val="100000"/>
              </a:lnSpc>
            </a:pPr>
            <a:r>
              <a:rPr sz="1200" b="0" i="0">
                <a:solidFill>
                  <a:schemeClr val="bg1"/>
                </a:solidFill>
                <a:latin typeface="Courier New"/>
              </a:rPr>
              <a:t>pre_osdi myres.osdi</a:t>
            </a:r>
          </a:p>
          <a:p>
            <a:pPr algn="l">
              <a:lnSpc>
                <a:spcPct val="100000"/>
              </a:lnSpc>
            </a:pPr>
            <a:r>
              <a:rPr sz="1200" b="0" i="0">
                <a:solidFill>
                  <a:schemeClr val="bg1"/>
                </a:solidFill>
                <a:latin typeface="Courier New"/>
              </a:rPr>
              <a:t>op</a:t>
            </a:r>
          </a:p>
          <a:p>
            <a:pPr algn="l">
              <a:lnSpc>
                <a:spcPct val="100000"/>
              </a:lnSpc>
            </a:pPr>
            <a:r>
              <a:rPr sz="1200" b="0" i="0">
                <a:solidFill>
                  <a:schemeClr val="bg1"/>
                </a:solidFill>
                <a:latin typeface="Courier New"/>
              </a:rPr>
              <a:t>print v(mid)</a:t>
            </a:r>
          </a:p>
          <a:p>
            <a:pPr algn="l">
              <a:lnSpc>
                <a:spcPct val="100000"/>
              </a:lnSpc>
            </a:pPr>
            <a:r>
              <a:rPr sz="1200" b="0" i="0">
                <a:solidFill>
                  <a:schemeClr val="bg1"/>
                </a:solidFill>
                <a:latin typeface="Courier New"/>
              </a:rPr>
              <a:t>.endc</a:t>
            </a:r>
          </a:p>
          <a:p>
            <a:pPr algn="l">
              <a:lnSpc>
                <a:spcPct val="100000"/>
              </a:lnSpc>
            </a:pPr>
            <a:r>
              <a:rPr sz="1200" b="0" i="0">
                <a:solidFill>
                  <a:schemeClr val="bg1"/>
                </a:solidFill>
                <a:latin typeface="Courier New"/>
              </a:rPr>
              <a:t>.end</a:t>
            </a:r>
          </a:p>
          <a:p>
            <a:pPr algn="l">
              <a:lnSpc>
                <a:spcPct val="100000"/>
              </a:lnSpc>
            </a:pPr>
            <a:r>
              <a:rPr sz="1200" b="0" i="0">
                <a:solidFill>
                  <a:schemeClr val="bg1"/>
                </a:solidFill>
                <a:latin typeface="Courier New"/>
              </a:rPr>
              <a:t/>
            </a:r>
          </a:p>
          <a:p>
            <a:pPr algn="l">
              <a:lnSpc>
                <a:spcPct val="100000"/>
              </a:lnSpc>
            </a:pPr>
            <a:r>
              <a:rPr sz="1200" b="0" i="0">
                <a:solidFill>
                  <a:schemeClr val="bg1"/>
                </a:solidFill>
                <a:latin typeface="Courier New"/>
              </a:rPr>
              <a:t>$ ngspice -b divider.cir</a:t>
            </a:r>
          </a:p>
          <a:p>
            <a:pPr algn="l">
              <a:lnSpc>
                <a:spcPct val="100000"/>
              </a:lnSpc>
            </a:pPr>
            <a:r>
              <a:rPr sz="1200" b="0" i="0">
                <a:solidFill>
                  <a:schemeClr val="bg1"/>
                </a:solidFill>
                <a:latin typeface="Courier New"/>
              </a:rPr>
              <a:t>v(mid) = 1.000000e+00</a:t>
            </a:r>
          </a:p>
        </p:txBody>
      </p:sp>
      <p:sp>
        <p:nvSpPr>
          <p:cNvPr id="7" name="Card Instances &amp; cards"/>
          <p:cNvSpPr/>
          <p:nvPr/>
        </p:nvSpPr>
        <p:spPr>
          <a:xfrm>
            <a:off x="5166359" y="1417320"/>
            <a:ext cx="3146907" cy="1493519"/>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ard title Instances &amp; cards"/>
          <p:cNvSpPr txBox="1"/>
          <p:nvPr/>
        </p:nvSpPr>
        <p:spPr>
          <a:xfrm>
            <a:off x="5330951" y="1536192"/>
            <a:ext cx="2817723" cy="292608"/>
          </a:xfrm>
          <a:prstGeom prst="rect">
            <a:avLst/>
          </a:prstGeom>
          <a:noFill/>
        </p:spPr>
        <p:txBody>
          <a:bodyPr wrap="square" lIns="0" rIns="0" tIns="0" bIns="0" anchor="ctr">
            <a:spAutoFit/>
          </a:bodyPr>
          <a:lstStyle/>
          <a:p>
            <a:pPr algn="l"/>
            <a:r>
              <a:rPr sz="1500" b="1" i="0">
                <a:solidFill>
                  <a:schemeClr val="tx2"/>
                </a:solidFill>
              </a:rPr>
              <a:t>Instances &amp; cards</a:t>
            </a:r>
          </a:p>
        </p:txBody>
      </p:sp>
      <p:sp>
        <p:nvSpPr>
          <p:cNvPr id="9" name="Card body Instances &amp; cards"/>
          <p:cNvSpPr txBox="1"/>
          <p:nvPr/>
        </p:nvSpPr>
        <p:spPr>
          <a:xfrm>
            <a:off x="5330951" y="1874519"/>
            <a:ext cx="2817723" cy="652271"/>
          </a:xfrm>
          <a:prstGeom prst="rect">
            <a:avLst/>
          </a:prstGeom>
          <a:noFill/>
        </p:spPr>
        <p:txBody>
          <a:bodyPr wrap="square" lIns="0" rIns="0" tIns="0" bIns="0" anchor="t">
            <a:spAutoFit/>
          </a:bodyPr>
          <a:lstStyle/>
          <a:p>
            <a:pPr algn="l"/>
            <a:r>
              <a:rPr sz="1400" b="0" i="0">
                <a:solidFill>
                  <a:schemeClr val="tx1"/>
                </a:solidFill>
              </a:rPr>
              <a:t>N devices; the card names the module; (* type="instance" *) parameters on the line</a:t>
            </a:r>
          </a:p>
        </p:txBody>
      </p:sp>
      <p:sp>
        <p:nvSpPr>
          <p:cNvPr id="10" name="Chip E-644">
            <a:hlinkClick r:id="rId3"/>
          </p:cNvPr>
          <p:cNvSpPr/>
          <p:nvPr/>
        </p:nvSpPr>
        <p:spPr>
          <a:xfrm>
            <a:off x="5330951" y="2581656"/>
            <a:ext cx="662940" cy="219456"/>
          </a:xfrm>
          <a:prstGeom prst="roundRect">
            <a:avLst>
              <a:gd name="adj" fmla="val 50000"/>
            </a:avLst>
          </a:prstGeom>
          <a:solidFill>
            <a:schemeClr val="accent2">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2">
                    <a:lumMod val="65000"/>
                  </a:schemeClr>
                </a:solidFill>
              </a:rPr>
              <a:t>E-644</a:t>
            </a:r>
          </a:p>
        </p:txBody>
      </p:sp>
      <p:sp>
        <p:nvSpPr>
          <p:cNvPr id="11" name="Card Multiplicity"/>
          <p:cNvSpPr/>
          <p:nvPr/>
        </p:nvSpPr>
        <p:spPr>
          <a:xfrm>
            <a:off x="8496147" y="1417320"/>
            <a:ext cx="3146907" cy="1493519"/>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Card title Multiplicity"/>
          <p:cNvSpPr txBox="1"/>
          <p:nvPr/>
        </p:nvSpPr>
        <p:spPr>
          <a:xfrm>
            <a:off x="8660739" y="1536192"/>
            <a:ext cx="2817723" cy="292608"/>
          </a:xfrm>
          <a:prstGeom prst="rect">
            <a:avLst/>
          </a:prstGeom>
          <a:noFill/>
        </p:spPr>
        <p:txBody>
          <a:bodyPr wrap="square" lIns="0" rIns="0" tIns="0" bIns="0" anchor="ctr">
            <a:spAutoFit/>
          </a:bodyPr>
          <a:lstStyle/>
          <a:p>
            <a:pPr algn="l"/>
            <a:r>
              <a:rPr sz="1500" b="1" i="0">
                <a:solidFill>
                  <a:schemeClr val="tx2"/>
                </a:solidFill>
              </a:rPr>
              <a:t>Multiplicity</a:t>
            </a:r>
          </a:p>
        </p:txBody>
      </p:sp>
      <p:sp>
        <p:nvSpPr>
          <p:cNvPr id="13" name="Card body Multiplicity"/>
          <p:cNvSpPr txBox="1"/>
          <p:nvPr/>
        </p:nvSpPr>
        <p:spPr>
          <a:xfrm>
            <a:off x="8660739" y="1874519"/>
            <a:ext cx="2817723" cy="652271"/>
          </a:xfrm>
          <a:prstGeom prst="rect">
            <a:avLst/>
          </a:prstGeom>
          <a:noFill/>
        </p:spPr>
        <p:txBody>
          <a:bodyPr wrap="square" lIns="0" rIns="0" tIns="0" bIns="0" anchor="t">
            <a:spAutoFit/>
          </a:bodyPr>
          <a:lstStyle/>
          <a:p>
            <a:pPr algn="l"/>
            <a:r>
              <a:rPr sz="1400" b="0" i="0">
                <a:solidFill>
                  <a:schemeClr val="tx1"/>
                </a:solidFill>
              </a:rPr>
              <a:t>m and $mfactor scale currents, charges and noise; temp and dtemp reach the model</a:t>
            </a:r>
          </a:p>
        </p:txBody>
      </p:sp>
      <p:sp>
        <p:nvSpPr>
          <p:cNvPr id="14" name="Chip E-336">
            <a:hlinkClick r:id="rId4"/>
          </p:cNvPr>
          <p:cNvSpPr/>
          <p:nvPr/>
        </p:nvSpPr>
        <p:spPr>
          <a:xfrm>
            <a:off x="8660739" y="2581656"/>
            <a:ext cx="662940" cy="219456"/>
          </a:xfrm>
          <a:prstGeom prst="roundRect">
            <a:avLst>
              <a:gd name="adj" fmla="val 50000"/>
            </a:avLst>
          </a:prstGeom>
          <a:solidFill>
            <a:schemeClr val="accent2">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2">
                    <a:lumMod val="65000"/>
                  </a:schemeClr>
                </a:solidFill>
              </a:rPr>
              <a:t>E-336</a:t>
            </a:r>
          </a:p>
        </p:txBody>
      </p:sp>
      <p:sp>
        <p:nvSpPr>
          <p:cNvPr id="15" name="Chip E-755">
            <a:hlinkClick r:id="rId5"/>
          </p:cNvPr>
          <p:cNvSpPr/>
          <p:nvPr/>
        </p:nvSpPr>
        <p:spPr>
          <a:xfrm>
            <a:off x="9378543" y="2581656"/>
            <a:ext cx="662940" cy="219456"/>
          </a:xfrm>
          <a:prstGeom prst="roundRect">
            <a:avLst>
              <a:gd name="adj" fmla="val 50000"/>
            </a:avLst>
          </a:prstGeom>
          <a:solidFill>
            <a:schemeClr val="accent2">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2">
                    <a:lumMod val="65000"/>
                  </a:schemeClr>
                </a:solidFill>
              </a:rPr>
              <a:t>E-755</a:t>
            </a:r>
          </a:p>
        </p:txBody>
      </p:sp>
      <p:sp>
        <p:nvSpPr>
          <p:cNvPr id="16" name="Card Op-point variables"/>
          <p:cNvSpPr/>
          <p:nvPr/>
        </p:nvSpPr>
        <p:spPr>
          <a:xfrm>
            <a:off x="5166359" y="3093719"/>
            <a:ext cx="3146907" cy="1493519"/>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Card title Op-point variables"/>
          <p:cNvSpPr txBox="1"/>
          <p:nvPr/>
        </p:nvSpPr>
        <p:spPr>
          <a:xfrm>
            <a:off x="5330951" y="3212591"/>
            <a:ext cx="2817723" cy="292608"/>
          </a:xfrm>
          <a:prstGeom prst="rect">
            <a:avLst/>
          </a:prstGeom>
          <a:noFill/>
        </p:spPr>
        <p:txBody>
          <a:bodyPr wrap="square" lIns="0" rIns="0" tIns="0" bIns="0" anchor="ctr">
            <a:spAutoFit/>
          </a:bodyPr>
          <a:lstStyle/>
          <a:p>
            <a:pPr algn="l"/>
            <a:r>
              <a:rPr sz="1500" b="1" i="0">
                <a:solidFill>
                  <a:schemeClr val="tx2"/>
                </a:solidFill>
              </a:rPr>
              <a:t>Op-point variables</a:t>
            </a:r>
          </a:p>
        </p:txBody>
      </p:sp>
      <p:sp>
        <p:nvSpPr>
          <p:cNvPr id="18" name="Card body Op-point variables"/>
          <p:cNvSpPr txBox="1"/>
          <p:nvPr/>
        </p:nvSpPr>
        <p:spPr>
          <a:xfrm>
            <a:off x="5330951" y="3550919"/>
            <a:ext cx="2817723" cy="652271"/>
          </a:xfrm>
          <a:prstGeom prst="rect">
            <a:avLst/>
          </a:prstGeom>
          <a:noFill/>
        </p:spPr>
        <p:txBody>
          <a:bodyPr wrap="square" lIns="0" rIns="0" tIns="0" bIns="0" anchor="t">
            <a:spAutoFit/>
          </a:bodyPr>
          <a:lstStyle/>
          <a:p>
            <a:pPr algn="l"/>
            <a:r>
              <a:rPr sz="1400" b="0" i="0">
                <a:solidFill>
                  <a:schemeClr val="tx1"/>
                </a:solidFill>
              </a:rPr>
              <a:t>print @n1[ids], .save, .meas and show n1 for every desc variable</a:t>
            </a:r>
          </a:p>
        </p:txBody>
      </p:sp>
      <p:sp>
        <p:nvSpPr>
          <p:cNvPr id="19" name="Chip E-69">
            <a:hlinkClick r:id="rId6"/>
          </p:cNvPr>
          <p:cNvSpPr/>
          <p:nvPr/>
        </p:nvSpPr>
        <p:spPr>
          <a:xfrm>
            <a:off x="5330951" y="4258055"/>
            <a:ext cx="594360" cy="219456"/>
          </a:xfrm>
          <a:prstGeom prst="roundRect">
            <a:avLst>
              <a:gd name="adj" fmla="val 50000"/>
            </a:avLst>
          </a:prstGeom>
          <a:solidFill>
            <a:schemeClr val="accent2">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2">
                    <a:lumMod val="65000"/>
                  </a:schemeClr>
                </a:solidFill>
              </a:rPr>
              <a:t>E-69</a:t>
            </a:r>
          </a:p>
        </p:txBody>
      </p:sp>
      <p:sp>
        <p:nvSpPr>
          <p:cNvPr id="20" name="Card Change in session"/>
          <p:cNvSpPr/>
          <p:nvPr/>
        </p:nvSpPr>
        <p:spPr>
          <a:xfrm>
            <a:off x="8496147" y="3093719"/>
            <a:ext cx="3146907" cy="1493519"/>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Card title Change in session"/>
          <p:cNvSpPr txBox="1"/>
          <p:nvPr/>
        </p:nvSpPr>
        <p:spPr>
          <a:xfrm>
            <a:off x="8660739" y="3212591"/>
            <a:ext cx="2817723" cy="292608"/>
          </a:xfrm>
          <a:prstGeom prst="rect">
            <a:avLst/>
          </a:prstGeom>
          <a:noFill/>
        </p:spPr>
        <p:txBody>
          <a:bodyPr wrap="square" lIns="0" rIns="0" tIns="0" bIns="0" anchor="ctr">
            <a:spAutoFit/>
          </a:bodyPr>
          <a:lstStyle/>
          <a:p>
            <a:pPr algn="l"/>
            <a:r>
              <a:rPr sz="1500" b="1" i="0">
                <a:solidFill>
                  <a:schemeClr val="tx2"/>
                </a:solidFill>
              </a:rPr>
              <a:t>Change in session</a:t>
            </a:r>
          </a:p>
        </p:txBody>
      </p:sp>
      <p:sp>
        <p:nvSpPr>
          <p:cNvPr id="22" name="Card body Change in session"/>
          <p:cNvSpPr txBox="1"/>
          <p:nvPr/>
        </p:nvSpPr>
        <p:spPr>
          <a:xfrm>
            <a:off x="8660739" y="3550919"/>
            <a:ext cx="2817723" cy="652271"/>
          </a:xfrm>
          <a:prstGeom prst="rect">
            <a:avLst/>
          </a:prstGeom>
          <a:noFill/>
        </p:spPr>
        <p:txBody>
          <a:bodyPr wrap="square" lIns="0" rIns="0" tIns="0" bIns="0" anchor="t">
            <a:spAutoFit/>
          </a:bodyPr>
          <a:lstStyle/>
          <a:p>
            <a:pPr algn="l"/>
            <a:r>
              <a:rPr sz="1400" b="0" i="0">
                <a:solidFill>
                  <a:schemeClr val="tx1"/>
                </a:solidFill>
              </a:rPr>
              <a:t>alter and altermod; pre_osdi -f reloads a recompiled .osdi without a restart</a:t>
            </a:r>
          </a:p>
        </p:txBody>
      </p:sp>
      <p:sp>
        <p:nvSpPr>
          <p:cNvPr id="23" name="Chip E-229">
            <a:hlinkClick r:id="rId7"/>
          </p:cNvPr>
          <p:cNvSpPr/>
          <p:nvPr/>
        </p:nvSpPr>
        <p:spPr>
          <a:xfrm>
            <a:off x="8660739" y="4258055"/>
            <a:ext cx="662940" cy="219456"/>
          </a:xfrm>
          <a:prstGeom prst="roundRect">
            <a:avLst>
              <a:gd name="adj" fmla="val 50000"/>
            </a:avLst>
          </a:prstGeom>
          <a:solidFill>
            <a:schemeClr val="accent2">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2">
                    <a:lumMod val="65000"/>
                  </a:schemeClr>
                </a:solidFill>
              </a:rPr>
              <a:t>E-229</a:t>
            </a:r>
          </a:p>
        </p:txBody>
      </p:sp>
      <p:sp>
        <p:nvSpPr>
          <p:cNvPr id="24" name="Card Terminal currents"/>
          <p:cNvSpPr/>
          <p:nvPr/>
        </p:nvSpPr>
        <p:spPr>
          <a:xfrm>
            <a:off x="5166359" y="4770119"/>
            <a:ext cx="3146907" cy="1493519"/>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Card title Terminal currents"/>
          <p:cNvSpPr txBox="1"/>
          <p:nvPr/>
        </p:nvSpPr>
        <p:spPr>
          <a:xfrm>
            <a:off x="5330951" y="4888991"/>
            <a:ext cx="2817723" cy="292608"/>
          </a:xfrm>
          <a:prstGeom prst="rect">
            <a:avLst/>
          </a:prstGeom>
          <a:noFill/>
        </p:spPr>
        <p:txBody>
          <a:bodyPr wrap="square" lIns="0" rIns="0" tIns="0" bIns="0" anchor="ctr">
            <a:spAutoFit/>
          </a:bodyPr>
          <a:lstStyle/>
          <a:p>
            <a:pPr algn="l"/>
            <a:r>
              <a:rPr sz="1500" b="1" i="0">
                <a:solidFill>
                  <a:schemeClr val="tx2"/>
                </a:solidFill>
              </a:rPr>
              <a:t>Terminal currents</a:t>
            </a:r>
          </a:p>
        </p:txBody>
      </p:sp>
      <p:sp>
        <p:nvSpPr>
          <p:cNvPr id="26" name="Card body Terminal currents"/>
          <p:cNvSpPr txBox="1"/>
          <p:nvPr/>
        </p:nvSpPr>
        <p:spPr>
          <a:xfrm>
            <a:off x="5330951" y="5227319"/>
            <a:ext cx="2817723" cy="652271"/>
          </a:xfrm>
          <a:prstGeom prst="rect">
            <a:avLst/>
          </a:prstGeom>
          <a:noFill/>
        </p:spPr>
        <p:txBody>
          <a:bodyPr wrap="square" lIns="0" rIns="0" tIns="0" bIns="0" anchor="t">
            <a:spAutoFit/>
          </a:bodyPr>
          <a:lstStyle/>
          <a:p>
            <a:pPr algn="l"/>
            <a:r>
              <a:rPr sz="1400" b="0" i="0">
                <a:solidFill>
                  <a:schemeClr val="tx1"/>
                </a:solidFill>
              </a:rPr>
              <a:t>@n1[i_p] is the device's total current, complex in ac and sp</a:t>
            </a:r>
          </a:p>
        </p:txBody>
      </p:sp>
      <p:sp>
        <p:nvSpPr>
          <p:cNvPr id="27" name="Chip E-394">
            <a:hlinkClick r:id="rId8"/>
          </p:cNvPr>
          <p:cNvSpPr/>
          <p:nvPr/>
        </p:nvSpPr>
        <p:spPr>
          <a:xfrm>
            <a:off x="5330951" y="5934455"/>
            <a:ext cx="662940" cy="219456"/>
          </a:xfrm>
          <a:prstGeom prst="roundRect">
            <a:avLst>
              <a:gd name="adj" fmla="val 50000"/>
            </a:avLst>
          </a:prstGeom>
          <a:solidFill>
            <a:schemeClr val="accent2">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2">
                    <a:lumMod val="65000"/>
                  </a:schemeClr>
                </a:solidFill>
              </a:rPr>
              <a:t>E-394</a:t>
            </a:r>
          </a:p>
        </p:txBody>
      </p:sp>
      <p:sp>
        <p:nvSpPr>
          <p:cNvPr id="28" name="Chip E-835">
            <a:hlinkClick r:id="rId9"/>
          </p:cNvPr>
          <p:cNvSpPr/>
          <p:nvPr/>
        </p:nvSpPr>
        <p:spPr>
          <a:xfrm>
            <a:off x="6048755" y="5934455"/>
            <a:ext cx="662940" cy="219456"/>
          </a:xfrm>
          <a:prstGeom prst="roundRect">
            <a:avLst>
              <a:gd name="adj" fmla="val 50000"/>
            </a:avLst>
          </a:prstGeom>
          <a:solidFill>
            <a:schemeClr val="accent2">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2">
                    <a:lumMod val="65000"/>
                  </a:schemeClr>
                </a:solidFill>
              </a:rPr>
              <a:t>E-835</a:t>
            </a:r>
          </a:p>
        </p:txBody>
      </p:sp>
      <p:sp>
        <p:nvSpPr>
          <p:cNvPr id="29" name="Card Exact numbers"/>
          <p:cNvSpPr/>
          <p:nvPr/>
        </p:nvSpPr>
        <p:spPr>
          <a:xfrm>
            <a:off x="8496147" y="4770119"/>
            <a:ext cx="3146907" cy="1493519"/>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Card title Exact numbers"/>
          <p:cNvSpPr txBox="1"/>
          <p:nvPr/>
        </p:nvSpPr>
        <p:spPr>
          <a:xfrm>
            <a:off x="8660739" y="4888991"/>
            <a:ext cx="2817723" cy="292608"/>
          </a:xfrm>
          <a:prstGeom prst="rect">
            <a:avLst/>
          </a:prstGeom>
          <a:noFill/>
        </p:spPr>
        <p:txBody>
          <a:bodyPr wrap="square" lIns="0" rIns="0" tIns="0" bIns="0" anchor="ctr">
            <a:spAutoFit/>
          </a:bodyPr>
          <a:lstStyle/>
          <a:p>
            <a:pPr algn="l"/>
            <a:r>
              <a:rPr sz="1500" b="1" i="0">
                <a:solidFill>
                  <a:schemeClr val="tx2"/>
                </a:solidFill>
              </a:rPr>
              <a:t>Exact numbers</a:t>
            </a:r>
          </a:p>
        </p:txBody>
      </p:sp>
      <p:sp>
        <p:nvSpPr>
          <p:cNvPr id="31" name="Card body Exact numbers"/>
          <p:cNvSpPr txBox="1"/>
          <p:nvPr/>
        </p:nvSpPr>
        <p:spPr>
          <a:xfrm>
            <a:off x="8660739" y="5227319"/>
            <a:ext cx="2817723" cy="652271"/>
          </a:xfrm>
          <a:prstGeom prst="rect">
            <a:avLst/>
          </a:prstGeom>
          <a:noFill/>
        </p:spPr>
        <p:txBody>
          <a:bodyPr wrap="square" lIns="0" rIns="0" tIns="0" bIns="0" anchor="t">
            <a:spAutoFit/>
          </a:bodyPr>
          <a:lstStyle/>
          <a:p>
            <a:pPr algn="l"/>
            <a:r>
              <a:rPr sz="1400" b="0" i="0">
                <a:solidFill>
                  <a:schemeClr val="tx1"/>
                </a:solidFill>
              </a:rPr>
              <a:t>A netlist number is the double its text names, so 1.2 meets from [0:1.2]</a:t>
            </a:r>
          </a:p>
        </p:txBody>
      </p:sp>
      <p:sp>
        <p:nvSpPr>
          <p:cNvPr id="32" name="Chip E-643">
            <a:hlinkClick r:id="rId10"/>
          </p:cNvPr>
          <p:cNvSpPr/>
          <p:nvPr/>
        </p:nvSpPr>
        <p:spPr>
          <a:xfrm>
            <a:off x="8660739" y="5934455"/>
            <a:ext cx="662940" cy="219456"/>
          </a:xfrm>
          <a:prstGeom prst="roundRect">
            <a:avLst>
              <a:gd name="adj" fmla="val 50000"/>
            </a:avLst>
          </a:prstGeom>
          <a:solidFill>
            <a:schemeClr val="accent2">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2">
                    <a:lumMod val="65000"/>
                  </a:schemeClr>
                </a:solidFill>
              </a:rPr>
              <a:t>E-643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Every analysis takes compiled devices</a:t>
            </a:r>
          </a:p>
        </p:txBody>
      </p:sp>
      <p:sp>
        <p:nvSpPr>
          <p:cNvPr id="3" name="Kicker"/>
          <p:cNvSpPr txBox="1"/>
          <p:nvPr/>
        </p:nvSpPr>
        <p:spPr>
          <a:xfrm>
            <a:off x="548640" y="274320"/>
            <a:ext cx="11094415" cy="274320"/>
          </a:xfrm>
          <a:prstGeom prst="rect">
            <a:avLst/>
          </a:prstGeom>
          <a:noFill/>
        </p:spPr>
        <p:txBody>
          <a:bodyPr wrap="square" lIns="0" rIns="0" tIns="0" bIns="0" anchor="t">
            <a:spAutoFit/>
          </a:bodyPr>
          <a:lstStyle/>
          <a:p>
            <a:pPr algn="l"/>
            <a:r>
              <a:rPr sz="1100" b="1" i="0" spc="120">
                <a:solidFill>
                  <a:schemeClr val="accent2">
                    <a:lumMod val="75000"/>
                  </a:schemeClr>
                </a:solidFill>
              </a:rPr>
              <a:t>SIMULATOR · ANALYSIS COVERAGE</a:t>
            </a:r>
          </a:p>
        </p:txBody>
      </p:sp>
      <p:graphicFrame>
        <p:nvGraphicFramePr>
          <p:cNvPr id="4" name="Analysis table"/>
          <p:cNvGraphicFramePr>
            <a:graphicFrameLocks noGrp="1"/>
          </p:cNvGraphicFramePr>
          <p:nvPr/>
        </p:nvGraphicFramePr>
        <p:xfrm>
          <a:off x="548640" y="1417320"/>
          <a:ext cx="11091672" cy="4608576"/>
        </p:xfrm>
        <a:graphic>
          <a:graphicData uri="http://schemas.openxmlformats.org/drawingml/2006/table">
            <a:tbl>
              <a:tblPr firstRow="1">
                <a:tableStyleId>{5C22544A-7EE6-4342-B048-85BDC9FD1C3A}</a:tableStyleId>
              </a:tblPr>
              <a:tblGrid>
                <a:gridCol w="3017520"/>
                <a:gridCol w="6153912"/>
                <a:gridCol w="1920240"/>
              </a:tblGrid>
              <a:tr h="512064">
                <a:tc>
                  <a:txBody>
                    <a:bodyPr wrap="square"/>
                    <a:lstStyle/>
                    <a:p>
                      <a:r>
                        <a:rPr sz="1400" b="1">
                          <a:solidFill>
                            <a:schemeClr val="bg1"/>
                          </a:solidFill>
                        </a:rPr>
                        <a:t>Analysis</a:t>
                      </a:r>
                    </a:p>
                  </a:txBody>
                  <a:tcPr marL="91440" marR="91440" marT="36576" marB="36576" anchor="ctr">
                    <a:solidFill>
                      <a:schemeClr val="tx2"/>
                    </a:solidFill>
                  </a:tcPr>
                </a:tc>
                <a:tc>
                  <a:txBody>
                    <a:bodyPr wrap="square"/>
                    <a:lstStyle/>
                    <a:p>
                      <a:r>
                        <a:rPr sz="1400" b="1">
                          <a:solidFill>
                            <a:schemeClr val="bg1"/>
                          </a:solidFill>
                        </a:rPr>
                        <a:t>With compiled Verilog-A devices</a:t>
                      </a:r>
                    </a:p>
                  </a:txBody>
                  <a:tcPr marL="91440" marR="91440" marT="36576" marB="36576" anchor="ctr">
                    <a:solidFill>
                      <a:schemeClr val="tx2"/>
                    </a:solidFill>
                  </a:tcPr>
                </a:tc>
                <a:tc>
                  <a:txBody>
                    <a:bodyPr wrap="square"/>
                    <a:lstStyle/>
                    <a:p>
                      <a:r>
                        <a:rPr sz="1400" b="1">
                          <a:solidFill>
                            <a:schemeClr val="bg1"/>
                          </a:solidFill>
                        </a:rPr>
                        <a:t>Enhancements</a:t>
                      </a:r>
                    </a:p>
                  </a:txBody>
                  <a:tcPr marL="91440" marR="91440" marT="36576" marB="36576" anchor="ctr">
                    <a:solidFill>
                      <a:schemeClr val="tx2"/>
                    </a:solidFill>
                  </a:tcPr>
                </a:tc>
              </a:tr>
              <a:tr h="512064">
                <a:tc>
                  <a:txBody>
                    <a:bodyPr wrap="square"/>
                    <a:lstStyle/>
                    <a:p>
                      <a:r>
                        <a:rPr sz="1400" b="0">
                          <a:solidFill>
                            <a:schemeClr val="tx1"/>
                          </a:solidFill>
                        </a:rPr>
                        <a:t>op, .dc, .ac, .tran</a:t>
                      </a:r>
                    </a:p>
                  </a:txBody>
                  <a:tcPr marL="91440" marR="91440" marT="36576" marB="36576" anchor="ctr">
                    <a:solidFill>
                      <a:schemeClr val="bg1"/>
                    </a:solidFill>
                  </a:tcPr>
                </a:tc>
                <a:tc>
                  <a:txBody>
                    <a:bodyPr wrap="square"/>
                    <a:lstStyle/>
                    <a:p>
                      <a:r>
                        <a:rPr sz="1400" b="0">
                          <a:solidFill>
                            <a:schemeClr val="tx1"/>
                          </a:solidFill>
                        </a:rPr>
                        <a:t>Full; autodiff Jacobians match numeric derivatives on PSP103 to ~1e-5</a:t>
                      </a:r>
                    </a:p>
                  </a:txBody>
                  <a:tcPr marL="91440" marR="91440" marT="36576" marB="36576" anchor="ctr">
                    <a:solidFill>
                      <a:schemeClr val="bg1"/>
                    </a:solidFill>
                  </a:tcPr>
                </a:tc>
                <a:tc>
                  <a:txBody>
                    <a:bodyPr wrap="square"/>
                    <a:lstStyle/>
                    <a:p>
                      <a:r>
                        <a:rPr sz="1400" b="0">
                          <a:solidFill>
                            <a:schemeClr val="tx1"/>
                          </a:solidFill>
                        </a:rPr>
                        <a:t>E-57, E-62</a:t>
                      </a:r>
                    </a:p>
                  </a:txBody>
                  <a:tcPr marL="91440" marR="91440" marT="36576" marB="36576" anchor="ctr">
                    <a:solidFill>
                      <a:schemeClr val="bg1"/>
                    </a:solidFill>
                  </a:tcPr>
                </a:tc>
              </a:tr>
              <a:tr h="512064">
                <a:tc>
                  <a:txBody>
                    <a:bodyPr wrap="square"/>
                    <a:lstStyle/>
                    <a:p>
                      <a:r>
                        <a:rPr sz="1400" b="0">
                          <a:solidFill>
                            <a:schemeClr val="tx1"/>
                          </a:solidFill>
                        </a:rPr>
                        <a:t>.noise</a:t>
                      </a:r>
                    </a:p>
                  </a:txBody>
                  <a:tcPr marL="91440" marR="91440" marT="36576" marB="36576" anchor="ctr">
                    <a:solidFill>
                      <a:schemeClr val="bg2"/>
                    </a:solidFill>
                  </a:tcPr>
                </a:tc>
                <a:tc>
                  <a:txBody>
                    <a:bodyPr wrap="square"/>
                    <a:lstStyle/>
                    <a:p>
                      <a:r>
                        <a:rPr sz="1400" b="0">
                          <a:solidFill>
                            <a:schemeClr val="tx1"/>
                          </a:solidFill>
                        </a:rPr>
                        <a:t>All source types, correlated sources, op-dependent and shaped factors</a:t>
                      </a:r>
                    </a:p>
                  </a:txBody>
                  <a:tcPr marL="91440" marR="91440" marT="36576" marB="36576" anchor="ctr">
                    <a:solidFill>
                      <a:schemeClr val="bg2"/>
                    </a:solidFill>
                  </a:tcPr>
                </a:tc>
                <a:tc>
                  <a:txBody>
                    <a:bodyPr wrap="square"/>
                    <a:lstStyle/>
                    <a:p>
                      <a:r>
                        <a:rPr sz="1400" b="0">
                          <a:solidFill>
                            <a:schemeClr val="tx1"/>
                          </a:solidFill>
                        </a:rPr>
                        <a:t>E-42, E-54</a:t>
                      </a:r>
                    </a:p>
                  </a:txBody>
                  <a:tcPr marL="91440" marR="91440" marT="36576" marB="36576" anchor="ctr">
                    <a:solidFill>
                      <a:schemeClr val="bg2"/>
                    </a:solidFill>
                  </a:tcPr>
                </a:tc>
              </a:tr>
              <a:tr h="512064">
                <a:tc>
                  <a:txBody>
                    <a:bodyPr wrap="square"/>
                    <a:lstStyle/>
                    <a:p>
                      <a:r>
                        <a:rPr sz="1400" b="0">
                          <a:solidFill>
                            <a:schemeClr val="tx1"/>
                          </a:solidFill>
                        </a:rPr>
                        <a:t>Transient noise</a:t>
                      </a:r>
                    </a:p>
                  </a:txBody>
                  <a:tcPr marL="91440" marR="91440" marT="36576" marB="36576" anchor="ctr">
                    <a:solidFill>
                      <a:schemeClr val="bg1"/>
                    </a:solidFill>
                  </a:tcPr>
                </a:tc>
                <a:tc>
                  <a:txBody>
                    <a:bodyPr wrap="square"/>
                    <a:lstStyle/>
                    <a:p>
                      <a:r>
                        <a:rPr sz="1400" b="0">
                          <a:solidFill>
                            <a:schemeClr val="tx1"/>
                          </a:solidFill>
                        </a:rPr>
                        <a:t>A device's white and flicker noise enters .tran when the deck uses trnoise</a:t>
                      </a:r>
                    </a:p>
                  </a:txBody>
                  <a:tcPr marL="91440" marR="91440" marT="36576" marB="36576" anchor="ctr">
                    <a:solidFill>
                      <a:schemeClr val="bg1"/>
                    </a:solidFill>
                  </a:tcPr>
                </a:tc>
                <a:tc>
                  <a:txBody>
                    <a:bodyPr wrap="square"/>
                    <a:lstStyle/>
                    <a:p>
                      <a:r>
                        <a:rPr sz="1400" b="0">
                          <a:solidFill>
                            <a:schemeClr val="tx1"/>
                          </a:solidFill>
                        </a:rPr>
                        <a:t>E-364</a:t>
                      </a:r>
                    </a:p>
                  </a:txBody>
                  <a:tcPr marL="91440" marR="91440" marT="36576" marB="36576" anchor="ctr">
                    <a:solidFill>
                      <a:schemeClr val="bg1"/>
                    </a:solidFill>
                  </a:tcPr>
                </a:tc>
              </a:tr>
              <a:tr h="512064">
                <a:tc>
                  <a:txBody>
                    <a:bodyPr wrap="square"/>
                    <a:lstStyle/>
                    <a:p>
                      <a:r>
                        <a:rPr sz="1400" b="0">
                          <a:solidFill>
                            <a:schemeClr val="tx1"/>
                          </a:solidFill>
                        </a:rPr>
                        <a:t>.tf, .sens</a:t>
                      </a:r>
                    </a:p>
                  </a:txBody>
                  <a:tcPr marL="91440" marR="91440" marT="36576" marB="36576" anchor="ctr">
                    <a:solidFill>
                      <a:schemeClr val="bg2"/>
                    </a:solidFill>
                  </a:tcPr>
                </a:tc>
                <a:tc>
                  <a:txBody>
                    <a:bodyPr wrap="square"/>
                    <a:lstStyle/>
                    <a:p>
                      <a:r>
                        <a:rPr sz="1400" b="0">
                          <a:solidFill>
                            <a:schemeClr val="tx1"/>
                          </a:solidFill>
                        </a:rPr>
                        <a:t>Exact; .sens restores models and instances byte for byte</a:t>
                      </a:r>
                    </a:p>
                  </a:txBody>
                  <a:tcPr marL="91440" marR="91440" marT="36576" marB="36576" anchor="ctr">
                    <a:solidFill>
                      <a:schemeClr val="bg2"/>
                    </a:solidFill>
                  </a:tcPr>
                </a:tc>
                <a:tc>
                  <a:txBody>
                    <a:bodyPr wrap="square"/>
                    <a:lstStyle/>
                    <a:p>
                      <a:r>
                        <a:rPr sz="1400" b="0">
                          <a:solidFill>
                            <a:schemeClr val="tx1"/>
                          </a:solidFill>
                        </a:rPr>
                        <a:t>E-179, E-440</a:t>
                      </a:r>
                    </a:p>
                  </a:txBody>
                  <a:tcPr marL="91440" marR="91440" marT="36576" marB="36576" anchor="ctr">
                    <a:solidFill>
                      <a:schemeClr val="bg2"/>
                    </a:solidFill>
                  </a:tcPr>
                </a:tc>
              </a:tr>
              <a:tr h="512064">
                <a:tc>
                  <a:txBody>
                    <a:bodyPr wrap="square"/>
                    <a:lstStyle/>
                    <a:p>
                      <a:r>
                        <a:rPr sz="1400" b="0">
                          <a:solidFill>
                            <a:schemeClr val="tx1"/>
                          </a:solidFill>
                        </a:rPr>
                        <a:t>.pz</a:t>
                      </a:r>
                    </a:p>
                  </a:txBody>
                  <a:tcPr marL="91440" marR="91440" marT="36576" marB="36576" anchor="ctr">
                    <a:solidFill>
                      <a:schemeClr val="bg1"/>
                    </a:solidFill>
                  </a:tcPr>
                </a:tc>
                <a:tc>
                  <a:txBody>
                    <a:bodyPr wrap="square"/>
                    <a:lstStyle/>
                    <a:p>
                      <a:r>
                        <a:rPr sz="1400" b="0">
                          <a:solidFill>
                            <a:schemeClr val="tx1"/>
                          </a:solidFill>
                        </a:rPr>
                        <a:t>Exact for linear devices, bit-identical to built-in twins; pzeig mode</a:t>
                      </a:r>
                    </a:p>
                  </a:txBody>
                  <a:tcPr marL="91440" marR="91440" marT="36576" marB="36576" anchor="ctr">
                    <a:solidFill>
                      <a:schemeClr val="bg1"/>
                    </a:solidFill>
                  </a:tcPr>
                </a:tc>
                <a:tc>
                  <a:txBody>
                    <a:bodyPr wrap="square"/>
                    <a:lstStyle/>
                    <a:p>
                      <a:r>
                        <a:rPr sz="1400" b="0">
                          <a:solidFill>
                            <a:schemeClr val="tx1"/>
                          </a:solidFill>
                        </a:rPr>
                        <a:t>E-171, E-173</a:t>
                      </a:r>
                    </a:p>
                  </a:txBody>
                  <a:tcPr marL="91440" marR="91440" marT="36576" marB="36576" anchor="ctr">
                    <a:solidFill>
                      <a:schemeClr val="bg1"/>
                    </a:solidFill>
                  </a:tcPr>
                </a:tc>
              </a:tr>
              <a:tr h="512064">
                <a:tc>
                  <a:txBody>
                    <a:bodyPr wrap="square"/>
                    <a:lstStyle/>
                    <a:p>
                      <a:r>
                        <a:rPr sz="1400" b="0">
                          <a:solidFill>
                            <a:schemeClr val="tx1"/>
                          </a:solidFill>
                        </a:rPr>
                        <a:t>.disto</a:t>
                      </a:r>
                    </a:p>
                  </a:txBody>
                  <a:tcPr marL="91440" marR="91440" marT="36576" marB="36576" anchor="ctr">
                    <a:solidFill>
                      <a:schemeClr val="bg2"/>
                    </a:solidFill>
                  </a:tcPr>
                </a:tc>
                <a:tc>
                  <a:txBody>
                    <a:bodyPr wrap="square"/>
                    <a:lstStyle/>
                    <a:p>
                      <a:r>
                        <a:rPr sz="1400" b="0">
                          <a:solidFill>
                            <a:schemeClr val="tx1"/>
                          </a:solidFill>
                        </a:rPr>
                        <a:t>Taylor tensors from the analytic Jacobian, no variable-count limit</a:t>
                      </a:r>
                    </a:p>
                  </a:txBody>
                  <a:tcPr marL="91440" marR="91440" marT="36576" marB="36576" anchor="ctr">
                    <a:solidFill>
                      <a:schemeClr val="bg2"/>
                    </a:solidFill>
                  </a:tcPr>
                </a:tc>
                <a:tc>
                  <a:txBody>
                    <a:bodyPr wrap="square"/>
                    <a:lstStyle/>
                    <a:p>
                      <a:r>
                        <a:rPr sz="1400" b="0">
                          <a:solidFill>
                            <a:schemeClr val="tx1"/>
                          </a:solidFill>
                        </a:rPr>
                        <a:t>E-352, E-359</a:t>
                      </a:r>
                    </a:p>
                  </a:txBody>
                  <a:tcPr marL="91440" marR="91440" marT="36576" marB="36576" anchor="ctr">
                    <a:solidFill>
                      <a:schemeClr val="bg2"/>
                    </a:solidFill>
                  </a:tcPr>
                </a:tc>
              </a:tr>
              <a:tr h="512064">
                <a:tc>
                  <a:txBody>
                    <a:bodyPr wrap="square"/>
                    <a:lstStyle/>
                    <a:p>
                      <a:r>
                        <a:rPr sz="1400" b="0">
                          <a:solidFill>
                            <a:schemeClr val="tx1"/>
                          </a:solidFill>
                        </a:rPr>
                        <a:t>.sp</a:t>
                      </a:r>
                    </a:p>
                  </a:txBody>
                  <a:tcPr marL="91440" marR="91440" marT="36576" marB="36576" anchor="ctr">
                    <a:solidFill>
                      <a:schemeClr val="bg1"/>
                    </a:solidFill>
                  </a:tcPr>
                </a:tc>
                <a:tc>
                  <a:txBody>
                    <a:bodyPr wrap="square"/>
                    <a:lstStyle/>
                    <a:p>
                      <a:r>
                        <a:rPr sz="1400" b="0">
                          <a:solidFill>
                            <a:schemeClr val="tx1"/>
                          </a:solidFill>
                        </a:rPr>
                        <a:t>Any port count; noise figure and noise parameters for 2-ports</a:t>
                      </a:r>
                    </a:p>
                  </a:txBody>
                  <a:tcPr marL="91440" marR="91440" marT="36576" marB="36576" anchor="ctr">
                    <a:solidFill>
                      <a:schemeClr val="bg1"/>
                    </a:solidFill>
                  </a:tcPr>
                </a:tc>
                <a:tc>
                  <a:txBody>
                    <a:bodyPr wrap="square"/>
                    <a:lstStyle/>
                    <a:p>
                      <a:r>
                        <a:rPr sz="1400" b="0">
                          <a:solidFill>
                            <a:schemeClr val="tx1"/>
                          </a:solidFill>
                        </a:rPr>
                        <a:t>E-63, E-202</a:t>
                      </a:r>
                    </a:p>
                  </a:txBody>
                  <a:tcPr marL="91440" marR="91440" marT="36576" marB="36576" anchor="ctr">
                    <a:solidFill>
                      <a:schemeClr val="bg1"/>
                    </a:solidFill>
                  </a:tcPr>
                </a:tc>
              </a:tr>
              <a:tr h="512064">
                <a:tc>
                  <a:txBody>
                    <a:bodyPr wrap="square"/>
                    <a:lstStyle/>
                    <a:p>
                      <a:r>
                        <a:rPr sz="1400" b="0">
                          <a:solidFill>
                            <a:schemeClr val="tx1"/>
                          </a:solidFill>
                        </a:rPr>
                        <a:t>PSS, PAC, Pnoise, PXF, HB, QPSS</a:t>
                      </a:r>
                    </a:p>
                  </a:txBody>
                  <a:tcPr marL="91440" marR="91440" marT="36576" marB="36576" anchor="ctr">
                    <a:solidFill>
                      <a:schemeClr val="bg2"/>
                    </a:solidFill>
                  </a:tcPr>
                </a:tc>
                <a:tc>
                  <a:txBody>
                    <a:bodyPr wrap="square"/>
                    <a:lstStyle/>
                    <a:p>
                      <a:r>
                        <a:rPr sz="1400" b="0">
                          <a:solidFill>
                            <a:schemeClr val="tx1"/>
                          </a:solidFill>
                        </a:rPr>
                        <a:t>The whole RF suite runs on OSDI devices</a:t>
                      </a:r>
                    </a:p>
                  </a:txBody>
                  <a:tcPr marL="91440" marR="91440" marT="36576" marB="36576" anchor="ctr">
                    <a:solidFill>
                      <a:schemeClr val="bg2"/>
                    </a:solidFill>
                  </a:tcPr>
                </a:tc>
                <a:tc>
                  <a:txBody>
                    <a:bodyPr wrap="square"/>
                    <a:lstStyle/>
                    <a:p>
                      <a:r>
                        <a:rPr sz="1400" b="0">
                          <a:solidFill>
                            <a:schemeClr val="tx1"/>
                          </a:solidFill>
                        </a:rPr>
                        <a:t>E-117 to E-154</a:t>
                      </a:r>
                    </a:p>
                  </a:txBody>
                  <a:tcPr marL="91440" marR="91440" marT="36576" marB="36576" anchor="ctr">
                    <a:solidFill>
                      <a:schemeClr val="bg2"/>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Standard analyses, extended</a:t>
            </a:r>
          </a:p>
        </p:txBody>
      </p:sp>
      <p:sp>
        <p:nvSpPr>
          <p:cNvPr id="3" name="Kicker"/>
          <p:cNvSpPr txBox="1"/>
          <p:nvPr/>
        </p:nvSpPr>
        <p:spPr>
          <a:xfrm>
            <a:off x="548640" y="274320"/>
            <a:ext cx="11094415" cy="274320"/>
          </a:xfrm>
          <a:prstGeom prst="rect">
            <a:avLst/>
          </a:prstGeom>
          <a:noFill/>
        </p:spPr>
        <p:txBody>
          <a:bodyPr wrap="square" lIns="0" rIns="0" tIns="0" bIns="0" anchor="t">
            <a:spAutoFit/>
          </a:bodyPr>
          <a:lstStyle/>
          <a:p>
            <a:pPr algn="l"/>
            <a:r>
              <a:rPr sz="1100" b="1" i="0" spc="120">
                <a:solidFill>
                  <a:schemeClr val="accent2">
                    <a:lumMod val="75000"/>
                  </a:schemeClr>
                </a:solidFill>
              </a:rPr>
              <a:t>SIMULATOR · 84 ENHANCEMENTS</a:t>
            </a:r>
          </a:p>
        </p:txBody>
      </p:sp>
      <p:sp>
        <p:nvSpPr>
          <p:cNvPr id="4" name="Card Device sweeps"/>
          <p:cNvSpPr/>
          <p:nvPr/>
        </p:nvSpPr>
        <p:spPr>
          <a:xfrm>
            <a:off x="548640" y="1417320"/>
            <a:ext cx="3360420" cy="1493519"/>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Card title Device sweeps"/>
          <p:cNvSpPr txBox="1"/>
          <p:nvPr/>
        </p:nvSpPr>
        <p:spPr>
          <a:xfrm>
            <a:off x="713232" y="1536192"/>
            <a:ext cx="3031236" cy="292608"/>
          </a:xfrm>
          <a:prstGeom prst="rect">
            <a:avLst/>
          </a:prstGeom>
          <a:noFill/>
        </p:spPr>
        <p:txBody>
          <a:bodyPr wrap="square" lIns="0" rIns="0" tIns="0" bIns="0" anchor="ctr">
            <a:spAutoFit/>
          </a:bodyPr>
          <a:lstStyle/>
          <a:p>
            <a:pPr algn="l"/>
            <a:r>
              <a:rPr sz="1500" b="1" i="0">
                <a:solidFill>
                  <a:schemeClr val="tx2"/>
                </a:solidFill>
              </a:rPr>
              <a:t>Device sweeps</a:t>
            </a:r>
          </a:p>
        </p:txBody>
      </p:sp>
      <p:sp>
        <p:nvSpPr>
          <p:cNvPr id="6" name="Card body Device sweeps"/>
          <p:cNvSpPr txBox="1"/>
          <p:nvPr/>
        </p:nvSpPr>
        <p:spPr>
          <a:xfrm>
            <a:off x="713232" y="1874519"/>
            <a:ext cx="3031236" cy="652271"/>
          </a:xfrm>
          <a:prstGeom prst="rect">
            <a:avLst/>
          </a:prstGeom>
          <a:noFill/>
        </p:spPr>
        <p:txBody>
          <a:bodyPr wrap="square" lIns="0" rIns="0" tIns="0" bIns="0" anchor="t">
            <a:spAutoFit/>
          </a:bodyPr>
          <a:lstStyle/>
          <a:p>
            <a:pPr algn="l"/>
            <a:r>
              <a:rPr sz="1400" b="0" i="0">
                <a:solidFill>
                  <a:schemeClr val="tx1"/>
                </a:solidFill>
              </a:rPr>
              <a:t>.dc over @n1[r], model parameters @mm[g] and wildcards @*[p]; lin, dec, oct</a:t>
            </a:r>
          </a:p>
        </p:txBody>
      </p:sp>
      <p:sp>
        <p:nvSpPr>
          <p:cNvPr id="7" name="Chip E-62">
            <a:hlinkClick r:id="rId3"/>
          </p:cNvPr>
          <p:cNvSpPr/>
          <p:nvPr/>
        </p:nvSpPr>
        <p:spPr>
          <a:xfrm>
            <a:off x="713232" y="2581656"/>
            <a:ext cx="594360" cy="219456"/>
          </a:xfrm>
          <a:prstGeom prst="roundRect">
            <a:avLst>
              <a:gd name="adj" fmla="val 50000"/>
            </a:avLst>
          </a:prstGeom>
          <a:solidFill>
            <a:schemeClr val="accent2">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2">
                    <a:lumMod val="65000"/>
                  </a:schemeClr>
                </a:solidFill>
              </a:rPr>
              <a:t>E-62</a:t>
            </a:r>
          </a:p>
        </p:txBody>
      </p:sp>
      <p:sp>
        <p:nvSpPr>
          <p:cNvPr id="8" name="Chip E-534">
            <a:hlinkClick r:id="rId4"/>
          </p:cNvPr>
          <p:cNvSpPr/>
          <p:nvPr/>
        </p:nvSpPr>
        <p:spPr>
          <a:xfrm>
            <a:off x="1362456" y="2581656"/>
            <a:ext cx="662940" cy="219456"/>
          </a:xfrm>
          <a:prstGeom prst="roundRect">
            <a:avLst>
              <a:gd name="adj" fmla="val 50000"/>
            </a:avLst>
          </a:prstGeom>
          <a:solidFill>
            <a:schemeClr val="accent2">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2">
                    <a:lumMod val="65000"/>
                  </a:schemeClr>
                </a:solidFill>
              </a:rPr>
              <a:t>E-534</a:t>
            </a:r>
          </a:p>
        </p:txBody>
      </p:sp>
      <p:sp>
        <p:nvSpPr>
          <p:cNvPr id="9" name="Card .tf and .sens"/>
          <p:cNvSpPr/>
          <p:nvPr/>
        </p:nvSpPr>
        <p:spPr>
          <a:xfrm>
            <a:off x="4091939" y="1417320"/>
            <a:ext cx="3360420" cy="1493519"/>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Card title .tf and .sens"/>
          <p:cNvSpPr txBox="1"/>
          <p:nvPr/>
        </p:nvSpPr>
        <p:spPr>
          <a:xfrm>
            <a:off x="4256531" y="1536192"/>
            <a:ext cx="3031236" cy="292608"/>
          </a:xfrm>
          <a:prstGeom prst="rect">
            <a:avLst/>
          </a:prstGeom>
          <a:noFill/>
        </p:spPr>
        <p:txBody>
          <a:bodyPr wrap="square" lIns="0" rIns="0" tIns="0" bIns="0" anchor="ctr">
            <a:spAutoFit/>
          </a:bodyPr>
          <a:lstStyle/>
          <a:p>
            <a:pPr algn="l"/>
            <a:r>
              <a:rPr sz="1500" b="1" i="0">
                <a:solidFill>
                  <a:schemeClr val="tx2"/>
                </a:solidFill>
              </a:rPr>
              <a:t>.tf and .sens</a:t>
            </a:r>
          </a:p>
        </p:txBody>
      </p:sp>
      <p:sp>
        <p:nvSpPr>
          <p:cNvPr id="11" name="Card body .tf and .sens"/>
          <p:cNvSpPr txBox="1"/>
          <p:nvPr/>
        </p:nvSpPr>
        <p:spPr>
          <a:xfrm>
            <a:off x="4256531" y="1874519"/>
            <a:ext cx="3031236" cy="652271"/>
          </a:xfrm>
          <a:prstGeom prst="rect">
            <a:avLst/>
          </a:prstGeom>
          <a:noFill/>
        </p:spPr>
        <p:txBody>
          <a:bodyPr wrap="square" lIns="0" rIns="0" tIns="0" bIns="0" anchor="t">
            <a:spAutoFit/>
          </a:bodyPr>
          <a:lstStyle/>
          <a:p>
            <a:pPr algn="l"/>
            <a:r>
              <a:rPr sz="1400" b="0" i="0">
                <a:solidFill>
                  <a:schemeClr val="tx1"/>
                </a:solidFill>
              </a:rPr>
              <a:t>Exact against analytic derivatives; the circuit is left as found</a:t>
            </a:r>
          </a:p>
        </p:txBody>
      </p:sp>
      <p:sp>
        <p:nvSpPr>
          <p:cNvPr id="12" name="Chip E-179">
            <a:hlinkClick r:id="rId5"/>
          </p:cNvPr>
          <p:cNvSpPr/>
          <p:nvPr/>
        </p:nvSpPr>
        <p:spPr>
          <a:xfrm>
            <a:off x="4256531" y="2581656"/>
            <a:ext cx="662940" cy="219456"/>
          </a:xfrm>
          <a:prstGeom prst="roundRect">
            <a:avLst>
              <a:gd name="adj" fmla="val 50000"/>
            </a:avLst>
          </a:prstGeom>
          <a:solidFill>
            <a:schemeClr val="accent2">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2">
                    <a:lumMod val="65000"/>
                  </a:schemeClr>
                </a:solidFill>
              </a:rPr>
              <a:t>E-179</a:t>
            </a:r>
          </a:p>
        </p:txBody>
      </p:sp>
      <p:sp>
        <p:nvSpPr>
          <p:cNvPr id="13" name="Chip E-685">
            <a:hlinkClick r:id="rId6"/>
          </p:cNvPr>
          <p:cNvSpPr/>
          <p:nvPr/>
        </p:nvSpPr>
        <p:spPr>
          <a:xfrm>
            <a:off x="4974336" y="2581656"/>
            <a:ext cx="662940" cy="219456"/>
          </a:xfrm>
          <a:prstGeom prst="roundRect">
            <a:avLst>
              <a:gd name="adj" fmla="val 50000"/>
            </a:avLst>
          </a:prstGeom>
          <a:solidFill>
            <a:schemeClr val="accent2">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2">
                    <a:lumMod val="65000"/>
                  </a:schemeClr>
                </a:solidFill>
              </a:rPr>
              <a:t>E-685</a:t>
            </a:r>
          </a:p>
        </p:txBody>
      </p:sp>
      <p:sp>
        <p:nvSpPr>
          <p:cNvPr id="14" name="Card .pz"/>
          <p:cNvSpPr/>
          <p:nvPr/>
        </p:nvSpPr>
        <p:spPr>
          <a:xfrm>
            <a:off x="548640" y="3093719"/>
            <a:ext cx="3360420" cy="1493519"/>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Card title .pz"/>
          <p:cNvSpPr txBox="1"/>
          <p:nvPr/>
        </p:nvSpPr>
        <p:spPr>
          <a:xfrm>
            <a:off x="713232" y="3212591"/>
            <a:ext cx="3031236" cy="292608"/>
          </a:xfrm>
          <a:prstGeom prst="rect">
            <a:avLst/>
          </a:prstGeom>
          <a:noFill/>
        </p:spPr>
        <p:txBody>
          <a:bodyPr wrap="square" lIns="0" rIns="0" tIns="0" bIns="0" anchor="ctr">
            <a:spAutoFit/>
          </a:bodyPr>
          <a:lstStyle/>
          <a:p>
            <a:pPr algn="l"/>
            <a:r>
              <a:rPr sz="1500" b="1" i="0">
                <a:solidFill>
                  <a:schemeClr val="tx2"/>
                </a:solidFill>
              </a:rPr>
              <a:t>.pz</a:t>
            </a:r>
          </a:p>
        </p:txBody>
      </p:sp>
      <p:sp>
        <p:nvSpPr>
          <p:cNvPr id="16" name="Card body .pz"/>
          <p:cNvSpPr txBox="1"/>
          <p:nvPr/>
        </p:nvSpPr>
        <p:spPr>
          <a:xfrm>
            <a:off x="713232" y="3550919"/>
            <a:ext cx="3031236" cy="652271"/>
          </a:xfrm>
          <a:prstGeom prst="rect">
            <a:avLst/>
          </a:prstGeom>
          <a:noFill/>
        </p:spPr>
        <p:txBody>
          <a:bodyPr wrap="square" lIns="0" rIns="0" tIns="0" bIns="0" anchor="t">
            <a:spAutoFit/>
          </a:bodyPr>
          <a:lstStyle/>
          <a:p>
            <a:pPr algn="l"/>
            <a:r>
              <a:rPr sz="1400" b="0" i="0">
                <a:solidFill>
                  <a:schemeClr val="tx1"/>
                </a:solidFill>
              </a:rPr>
              <a:t>Exact for linear devices; eigenvalue pole-zero pzeig; KLU complex determinant</a:t>
            </a:r>
          </a:p>
        </p:txBody>
      </p:sp>
      <p:sp>
        <p:nvSpPr>
          <p:cNvPr id="17" name="Chip E-173">
            <a:hlinkClick r:id="rId7"/>
          </p:cNvPr>
          <p:cNvSpPr/>
          <p:nvPr/>
        </p:nvSpPr>
        <p:spPr>
          <a:xfrm>
            <a:off x="713232" y="4258055"/>
            <a:ext cx="662940" cy="219456"/>
          </a:xfrm>
          <a:prstGeom prst="roundRect">
            <a:avLst>
              <a:gd name="adj" fmla="val 50000"/>
            </a:avLst>
          </a:prstGeom>
          <a:solidFill>
            <a:schemeClr val="accent2">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2">
                    <a:lumMod val="65000"/>
                  </a:schemeClr>
                </a:solidFill>
              </a:rPr>
              <a:t>E-173</a:t>
            </a:r>
          </a:p>
        </p:txBody>
      </p:sp>
      <p:sp>
        <p:nvSpPr>
          <p:cNvPr id="18" name="Chip E-171">
            <a:hlinkClick r:id="rId8"/>
          </p:cNvPr>
          <p:cNvSpPr/>
          <p:nvPr/>
        </p:nvSpPr>
        <p:spPr>
          <a:xfrm>
            <a:off x="1431036" y="4258055"/>
            <a:ext cx="662940" cy="219456"/>
          </a:xfrm>
          <a:prstGeom prst="roundRect">
            <a:avLst>
              <a:gd name="adj" fmla="val 50000"/>
            </a:avLst>
          </a:prstGeom>
          <a:solidFill>
            <a:schemeClr val="accent2">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2">
                    <a:lumMod val="65000"/>
                  </a:schemeClr>
                </a:solidFill>
              </a:rPr>
              <a:t>E-171</a:t>
            </a:r>
          </a:p>
        </p:txBody>
      </p:sp>
      <p:sp>
        <p:nvSpPr>
          <p:cNvPr id="19" name="Card .disto"/>
          <p:cNvSpPr/>
          <p:nvPr/>
        </p:nvSpPr>
        <p:spPr>
          <a:xfrm>
            <a:off x="4091939" y="3093719"/>
            <a:ext cx="3360420" cy="1493519"/>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Card title .disto"/>
          <p:cNvSpPr txBox="1"/>
          <p:nvPr/>
        </p:nvSpPr>
        <p:spPr>
          <a:xfrm>
            <a:off x="4256531" y="3212591"/>
            <a:ext cx="3031236" cy="292608"/>
          </a:xfrm>
          <a:prstGeom prst="rect">
            <a:avLst/>
          </a:prstGeom>
          <a:noFill/>
        </p:spPr>
        <p:txBody>
          <a:bodyPr wrap="square" lIns="0" rIns="0" tIns="0" bIns="0" anchor="ctr">
            <a:spAutoFit/>
          </a:bodyPr>
          <a:lstStyle/>
          <a:p>
            <a:pPr algn="l"/>
            <a:r>
              <a:rPr sz="1500" b="1" i="0">
                <a:solidFill>
                  <a:schemeClr val="tx2"/>
                </a:solidFill>
              </a:rPr>
              <a:t>.disto</a:t>
            </a:r>
          </a:p>
        </p:txBody>
      </p:sp>
      <p:sp>
        <p:nvSpPr>
          <p:cNvPr id="21" name="Card body .disto"/>
          <p:cNvSpPr txBox="1"/>
          <p:nvPr/>
        </p:nvSpPr>
        <p:spPr>
          <a:xfrm>
            <a:off x="4256531" y="3550919"/>
            <a:ext cx="3031236" cy="652271"/>
          </a:xfrm>
          <a:prstGeom prst="rect">
            <a:avLst/>
          </a:prstGeom>
          <a:noFill/>
        </p:spPr>
        <p:txBody>
          <a:bodyPr wrap="square" lIns="0" rIns="0" tIns="0" bIns="0" anchor="t">
            <a:spAutoFit/>
          </a:bodyPr>
          <a:lstStyle/>
          <a:p>
            <a:pPr algn="l"/>
            <a:r>
              <a:rPr sz="1400" b="0" i="0">
                <a:solidFill>
                  <a:schemeClr val="tx1"/>
                </a:solidFill>
              </a:rPr>
              <a:t>Verilog-A distortion via Taylor tensors; proven exact against harmonic balance</a:t>
            </a:r>
          </a:p>
        </p:txBody>
      </p:sp>
      <p:sp>
        <p:nvSpPr>
          <p:cNvPr id="22" name="Chip E-352">
            <a:hlinkClick r:id="rId9"/>
          </p:cNvPr>
          <p:cNvSpPr/>
          <p:nvPr/>
        </p:nvSpPr>
        <p:spPr>
          <a:xfrm>
            <a:off x="4256531" y="4258055"/>
            <a:ext cx="662940" cy="219456"/>
          </a:xfrm>
          <a:prstGeom prst="roundRect">
            <a:avLst>
              <a:gd name="adj" fmla="val 50000"/>
            </a:avLst>
          </a:prstGeom>
          <a:solidFill>
            <a:schemeClr val="accent2">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2">
                    <a:lumMod val="65000"/>
                  </a:schemeClr>
                </a:solidFill>
              </a:rPr>
              <a:t>E-352</a:t>
            </a:r>
          </a:p>
        </p:txBody>
      </p:sp>
      <p:sp>
        <p:nvSpPr>
          <p:cNvPr id="23" name="Chip E-255">
            <a:hlinkClick r:id="rId10"/>
          </p:cNvPr>
          <p:cNvSpPr/>
          <p:nvPr/>
        </p:nvSpPr>
        <p:spPr>
          <a:xfrm>
            <a:off x="4974336" y="4258055"/>
            <a:ext cx="662940" cy="219456"/>
          </a:xfrm>
          <a:prstGeom prst="roundRect">
            <a:avLst>
              <a:gd name="adj" fmla="val 50000"/>
            </a:avLst>
          </a:prstGeom>
          <a:solidFill>
            <a:schemeClr val="accent2">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2">
                    <a:lumMod val="65000"/>
                  </a:schemeClr>
                </a:solidFill>
              </a:rPr>
              <a:t>E-255</a:t>
            </a:r>
          </a:p>
        </p:txBody>
      </p:sp>
      <p:sp>
        <p:nvSpPr>
          <p:cNvPr id="24" name="Card stb"/>
          <p:cNvSpPr/>
          <p:nvPr/>
        </p:nvSpPr>
        <p:spPr>
          <a:xfrm>
            <a:off x="548640" y="4770119"/>
            <a:ext cx="3360420" cy="1493519"/>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Card title stb"/>
          <p:cNvSpPr txBox="1"/>
          <p:nvPr/>
        </p:nvSpPr>
        <p:spPr>
          <a:xfrm>
            <a:off x="713232" y="4888991"/>
            <a:ext cx="3031236" cy="292608"/>
          </a:xfrm>
          <a:prstGeom prst="rect">
            <a:avLst/>
          </a:prstGeom>
          <a:noFill/>
        </p:spPr>
        <p:txBody>
          <a:bodyPr wrap="square" lIns="0" rIns="0" tIns="0" bIns="0" anchor="ctr">
            <a:spAutoFit/>
          </a:bodyPr>
          <a:lstStyle/>
          <a:p>
            <a:pPr algn="l"/>
            <a:r>
              <a:rPr sz="1500" b="1" i="0">
                <a:solidFill>
                  <a:schemeClr val="tx2"/>
                </a:solidFill>
              </a:rPr>
              <a:t>stb</a:t>
            </a:r>
          </a:p>
        </p:txBody>
      </p:sp>
      <p:sp>
        <p:nvSpPr>
          <p:cNvPr id="26" name="Card body stb"/>
          <p:cNvSpPr txBox="1"/>
          <p:nvPr/>
        </p:nvSpPr>
        <p:spPr>
          <a:xfrm>
            <a:off x="713232" y="5227319"/>
            <a:ext cx="3031236" cy="652271"/>
          </a:xfrm>
          <a:prstGeom prst="rect">
            <a:avLst/>
          </a:prstGeom>
          <a:noFill/>
        </p:spPr>
        <p:txBody>
          <a:bodyPr wrap="square" lIns="0" rIns="0" tIns="0" bIns="0" anchor="t">
            <a:spAutoFit/>
          </a:bodyPr>
          <a:lstStyle/>
          <a:p>
            <a:pPr algn="l"/>
            <a:r>
              <a:rPr sz="1400" b="0" i="0">
                <a:solidFill>
                  <a:schemeClr val="tx1"/>
                </a:solidFill>
              </a:rPr>
              <a:t>Loop gain with phase and gain margins; .meas ac margins and batch vdb</a:t>
            </a:r>
          </a:p>
        </p:txBody>
      </p:sp>
      <p:sp>
        <p:nvSpPr>
          <p:cNvPr id="27" name="Chip E-198">
            <a:hlinkClick r:id="rId11"/>
          </p:cNvPr>
          <p:cNvSpPr/>
          <p:nvPr/>
        </p:nvSpPr>
        <p:spPr>
          <a:xfrm>
            <a:off x="713232" y="5934455"/>
            <a:ext cx="662940" cy="219456"/>
          </a:xfrm>
          <a:prstGeom prst="roundRect">
            <a:avLst>
              <a:gd name="adj" fmla="val 50000"/>
            </a:avLst>
          </a:prstGeom>
          <a:solidFill>
            <a:schemeClr val="accent2">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2">
                    <a:lumMod val="65000"/>
                  </a:schemeClr>
                </a:solidFill>
              </a:rPr>
              <a:t>E-198</a:t>
            </a:r>
          </a:p>
        </p:txBody>
      </p:sp>
      <p:sp>
        <p:nvSpPr>
          <p:cNvPr id="28" name="Chip E-203">
            <a:hlinkClick r:id="rId12"/>
          </p:cNvPr>
          <p:cNvSpPr/>
          <p:nvPr/>
        </p:nvSpPr>
        <p:spPr>
          <a:xfrm>
            <a:off x="1431036" y="5934455"/>
            <a:ext cx="662940" cy="219456"/>
          </a:xfrm>
          <a:prstGeom prst="roundRect">
            <a:avLst>
              <a:gd name="adj" fmla="val 50000"/>
            </a:avLst>
          </a:prstGeom>
          <a:solidFill>
            <a:schemeClr val="accent2">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2">
                    <a:lumMod val="65000"/>
                  </a:schemeClr>
                </a:solidFill>
              </a:rPr>
              <a:t>E-203</a:t>
            </a:r>
          </a:p>
        </p:txBody>
      </p:sp>
      <p:sp>
        <p:nvSpPr>
          <p:cNvPr id="29" name="Card Measurements"/>
          <p:cNvSpPr/>
          <p:nvPr/>
        </p:nvSpPr>
        <p:spPr>
          <a:xfrm>
            <a:off x="4091939" y="4770119"/>
            <a:ext cx="3360420" cy="1493519"/>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Card title Measurements"/>
          <p:cNvSpPr txBox="1"/>
          <p:nvPr/>
        </p:nvSpPr>
        <p:spPr>
          <a:xfrm>
            <a:off x="4256531" y="4888991"/>
            <a:ext cx="3031236" cy="292608"/>
          </a:xfrm>
          <a:prstGeom prst="rect">
            <a:avLst/>
          </a:prstGeom>
          <a:noFill/>
        </p:spPr>
        <p:txBody>
          <a:bodyPr wrap="square" lIns="0" rIns="0" tIns="0" bIns="0" anchor="ctr">
            <a:spAutoFit/>
          </a:bodyPr>
          <a:lstStyle/>
          <a:p>
            <a:pPr algn="l"/>
            <a:r>
              <a:rPr sz="1500" b="1" i="0">
                <a:solidFill>
                  <a:schemeClr val="tx2"/>
                </a:solidFill>
              </a:rPr>
              <a:t>Measurements</a:t>
            </a:r>
          </a:p>
        </p:txBody>
      </p:sp>
      <p:sp>
        <p:nvSpPr>
          <p:cNvPr id="31" name="Card body Measurements"/>
          <p:cNvSpPr txBox="1"/>
          <p:nvPr/>
        </p:nvSpPr>
        <p:spPr>
          <a:xfrm>
            <a:off x="4256531" y="5227319"/>
            <a:ext cx="3031236" cy="652271"/>
          </a:xfrm>
          <a:prstGeom prst="rect">
            <a:avLst/>
          </a:prstGeom>
          <a:noFill/>
        </p:spPr>
        <p:txBody>
          <a:bodyPr wrap="square" lIns="0" rIns="0" tIns="0" bIns="0" anchor="t">
            <a:spAutoFit/>
          </a:bodyPr>
          <a:lstStyle/>
          <a:p>
            <a:pPr algn="l"/>
            <a:r>
              <a:rPr sz="1400" b="0" i="0">
                <a:solidFill>
                  <a:schemeClr val="tx1"/>
                </a:solidFill>
              </a:rPr>
              <a:t>.meas param and expr in control blocks; avg, integ and rms windows clipped</a:t>
            </a:r>
          </a:p>
        </p:txBody>
      </p:sp>
      <p:sp>
        <p:nvSpPr>
          <p:cNvPr id="32" name="Chip E-311">
            <a:hlinkClick r:id="rId13"/>
          </p:cNvPr>
          <p:cNvSpPr/>
          <p:nvPr/>
        </p:nvSpPr>
        <p:spPr>
          <a:xfrm>
            <a:off x="4256531" y="5934455"/>
            <a:ext cx="662940" cy="219456"/>
          </a:xfrm>
          <a:prstGeom prst="roundRect">
            <a:avLst>
              <a:gd name="adj" fmla="val 50000"/>
            </a:avLst>
          </a:prstGeom>
          <a:solidFill>
            <a:schemeClr val="accent2">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2">
                    <a:lumMod val="65000"/>
                  </a:schemeClr>
                </a:solidFill>
              </a:rPr>
              <a:t>E-311</a:t>
            </a:r>
          </a:p>
        </p:txBody>
      </p:sp>
      <p:sp>
        <p:nvSpPr>
          <p:cNvPr id="33" name="Chip E-302">
            <a:hlinkClick r:id="rId14"/>
          </p:cNvPr>
          <p:cNvSpPr/>
          <p:nvPr/>
        </p:nvSpPr>
        <p:spPr>
          <a:xfrm>
            <a:off x="4974336" y="5934455"/>
            <a:ext cx="662940" cy="219456"/>
          </a:xfrm>
          <a:prstGeom prst="roundRect">
            <a:avLst>
              <a:gd name="adj" fmla="val 50000"/>
            </a:avLst>
          </a:prstGeom>
          <a:solidFill>
            <a:schemeClr val="accent2">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2">
                    <a:lumMod val="65000"/>
                  </a:schemeClr>
                </a:solidFill>
              </a:rPr>
              <a:t>E-302</a:t>
            </a:r>
          </a:p>
        </p:txBody>
      </p:sp>
      <p:pic>
        <p:nvPicPr>
          <p:cNvPr id="34" name="Plot nested_sweep.png" descr="nested_sweep.png"/>
          <p:cNvPicPr>
            <a:picLocks noChangeAspect="1"/>
          </p:cNvPicPr>
          <p:nvPr/>
        </p:nvPicPr>
        <p:blipFill>
          <a:blip r:embed="rId15"/>
          <a:stretch>
            <a:fillRect/>
          </a:stretch>
        </p:blipFill>
        <p:spPr>
          <a:xfrm>
            <a:off x="7726679" y="1417320"/>
            <a:ext cx="3913632" cy="2515906"/>
          </a:xfrm>
          <a:prstGeom prst="rect">
            <a:avLst/>
          </a:prstGeom>
          <a:ln w="9525">
            <a:solidFill>
              <a:schemeClr val="bg2">
                <a:lumMod val="90000"/>
              </a:schemeClr>
            </a:solidFill>
          </a:ln>
        </p:spPr>
      </p:pic>
      <p:sp>
        <p:nvSpPr>
          <p:cNvPr id="35" name="Caption nested_sweep.png"/>
          <p:cNvSpPr txBox="1"/>
          <p:nvPr/>
        </p:nvSpPr>
        <p:spPr>
          <a:xfrm>
            <a:off x="7726679" y="4024666"/>
            <a:ext cx="3913632" cy="411480"/>
          </a:xfrm>
          <a:prstGeom prst="rect">
            <a:avLst/>
          </a:prstGeom>
          <a:noFill/>
        </p:spPr>
        <p:txBody>
          <a:bodyPr wrap="square" lIns="0" rIns="0" tIns="0" bIns="0" anchor="t">
            <a:spAutoFit/>
          </a:bodyPr>
          <a:lstStyle/>
          <a:p>
            <a:pPr algn="l"/>
            <a:r>
              <a:rPr sz="1100" b="0" i="1">
                <a:solidFill>
                  <a:schemeClr val="accent3"/>
                </a:solidFill>
              </a:rPr>
              <a:t>.dc over an OSDI instance parameter inside a source sweep (examples/analyses_examples)</a:t>
            </a:r>
          </a:p>
        </p:txBody>
      </p:sp>
      <p:pic>
        <p:nvPicPr>
          <p:cNvPr id="36" name="Plot pzeig.png" descr="pzeig.png"/>
          <p:cNvPicPr>
            <a:picLocks noChangeAspect="1"/>
          </p:cNvPicPr>
          <p:nvPr/>
        </p:nvPicPr>
        <p:blipFill>
          <a:blip r:embed="rId16"/>
          <a:stretch>
            <a:fillRect/>
          </a:stretch>
        </p:blipFill>
        <p:spPr>
          <a:xfrm>
            <a:off x="7979986" y="4434840"/>
            <a:ext cx="3407019" cy="1417320"/>
          </a:xfrm>
          <a:prstGeom prst="rect">
            <a:avLst/>
          </a:prstGeom>
          <a:ln w="9525">
            <a:solidFill>
              <a:schemeClr val="bg2">
                <a:lumMod val="90000"/>
              </a:schemeClr>
            </a:solidFill>
          </a:ln>
        </p:spPr>
      </p:pic>
      <p:sp>
        <p:nvSpPr>
          <p:cNvPr id="37" name="Caption pzeig.png"/>
          <p:cNvSpPr txBox="1"/>
          <p:nvPr/>
        </p:nvSpPr>
        <p:spPr>
          <a:xfrm>
            <a:off x="7726679" y="5943599"/>
            <a:ext cx="3913632" cy="365760"/>
          </a:xfrm>
          <a:prstGeom prst="rect">
            <a:avLst/>
          </a:prstGeom>
          <a:noFill/>
        </p:spPr>
        <p:txBody>
          <a:bodyPr wrap="square" lIns="0" rIns="0" tIns="0" bIns="0" anchor="t">
            <a:spAutoFit/>
          </a:bodyPr>
          <a:lstStyle/>
          <a:p>
            <a:pPr algn="l"/>
            <a:r>
              <a:rPr sz="1100" b="0" i="1">
                <a:solidFill>
                  <a:schemeClr val="accent3"/>
                </a:solidFill>
              </a:rPr>
              <a:t>pzeig: all poles of a 10-section RC ladder, exact (examples/pzeig_examples)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RF periodic steady-state suite</a:t>
            </a:r>
          </a:p>
        </p:txBody>
      </p:sp>
      <p:sp>
        <p:nvSpPr>
          <p:cNvPr id="3" name="Kicker"/>
          <p:cNvSpPr txBox="1"/>
          <p:nvPr/>
        </p:nvSpPr>
        <p:spPr>
          <a:xfrm>
            <a:off x="548640" y="274320"/>
            <a:ext cx="11094415" cy="274320"/>
          </a:xfrm>
          <a:prstGeom prst="rect">
            <a:avLst/>
          </a:prstGeom>
          <a:noFill/>
        </p:spPr>
        <p:txBody>
          <a:bodyPr wrap="square" lIns="0" rIns="0" tIns="0" bIns="0" anchor="t">
            <a:spAutoFit/>
          </a:bodyPr>
          <a:lstStyle/>
          <a:p>
            <a:pPr algn="l"/>
            <a:r>
              <a:rPr sz="1100" b="1" i="0" spc="120">
                <a:solidFill>
                  <a:schemeClr val="accent2">
                    <a:lumMod val="75000"/>
                  </a:schemeClr>
                </a:solidFill>
              </a:rPr>
              <a:t>SIMULATOR · 62 ENHANCEMENTS</a:t>
            </a:r>
          </a:p>
        </p:txBody>
      </p:sp>
      <p:sp>
        <p:nvSpPr>
          <p:cNvPr id="4" name="Lane PSS"/>
          <p:cNvSpPr/>
          <p:nvPr/>
        </p:nvSpPr>
        <p:spPr>
          <a:xfrm>
            <a:off x="548640" y="1417320"/>
            <a:ext cx="1737360" cy="1188720"/>
          </a:xfrm>
          <a:prstGeom prst="roundRect">
            <a:avLst>
              <a:gd name="adj" fmla="val 6000"/>
            </a:avLst>
          </a:prstGeom>
          <a:solidFill>
            <a:schemeClr val="accent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Lane title PSS"/>
          <p:cNvSpPr txBox="1"/>
          <p:nvPr/>
        </p:nvSpPr>
        <p:spPr>
          <a:xfrm>
            <a:off x="685800" y="1554480"/>
            <a:ext cx="1463040" cy="365760"/>
          </a:xfrm>
          <a:prstGeom prst="rect">
            <a:avLst/>
          </a:prstGeom>
          <a:noFill/>
        </p:spPr>
        <p:txBody>
          <a:bodyPr wrap="square" lIns="0" rIns="0" tIns="0" bIns="0" anchor="t">
            <a:spAutoFit/>
          </a:bodyPr>
          <a:lstStyle/>
          <a:p>
            <a:pPr algn="l"/>
            <a:r>
              <a:rPr sz="1800" b="1" i="0">
                <a:solidFill>
                  <a:schemeClr val="bg1"/>
                </a:solidFill>
              </a:rPr>
              <a:t>PSS</a:t>
            </a:r>
          </a:p>
        </p:txBody>
      </p:sp>
      <p:sp>
        <p:nvSpPr>
          <p:cNvPr id="6" name="Lane text PSS"/>
          <p:cNvSpPr txBox="1"/>
          <p:nvPr/>
        </p:nvSpPr>
        <p:spPr>
          <a:xfrm>
            <a:off x="685800" y="1947672"/>
            <a:ext cx="1463040" cy="594360"/>
          </a:xfrm>
          <a:prstGeom prst="rect">
            <a:avLst/>
          </a:prstGeom>
          <a:noFill/>
        </p:spPr>
        <p:txBody>
          <a:bodyPr wrap="square" lIns="0" rIns="0" tIns="0" bIns="0" anchor="t">
            <a:spAutoFit/>
          </a:bodyPr>
          <a:lstStyle/>
          <a:p>
            <a:pPr algn="l"/>
            <a:r>
              <a:rPr sz="1300" b="0" i="0">
                <a:solidFill>
                  <a:schemeClr val="bg1"/>
                </a:solidFill>
              </a:rPr>
              <a:t>shooting, driven mode</a:t>
            </a:r>
          </a:p>
        </p:txBody>
      </p:sp>
      <p:sp>
        <p:nvSpPr>
          <p:cNvPr id="7" name="Arrow"/>
          <p:cNvSpPr/>
          <p:nvPr/>
        </p:nvSpPr>
        <p:spPr>
          <a:xfrm>
            <a:off x="2377440" y="1874519"/>
            <a:ext cx="274320" cy="274320"/>
          </a:xfrm>
          <a:prstGeom prst="rightArrow">
            <a:avLst/>
          </a:prstGeom>
          <a:solidFill>
            <a:schemeClr val="accent3">
              <a:lumMod val="65000"/>
              <a:lumOff val="3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ut PAC"/>
          <p:cNvSpPr/>
          <p:nvPr/>
        </p:nvSpPr>
        <p:spPr>
          <a:xfrm>
            <a:off x="2743200" y="1417320"/>
            <a:ext cx="1074420" cy="749808"/>
          </a:xfrm>
          <a:prstGeom prst="roundRect">
            <a:avLst>
              <a:gd name="adj" fmla="val 6000"/>
            </a:avLst>
          </a:prstGeom>
          <a:solidFill>
            <a:schemeClr val="accent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500" b="1">
                <a:solidFill>
                  <a:schemeClr val="accent2">
                    <a:lumMod val="55000"/>
                  </a:schemeClr>
                </a:solidFill>
              </a:rPr>
              <a:t>PAC</a:t>
            </a:r>
          </a:p>
        </p:txBody>
      </p:sp>
      <p:sp>
        <p:nvSpPr>
          <p:cNvPr id="9" name="Out Pnoise"/>
          <p:cNvSpPr/>
          <p:nvPr/>
        </p:nvSpPr>
        <p:spPr>
          <a:xfrm>
            <a:off x="3954780" y="1417320"/>
            <a:ext cx="1074420" cy="749808"/>
          </a:xfrm>
          <a:prstGeom prst="roundRect">
            <a:avLst>
              <a:gd name="adj" fmla="val 6000"/>
            </a:avLst>
          </a:prstGeom>
          <a:solidFill>
            <a:schemeClr val="accent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500" b="1">
                <a:solidFill>
                  <a:schemeClr val="accent2">
                    <a:lumMod val="55000"/>
                  </a:schemeClr>
                </a:solidFill>
              </a:rPr>
              <a:t>Pnoise</a:t>
            </a:r>
          </a:p>
        </p:txBody>
      </p:sp>
      <p:sp>
        <p:nvSpPr>
          <p:cNvPr id="10" name="Out PXF"/>
          <p:cNvSpPr/>
          <p:nvPr/>
        </p:nvSpPr>
        <p:spPr>
          <a:xfrm>
            <a:off x="5166360" y="1417320"/>
            <a:ext cx="1074420" cy="749808"/>
          </a:xfrm>
          <a:prstGeom prst="roundRect">
            <a:avLst>
              <a:gd name="adj" fmla="val 6000"/>
            </a:avLst>
          </a:prstGeom>
          <a:solidFill>
            <a:schemeClr val="accent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500" b="1">
                <a:solidFill>
                  <a:schemeClr val="accent2">
                    <a:lumMod val="55000"/>
                  </a:schemeClr>
                </a:solidFill>
              </a:rPr>
              <a:t>PXF</a:t>
            </a:r>
          </a:p>
        </p:txBody>
      </p:sp>
      <p:sp>
        <p:nvSpPr>
          <p:cNvPr id="11" name="Out PSP"/>
          <p:cNvSpPr/>
          <p:nvPr/>
        </p:nvSpPr>
        <p:spPr>
          <a:xfrm>
            <a:off x="6377940" y="1417320"/>
            <a:ext cx="1074420" cy="749808"/>
          </a:xfrm>
          <a:prstGeom prst="roundRect">
            <a:avLst>
              <a:gd name="adj" fmla="val 6000"/>
            </a:avLst>
          </a:prstGeom>
          <a:solidFill>
            <a:schemeClr val="accent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500" b="1">
                <a:solidFill>
                  <a:schemeClr val="accent2">
                    <a:lumMod val="55000"/>
                  </a:schemeClr>
                </a:solidFill>
              </a:rPr>
              <a:t>PSP</a:t>
            </a:r>
          </a:p>
        </p:txBody>
      </p:sp>
      <p:sp>
        <p:nvSpPr>
          <p:cNvPr id="12" name="Chip E-117">
            <a:hlinkClick r:id="rId3"/>
          </p:cNvPr>
          <p:cNvSpPr/>
          <p:nvPr/>
        </p:nvSpPr>
        <p:spPr>
          <a:xfrm>
            <a:off x="2743200" y="2313432"/>
            <a:ext cx="662940" cy="237744"/>
          </a:xfrm>
          <a:prstGeom prst="roundRect">
            <a:avLst>
              <a:gd name="adj" fmla="val 50000"/>
            </a:avLst>
          </a:prstGeom>
          <a:solidFill>
            <a:schemeClr val="accent2">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2">
                    <a:lumMod val="65000"/>
                  </a:schemeClr>
                </a:solidFill>
              </a:rPr>
              <a:t>E-117</a:t>
            </a:r>
          </a:p>
        </p:txBody>
      </p:sp>
      <p:sp>
        <p:nvSpPr>
          <p:cNvPr id="13" name="Chip E-176">
            <a:hlinkClick r:id="rId4"/>
          </p:cNvPr>
          <p:cNvSpPr/>
          <p:nvPr/>
        </p:nvSpPr>
        <p:spPr>
          <a:xfrm>
            <a:off x="3461004" y="2313432"/>
            <a:ext cx="662940" cy="237744"/>
          </a:xfrm>
          <a:prstGeom prst="roundRect">
            <a:avLst>
              <a:gd name="adj" fmla="val 50000"/>
            </a:avLst>
          </a:prstGeom>
          <a:solidFill>
            <a:schemeClr val="accent2">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2">
                    <a:lumMod val="65000"/>
                  </a:schemeClr>
                </a:solidFill>
              </a:rPr>
              <a:t>E-176</a:t>
            </a:r>
          </a:p>
        </p:txBody>
      </p:sp>
      <p:sp>
        <p:nvSpPr>
          <p:cNvPr id="14" name="Lane HB"/>
          <p:cNvSpPr/>
          <p:nvPr/>
        </p:nvSpPr>
        <p:spPr>
          <a:xfrm>
            <a:off x="548640" y="2898648"/>
            <a:ext cx="1737360" cy="1188720"/>
          </a:xfrm>
          <a:prstGeom prst="roundRect">
            <a:avLst>
              <a:gd name="adj" fmla="val 6000"/>
            </a:avLst>
          </a:prstGeom>
          <a:solidFill>
            <a:schemeClr val="accent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Lane title HB"/>
          <p:cNvSpPr txBox="1"/>
          <p:nvPr/>
        </p:nvSpPr>
        <p:spPr>
          <a:xfrm>
            <a:off x="685800" y="3035808"/>
            <a:ext cx="1463040" cy="365760"/>
          </a:xfrm>
          <a:prstGeom prst="rect">
            <a:avLst/>
          </a:prstGeom>
          <a:noFill/>
        </p:spPr>
        <p:txBody>
          <a:bodyPr wrap="square" lIns="0" rIns="0" tIns="0" bIns="0" anchor="t">
            <a:spAutoFit/>
          </a:bodyPr>
          <a:lstStyle/>
          <a:p>
            <a:pPr algn="l"/>
            <a:r>
              <a:rPr sz="1800" b="1" i="0">
                <a:solidFill>
                  <a:schemeClr val="bg1"/>
                </a:solidFill>
              </a:rPr>
              <a:t>HB</a:t>
            </a:r>
          </a:p>
        </p:txBody>
      </p:sp>
      <p:sp>
        <p:nvSpPr>
          <p:cNvPr id="16" name="Lane text HB"/>
          <p:cNvSpPr txBox="1"/>
          <p:nvPr/>
        </p:nvSpPr>
        <p:spPr>
          <a:xfrm>
            <a:off x="685800" y="3429000"/>
            <a:ext cx="1463040" cy="594360"/>
          </a:xfrm>
          <a:prstGeom prst="rect">
            <a:avLst/>
          </a:prstGeom>
          <a:noFill/>
        </p:spPr>
        <p:txBody>
          <a:bodyPr wrap="square" lIns="0" rIns="0" tIns="0" bIns="0" anchor="t">
            <a:spAutoFit/>
          </a:bodyPr>
          <a:lstStyle/>
          <a:p>
            <a:pPr algn="l"/>
            <a:r>
              <a:rPr sz="1300" b="0" i="0">
                <a:solidFill>
                  <a:schemeClr val="bg1"/>
                </a:solidFill>
              </a:rPr>
              <a:t>harmonic balance</a:t>
            </a:r>
          </a:p>
        </p:txBody>
      </p:sp>
      <p:sp>
        <p:nvSpPr>
          <p:cNvPr id="17" name="Arrow"/>
          <p:cNvSpPr/>
          <p:nvPr/>
        </p:nvSpPr>
        <p:spPr>
          <a:xfrm>
            <a:off x="2377440" y="3355848"/>
            <a:ext cx="274320" cy="274320"/>
          </a:xfrm>
          <a:prstGeom prst="rightArrow">
            <a:avLst/>
          </a:prstGeom>
          <a:solidFill>
            <a:schemeClr val="accent3">
              <a:lumMod val="65000"/>
              <a:lumOff val="3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ut QPSS"/>
          <p:cNvSpPr/>
          <p:nvPr/>
        </p:nvSpPr>
        <p:spPr>
          <a:xfrm>
            <a:off x="2743200" y="2898648"/>
            <a:ext cx="1074420" cy="749808"/>
          </a:xfrm>
          <a:prstGeom prst="roundRect">
            <a:avLst>
              <a:gd name="adj" fmla="val 6000"/>
            </a:avLst>
          </a:prstGeom>
          <a:solidFill>
            <a:schemeClr val="accent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500" b="1">
                <a:solidFill>
                  <a:schemeClr val="accent2">
                    <a:lumMod val="55000"/>
                  </a:schemeClr>
                </a:solidFill>
              </a:rPr>
              <a:t>QPSS</a:t>
            </a:r>
          </a:p>
        </p:txBody>
      </p:sp>
      <p:sp>
        <p:nvSpPr>
          <p:cNvPr id="19" name="Out QPAC"/>
          <p:cNvSpPr/>
          <p:nvPr/>
        </p:nvSpPr>
        <p:spPr>
          <a:xfrm>
            <a:off x="3954780" y="2898648"/>
            <a:ext cx="1074420" cy="749808"/>
          </a:xfrm>
          <a:prstGeom prst="roundRect">
            <a:avLst>
              <a:gd name="adj" fmla="val 6000"/>
            </a:avLst>
          </a:prstGeom>
          <a:solidFill>
            <a:schemeClr val="accent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500" b="1">
                <a:solidFill>
                  <a:schemeClr val="accent2">
                    <a:lumMod val="55000"/>
                  </a:schemeClr>
                </a:solidFill>
              </a:rPr>
              <a:t>QPAC</a:t>
            </a:r>
          </a:p>
        </p:txBody>
      </p:sp>
      <p:sp>
        <p:nvSpPr>
          <p:cNvPr id="20" name="Out QPnoise"/>
          <p:cNvSpPr/>
          <p:nvPr/>
        </p:nvSpPr>
        <p:spPr>
          <a:xfrm>
            <a:off x="5166360" y="2898648"/>
            <a:ext cx="1074420" cy="749808"/>
          </a:xfrm>
          <a:prstGeom prst="roundRect">
            <a:avLst>
              <a:gd name="adj" fmla="val 6000"/>
            </a:avLst>
          </a:prstGeom>
          <a:solidFill>
            <a:schemeClr val="accent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500" b="1">
                <a:solidFill>
                  <a:schemeClr val="accent2">
                    <a:lumMod val="55000"/>
                  </a:schemeClr>
                </a:solidFill>
              </a:rPr>
              <a:t>QPnoise</a:t>
            </a:r>
          </a:p>
        </p:txBody>
      </p:sp>
      <p:sp>
        <p:nvSpPr>
          <p:cNvPr id="21" name="Out QPXF"/>
          <p:cNvSpPr/>
          <p:nvPr/>
        </p:nvSpPr>
        <p:spPr>
          <a:xfrm>
            <a:off x="6377940" y="2898648"/>
            <a:ext cx="1074420" cy="749808"/>
          </a:xfrm>
          <a:prstGeom prst="roundRect">
            <a:avLst>
              <a:gd name="adj" fmla="val 6000"/>
            </a:avLst>
          </a:prstGeom>
          <a:solidFill>
            <a:schemeClr val="accent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500" b="1">
                <a:solidFill>
                  <a:schemeClr val="accent2">
                    <a:lumMod val="55000"/>
                  </a:schemeClr>
                </a:solidFill>
              </a:rPr>
              <a:t>QPXF</a:t>
            </a:r>
          </a:p>
        </p:txBody>
      </p:sp>
      <p:sp>
        <p:nvSpPr>
          <p:cNvPr id="22" name="Chip E-134">
            <a:hlinkClick r:id="rId5"/>
          </p:cNvPr>
          <p:cNvSpPr/>
          <p:nvPr/>
        </p:nvSpPr>
        <p:spPr>
          <a:xfrm>
            <a:off x="2743200" y="3794760"/>
            <a:ext cx="662940" cy="237744"/>
          </a:xfrm>
          <a:prstGeom prst="roundRect">
            <a:avLst>
              <a:gd name="adj" fmla="val 50000"/>
            </a:avLst>
          </a:prstGeom>
          <a:solidFill>
            <a:schemeClr val="accent2">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2">
                    <a:lumMod val="65000"/>
                  </a:schemeClr>
                </a:solidFill>
              </a:rPr>
              <a:t>E-134</a:t>
            </a:r>
          </a:p>
        </p:txBody>
      </p:sp>
      <p:sp>
        <p:nvSpPr>
          <p:cNvPr id="23" name="Chip E-902">
            <a:hlinkClick r:id="rId6"/>
          </p:cNvPr>
          <p:cNvSpPr/>
          <p:nvPr/>
        </p:nvSpPr>
        <p:spPr>
          <a:xfrm>
            <a:off x="3461004" y="3794760"/>
            <a:ext cx="662940" cy="237744"/>
          </a:xfrm>
          <a:prstGeom prst="roundRect">
            <a:avLst>
              <a:gd name="adj" fmla="val 50000"/>
            </a:avLst>
          </a:prstGeom>
          <a:solidFill>
            <a:schemeClr val="accent2">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2">
                    <a:lumMod val="65000"/>
                  </a:schemeClr>
                </a:solidFill>
              </a:rPr>
              <a:t>E-902</a:t>
            </a:r>
          </a:p>
        </p:txBody>
      </p:sp>
      <p:sp>
        <p:nvSpPr>
          <p:cNvPr id="24" name="Lane Oscillators"/>
          <p:cNvSpPr/>
          <p:nvPr/>
        </p:nvSpPr>
        <p:spPr>
          <a:xfrm>
            <a:off x="548640" y="4379976"/>
            <a:ext cx="1737360" cy="1188720"/>
          </a:xfrm>
          <a:prstGeom prst="roundRect">
            <a:avLst>
              <a:gd name="adj" fmla="val 6000"/>
            </a:avLst>
          </a:prstGeom>
          <a:solidFill>
            <a:schemeClr val="accent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Lane title Oscillators"/>
          <p:cNvSpPr txBox="1"/>
          <p:nvPr/>
        </p:nvSpPr>
        <p:spPr>
          <a:xfrm>
            <a:off x="685800" y="4517136"/>
            <a:ext cx="1463040" cy="365760"/>
          </a:xfrm>
          <a:prstGeom prst="rect">
            <a:avLst/>
          </a:prstGeom>
          <a:noFill/>
        </p:spPr>
        <p:txBody>
          <a:bodyPr wrap="square" lIns="0" rIns="0" tIns="0" bIns="0" anchor="t">
            <a:spAutoFit/>
          </a:bodyPr>
          <a:lstStyle/>
          <a:p>
            <a:pPr algn="l"/>
            <a:r>
              <a:rPr sz="1800" b="1" i="0">
                <a:solidFill>
                  <a:schemeClr val="bg1"/>
                </a:solidFill>
              </a:rPr>
              <a:t>Oscillators</a:t>
            </a:r>
          </a:p>
        </p:txBody>
      </p:sp>
      <p:sp>
        <p:nvSpPr>
          <p:cNvPr id="26" name="Lane text Oscillators"/>
          <p:cNvSpPr txBox="1"/>
          <p:nvPr/>
        </p:nvSpPr>
        <p:spPr>
          <a:xfrm>
            <a:off x="685800" y="4910328"/>
            <a:ext cx="1463040" cy="594360"/>
          </a:xfrm>
          <a:prstGeom prst="rect">
            <a:avLst/>
          </a:prstGeom>
          <a:noFill/>
        </p:spPr>
        <p:txBody>
          <a:bodyPr wrap="square" lIns="0" rIns="0" tIns="0" bIns="0" anchor="t">
            <a:spAutoFit/>
          </a:bodyPr>
          <a:lstStyle/>
          <a:p>
            <a:pPr algn="l"/>
            <a:r>
              <a:rPr sz="1300" b="0" i="0">
                <a:solidFill>
                  <a:schemeClr val="bg1"/>
                </a:solidFill>
              </a:rPr>
              <a:t>hbosc, phasenoise</a:t>
            </a:r>
          </a:p>
        </p:txBody>
      </p:sp>
      <p:sp>
        <p:nvSpPr>
          <p:cNvPr id="27" name="Arrow"/>
          <p:cNvSpPr/>
          <p:nvPr/>
        </p:nvSpPr>
        <p:spPr>
          <a:xfrm>
            <a:off x="2377440" y="4837176"/>
            <a:ext cx="274320" cy="274320"/>
          </a:xfrm>
          <a:prstGeom prst="rightArrow">
            <a:avLst/>
          </a:prstGeom>
          <a:solidFill>
            <a:schemeClr val="accent3">
              <a:lumMod val="65000"/>
              <a:lumOff val="3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ut Envelope following"/>
          <p:cNvSpPr/>
          <p:nvPr/>
        </p:nvSpPr>
        <p:spPr>
          <a:xfrm>
            <a:off x="2743200" y="4379976"/>
            <a:ext cx="4709160" cy="749808"/>
          </a:xfrm>
          <a:prstGeom prst="roundRect">
            <a:avLst>
              <a:gd name="adj" fmla="val 6000"/>
            </a:avLst>
          </a:prstGeom>
          <a:solidFill>
            <a:schemeClr val="accent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500" b="1">
                <a:solidFill>
                  <a:schemeClr val="accent2">
                    <a:lumMod val="55000"/>
                  </a:schemeClr>
                </a:solidFill>
              </a:rPr>
              <a:t>Envelope following</a:t>
            </a:r>
          </a:p>
        </p:txBody>
      </p:sp>
      <p:sp>
        <p:nvSpPr>
          <p:cNvPr id="29" name="Chip E-140">
            <a:hlinkClick r:id="rId7"/>
          </p:cNvPr>
          <p:cNvSpPr/>
          <p:nvPr/>
        </p:nvSpPr>
        <p:spPr>
          <a:xfrm>
            <a:off x="2743200" y="5276088"/>
            <a:ext cx="662940" cy="237744"/>
          </a:xfrm>
          <a:prstGeom prst="roundRect">
            <a:avLst>
              <a:gd name="adj" fmla="val 50000"/>
            </a:avLst>
          </a:prstGeom>
          <a:solidFill>
            <a:schemeClr val="accent2">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2">
                    <a:lumMod val="65000"/>
                  </a:schemeClr>
                </a:solidFill>
              </a:rPr>
              <a:t>E-140</a:t>
            </a:r>
          </a:p>
        </p:txBody>
      </p:sp>
      <p:sp>
        <p:nvSpPr>
          <p:cNvPr id="30" name="Chip E-154">
            <a:hlinkClick r:id="rId8"/>
          </p:cNvPr>
          <p:cNvSpPr/>
          <p:nvPr/>
        </p:nvSpPr>
        <p:spPr>
          <a:xfrm>
            <a:off x="3461004" y="5276088"/>
            <a:ext cx="662940" cy="237744"/>
          </a:xfrm>
          <a:prstGeom prst="roundRect">
            <a:avLst>
              <a:gd name="adj" fmla="val 50000"/>
            </a:avLst>
          </a:prstGeom>
          <a:solidFill>
            <a:schemeClr val="accent2">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2">
                    <a:lumMod val="65000"/>
                  </a:schemeClr>
                </a:solidFill>
              </a:rPr>
              <a:t>E-154</a:t>
            </a:r>
          </a:p>
        </p:txBody>
      </p:sp>
      <p:sp>
        <p:nvSpPr>
          <p:cNvPr id="31" name="RF note"/>
          <p:cNvSpPr txBox="1"/>
          <p:nvPr/>
        </p:nvSpPr>
        <p:spPr>
          <a:xfrm>
            <a:off x="548640" y="5852159"/>
            <a:ext cx="6903720" cy="411480"/>
          </a:xfrm>
          <a:prstGeom prst="rect">
            <a:avLst/>
          </a:prstGeom>
          <a:noFill/>
        </p:spPr>
        <p:txBody>
          <a:bodyPr wrap="square" lIns="0" rIns="0" tIns="0" bIns="0" anchor="t">
            <a:spAutoFit/>
          </a:bodyPr>
          <a:lstStyle/>
          <a:p>
            <a:pPr algn="l"/>
            <a:r>
              <a:rPr sz="1400" b="0" i="1">
                <a:solidFill>
                  <a:schemeClr val="accent3"/>
                </a:solidFill>
              </a:rPr>
              <a:t>Every analysis has a dot card and runs on built-in and OSDI devices.</a:t>
            </a:r>
          </a:p>
        </p:txBody>
      </p:sp>
      <p:pic>
        <p:nvPicPr>
          <p:cNvPr id="32" name="Plot envelope_ringup.png" descr="envelope_ringup.png"/>
          <p:cNvPicPr>
            <a:picLocks noChangeAspect="1"/>
          </p:cNvPicPr>
          <p:nvPr/>
        </p:nvPicPr>
        <p:blipFill>
          <a:blip r:embed="rId9"/>
          <a:stretch>
            <a:fillRect/>
          </a:stretch>
        </p:blipFill>
        <p:spPr>
          <a:xfrm>
            <a:off x="7726679" y="1417320"/>
            <a:ext cx="3913632" cy="1996347"/>
          </a:xfrm>
          <a:prstGeom prst="rect">
            <a:avLst/>
          </a:prstGeom>
          <a:ln w="9525">
            <a:solidFill>
              <a:schemeClr val="bg2">
                <a:lumMod val="90000"/>
              </a:schemeClr>
            </a:solidFill>
          </a:ln>
        </p:spPr>
      </p:pic>
      <p:sp>
        <p:nvSpPr>
          <p:cNvPr id="33" name="Caption envelope_ringup.png"/>
          <p:cNvSpPr txBox="1"/>
          <p:nvPr/>
        </p:nvSpPr>
        <p:spPr>
          <a:xfrm>
            <a:off x="7726679" y="3505107"/>
            <a:ext cx="3913632" cy="411480"/>
          </a:xfrm>
          <a:prstGeom prst="rect">
            <a:avLst/>
          </a:prstGeom>
          <a:noFill/>
        </p:spPr>
        <p:txBody>
          <a:bodyPr wrap="square" lIns="0" rIns="0" tIns="0" bIns="0" anchor="t">
            <a:spAutoFit/>
          </a:bodyPr>
          <a:lstStyle/>
          <a:p>
            <a:pPr algn="l"/>
            <a:r>
              <a:rPr sz="1100" b="0" i="1">
                <a:solidFill>
                  <a:schemeClr val="accent3"/>
                </a:solidFill>
              </a:rPr>
              <a:t>Envelope following: 26 samples reproduce ~3000 carrier periods (examples/envelope_examples)</a:t>
            </a:r>
          </a:p>
        </p:txBody>
      </p:sp>
      <p:pic>
        <p:nvPicPr>
          <p:cNvPr id="34" name="Plot pssdriven.png" descr="pssdriven.png"/>
          <p:cNvPicPr>
            <a:picLocks noChangeAspect="1"/>
          </p:cNvPicPr>
          <p:nvPr/>
        </p:nvPicPr>
        <p:blipFill>
          <a:blip r:embed="rId10"/>
          <a:stretch>
            <a:fillRect/>
          </a:stretch>
        </p:blipFill>
        <p:spPr>
          <a:xfrm>
            <a:off x="7726679" y="4114800"/>
            <a:ext cx="3913632" cy="1633515"/>
          </a:xfrm>
          <a:prstGeom prst="rect">
            <a:avLst/>
          </a:prstGeom>
          <a:ln w="9525">
            <a:solidFill>
              <a:schemeClr val="bg2">
                <a:lumMod val="90000"/>
              </a:schemeClr>
            </a:solidFill>
          </a:ln>
        </p:spPr>
      </p:pic>
      <p:sp>
        <p:nvSpPr>
          <p:cNvPr id="35" name="Caption pssdriven.png"/>
          <p:cNvSpPr txBox="1"/>
          <p:nvPr/>
        </p:nvSpPr>
        <p:spPr>
          <a:xfrm>
            <a:off x="7726679" y="5839755"/>
            <a:ext cx="3913632" cy="365760"/>
          </a:xfrm>
          <a:prstGeom prst="rect">
            <a:avLst/>
          </a:prstGeom>
          <a:noFill/>
        </p:spPr>
        <p:txBody>
          <a:bodyPr wrap="square" lIns="0" rIns="0" tIns="0" bIns="0" anchor="t">
            <a:spAutoFit/>
          </a:bodyPr>
          <a:lstStyle/>
          <a:p>
            <a:pPr algn="l"/>
            <a:r>
              <a:rPr sz="1100" b="0" i="1">
                <a:solidFill>
                  <a:schemeClr val="accent3"/>
                </a:solidFill>
              </a:rPr>
              <a:t>Driven-mode PSS: geometric convergence (examples/pssdriven_examples)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S-parameters, Touchstone and RF measures</a:t>
            </a:r>
          </a:p>
        </p:txBody>
      </p:sp>
      <p:sp>
        <p:nvSpPr>
          <p:cNvPr id="3" name="Kicker"/>
          <p:cNvSpPr txBox="1"/>
          <p:nvPr/>
        </p:nvSpPr>
        <p:spPr>
          <a:xfrm>
            <a:off x="548640" y="274320"/>
            <a:ext cx="11094415" cy="274320"/>
          </a:xfrm>
          <a:prstGeom prst="rect">
            <a:avLst/>
          </a:prstGeom>
          <a:noFill/>
        </p:spPr>
        <p:txBody>
          <a:bodyPr wrap="square" lIns="0" rIns="0" tIns="0" bIns="0" anchor="t">
            <a:spAutoFit/>
          </a:bodyPr>
          <a:lstStyle/>
          <a:p>
            <a:pPr algn="l"/>
            <a:r>
              <a:rPr sz="1100" b="1" i="0" spc="120">
                <a:solidFill>
                  <a:schemeClr val="accent2">
                    <a:lumMod val="75000"/>
                  </a:schemeClr>
                </a:solidFill>
              </a:rPr>
              <a:t>SIMULATOR · RF</a:t>
            </a:r>
          </a:p>
        </p:txBody>
      </p:sp>
      <p:sp>
        <p:nvSpPr>
          <p:cNvPr id="4" name="Card .sp"/>
          <p:cNvSpPr/>
          <p:nvPr/>
        </p:nvSpPr>
        <p:spPr>
          <a:xfrm>
            <a:off x="548640" y="1417320"/>
            <a:ext cx="3360420" cy="1493519"/>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Card title .sp"/>
          <p:cNvSpPr txBox="1"/>
          <p:nvPr/>
        </p:nvSpPr>
        <p:spPr>
          <a:xfrm>
            <a:off x="713232" y="1536192"/>
            <a:ext cx="3031236" cy="292608"/>
          </a:xfrm>
          <a:prstGeom prst="rect">
            <a:avLst/>
          </a:prstGeom>
          <a:noFill/>
        </p:spPr>
        <p:txBody>
          <a:bodyPr wrap="square" lIns="0" rIns="0" tIns="0" bIns="0" anchor="ctr">
            <a:spAutoFit/>
          </a:bodyPr>
          <a:lstStyle/>
          <a:p>
            <a:pPr algn="l"/>
            <a:r>
              <a:rPr sz="1500" b="1" i="0">
                <a:solidFill>
                  <a:schemeClr val="tx2"/>
                </a:solidFill>
              </a:rPr>
              <a:t>.sp</a:t>
            </a:r>
          </a:p>
        </p:txBody>
      </p:sp>
      <p:sp>
        <p:nvSpPr>
          <p:cNvPr id="6" name="Card body .sp"/>
          <p:cNvSpPr txBox="1"/>
          <p:nvPr/>
        </p:nvSpPr>
        <p:spPr>
          <a:xfrm>
            <a:off x="713232" y="1874519"/>
            <a:ext cx="3031236" cy="652271"/>
          </a:xfrm>
          <a:prstGeom prst="rect">
            <a:avLst/>
          </a:prstGeom>
          <a:noFill/>
        </p:spPr>
        <p:txBody>
          <a:bodyPr wrap="square" lIns="0" rIns="0" tIns="0" bIns="0" anchor="t">
            <a:spAutoFit/>
          </a:bodyPr>
          <a:lstStyle/>
          <a:p>
            <a:pPr algn="l"/>
            <a:r>
              <a:rPr sz="1400" b="0" i="0">
                <a:solidFill>
                  <a:schemeClr val="tx1"/>
                </a:solidFill>
              </a:rPr>
              <a:t>Any port count; S, Y, Z vectors; NF and noise parameters; an O(N³) inverse</a:t>
            </a:r>
          </a:p>
        </p:txBody>
      </p:sp>
      <p:sp>
        <p:nvSpPr>
          <p:cNvPr id="7" name="Chip E-63">
            <a:hlinkClick r:id="rId3"/>
          </p:cNvPr>
          <p:cNvSpPr/>
          <p:nvPr/>
        </p:nvSpPr>
        <p:spPr>
          <a:xfrm>
            <a:off x="713232" y="2581656"/>
            <a:ext cx="594360" cy="219456"/>
          </a:xfrm>
          <a:prstGeom prst="roundRect">
            <a:avLst>
              <a:gd name="adj" fmla="val 50000"/>
            </a:avLst>
          </a:prstGeom>
          <a:solidFill>
            <a:schemeClr val="accent2">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2">
                    <a:lumMod val="65000"/>
                  </a:schemeClr>
                </a:solidFill>
              </a:rPr>
              <a:t>E-63</a:t>
            </a:r>
          </a:p>
        </p:txBody>
      </p:sp>
      <p:sp>
        <p:nvSpPr>
          <p:cNvPr id="8" name="Chip E-202">
            <a:hlinkClick r:id="rId4"/>
          </p:cNvPr>
          <p:cNvSpPr/>
          <p:nvPr/>
        </p:nvSpPr>
        <p:spPr>
          <a:xfrm>
            <a:off x="1362456" y="2581656"/>
            <a:ext cx="662940" cy="219456"/>
          </a:xfrm>
          <a:prstGeom prst="roundRect">
            <a:avLst>
              <a:gd name="adj" fmla="val 50000"/>
            </a:avLst>
          </a:prstGeom>
          <a:solidFill>
            <a:schemeClr val="accent2">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2">
                    <a:lumMod val="65000"/>
                  </a:schemeClr>
                </a:solidFill>
              </a:rPr>
              <a:t>E-202</a:t>
            </a:r>
          </a:p>
        </p:txBody>
      </p:sp>
      <p:sp>
        <p:nvSpPr>
          <p:cNvPr id="9" name="Card Touchstone I/O"/>
          <p:cNvSpPr/>
          <p:nvPr/>
        </p:nvSpPr>
        <p:spPr>
          <a:xfrm>
            <a:off x="4091939" y="1417320"/>
            <a:ext cx="3360420" cy="1493519"/>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Card title Touchstone I/O"/>
          <p:cNvSpPr txBox="1"/>
          <p:nvPr/>
        </p:nvSpPr>
        <p:spPr>
          <a:xfrm>
            <a:off x="4256531" y="1536192"/>
            <a:ext cx="3031236" cy="292608"/>
          </a:xfrm>
          <a:prstGeom prst="rect">
            <a:avLst/>
          </a:prstGeom>
          <a:noFill/>
        </p:spPr>
        <p:txBody>
          <a:bodyPr wrap="square" lIns="0" rIns="0" tIns="0" bIns="0" anchor="ctr">
            <a:spAutoFit/>
          </a:bodyPr>
          <a:lstStyle/>
          <a:p>
            <a:pPr algn="l"/>
            <a:r>
              <a:rPr sz="1500" b="1" i="0">
                <a:solidFill>
                  <a:schemeClr val="tx2"/>
                </a:solidFill>
              </a:rPr>
              <a:t>Touchstone I/O</a:t>
            </a:r>
          </a:p>
        </p:txBody>
      </p:sp>
      <p:sp>
        <p:nvSpPr>
          <p:cNvPr id="11" name="Card body Touchstone I/O"/>
          <p:cNvSpPr txBox="1"/>
          <p:nvPr/>
        </p:nvSpPr>
        <p:spPr>
          <a:xfrm>
            <a:off x="4256531" y="1874519"/>
            <a:ext cx="3031236" cy="652271"/>
          </a:xfrm>
          <a:prstGeom prst="rect">
            <a:avLst/>
          </a:prstGeom>
          <a:noFill/>
        </p:spPr>
        <p:txBody>
          <a:bodyPr wrap="square" lIns="0" rIns="0" tIns="0" bIns="0" anchor="t">
            <a:spAutoFit/>
          </a:bodyPr>
          <a:lstStyle/>
          <a:p>
            <a:pPr algn="l"/>
            <a:r>
              <a:rPr sz="1400" b="0" i="0">
                <a:solidFill>
                  <a:schemeClr val="tx1"/>
                </a:solidFill>
              </a:rPr>
              <a:t>wrsnp writes ri, ma or db as S, Y or Z; rdsnp reads, noise rows too</a:t>
            </a:r>
          </a:p>
        </p:txBody>
      </p:sp>
      <p:sp>
        <p:nvSpPr>
          <p:cNvPr id="12" name="Chip E-72">
            <a:hlinkClick r:id="rId5"/>
          </p:cNvPr>
          <p:cNvSpPr/>
          <p:nvPr/>
        </p:nvSpPr>
        <p:spPr>
          <a:xfrm>
            <a:off x="4256531" y="2581656"/>
            <a:ext cx="594360" cy="219456"/>
          </a:xfrm>
          <a:prstGeom prst="roundRect">
            <a:avLst>
              <a:gd name="adj" fmla="val 50000"/>
            </a:avLst>
          </a:prstGeom>
          <a:solidFill>
            <a:schemeClr val="accent2">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2">
                    <a:lumMod val="65000"/>
                  </a:schemeClr>
                </a:solidFill>
              </a:rPr>
              <a:t>E-72</a:t>
            </a:r>
          </a:p>
        </p:txBody>
      </p:sp>
      <p:sp>
        <p:nvSpPr>
          <p:cNvPr id="13" name="Chip E-749">
            <a:hlinkClick r:id="rId6"/>
          </p:cNvPr>
          <p:cNvSpPr/>
          <p:nvPr/>
        </p:nvSpPr>
        <p:spPr>
          <a:xfrm>
            <a:off x="4905755" y="2581656"/>
            <a:ext cx="662940" cy="219456"/>
          </a:xfrm>
          <a:prstGeom prst="roundRect">
            <a:avLst>
              <a:gd name="adj" fmla="val 50000"/>
            </a:avLst>
          </a:prstGeom>
          <a:solidFill>
            <a:schemeClr val="accent2">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2">
                    <a:lumMod val="65000"/>
                  </a:schemeClr>
                </a:solidFill>
              </a:rPr>
              <a:t>E-749</a:t>
            </a:r>
          </a:p>
        </p:txBody>
      </p:sp>
      <p:sp>
        <p:nvSpPr>
          <p:cNvPr id="14" name="Card pre_snp"/>
          <p:cNvSpPr/>
          <p:nvPr/>
        </p:nvSpPr>
        <p:spPr>
          <a:xfrm>
            <a:off x="548640" y="3093719"/>
            <a:ext cx="3360420" cy="1493519"/>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Card title pre_snp"/>
          <p:cNvSpPr txBox="1"/>
          <p:nvPr/>
        </p:nvSpPr>
        <p:spPr>
          <a:xfrm>
            <a:off x="713232" y="3212591"/>
            <a:ext cx="3031236" cy="292608"/>
          </a:xfrm>
          <a:prstGeom prst="rect">
            <a:avLst/>
          </a:prstGeom>
          <a:noFill/>
        </p:spPr>
        <p:txBody>
          <a:bodyPr wrap="square" lIns="0" rIns="0" tIns="0" bIns="0" anchor="ctr">
            <a:spAutoFit/>
          </a:bodyPr>
          <a:lstStyle/>
          <a:p>
            <a:pPr algn="l"/>
            <a:r>
              <a:rPr sz="1500" b="1" i="0">
                <a:solidFill>
                  <a:schemeClr val="tx2"/>
                </a:solidFill>
              </a:rPr>
              <a:t>pre_snp</a:t>
            </a:r>
          </a:p>
        </p:txBody>
      </p:sp>
      <p:sp>
        <p:nvSpPr>
          <p:cNvPr id="16" name="Card body pre_snp"/>
          <p:cNvSpPr txBox="1"/>
          <p:nvPr/>
        </p:nvSpPr>
        <p:spPr>
          <a:xfrm>
            <a:off x="713232" y="3550919"/>
            <a:ext cx="3031236" cy="652271"/>
          </a:xfrm>
          <a:prstGeom prst="rect">
            <a:avLst/>
          </a:prstGeom>
          <a:noFill/>
        </p:spPr>
        <p:txBody>
          <a:bodyPr wrap="square" lIns="0" rIns="0" tIns="0" bIns="0" anchor="t">
            <a:spAutoFit/>
          </a:bodyPr>
          <a:lstStyle/>
          <a:p>
            <a:pPr algn="l"/>
            <a:r>
              <a:rPr sz="1400" b="0" i="0">
                <a:solidFill>
                  <a:schemeClr val="tx1"/>
                </a:solidFill>
              </a:rPr>
              <a:t>Touchstone to a vector-fitted model: an OSDI device or a native N-port</a:t>
            </a:r>
          </a:p>
        </p:txBody>
      </p:sp>
      <p:sp>
        <p:nvSpPr>
          <p:cNvPr id="17" name="Chip E-200">
            <a:hlinkClick r:id="rId7"/>
          </p:cNvPr>
          <p:cNvSpPr/>
          <p:nvPr/>
        </p:nvSpPr>
        <p:spPr>
          <a:xfrm>
            <a:off x="713232" y="4258055"/>
            <a:ext cx="662940" cy="219456"/>
          </a:xfrm>
          <a:prstGeom prst="roundRect">
            <a:avLst>
              <a:gd name="adj" fmla="val 50000"/>
            </a:avLst>
          </a:prstGeom>
          <a:solidFill>
            <a:schemeClr val="accent2">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2">
                    <a:lumMod val="65000"/>
                  </a:schemeClr>
                </a:solidFill>
              </a:rPr>
              <a:t>E-200</a:t>
            </a:r>
          </a:p>
        </p:txBody>
      </p:sp>
      <p:sp>
        <p:nvSpPr>
          <p:cNvPr id="18" name="Chip E-242">
            <a:hlinkClick r:id="rId8"/>
          </p:cNvPr>
          <p:cNvSpPr/>
          <p:nvPr/>
        </p:nvSpPr>
        <p:spPr>
          <a:xfrm>
            <a:off x="1431036" y="4258055"/>
            <a:ext cx="662940" cy="219456"/>
          </a:xfrm>
          <a:prstGeom prst="roundRect">
            <a:avLst>
              <a:gd name="adj" fmla="val 50000"/>
            </a:avLst>
          </a:prstGeom>
          <a:solidFill>
            <a:schemeClr val="accent2">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2">
                    <a:lumMod val="65000"/>
                  </a:schemeClr>
                </a:solidFill>
              </a:rPr>
              <a:t>E-242</a:t>
            </a:r>
          </a:p>
        </p:txBody>
      </p:sp>
      <p:sp>
        <p:nvSpPr>
          <p:cNvPr id="19" name="Card Stability &amp; load-pull"/>
          <p:cNvSpPr/>
          <p:nvPr/>
        </p:nvSpPr>
        <p:spPr>
          <a:xfrm>
            <a:off x="4091939" y="3093719"/>
            <a:ext cx="3360420" cy="1493519"/>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Card title Stability &amp; load-pull"/>
          <p:cNvSpPr txBox="1"/>
          <p:nvPr/>
        </p:nvSpPr>
        <p:spPr>
          <a:xfrm>
            <a:off x="4256531" y="3212591"/>
            <a:ext cx="3031236" cy="292608"/>
          </a:xfrm>
          <a:prstGeom prst="rect">
            <a:avLst/>
          </a:prstGeom>
          <a:noFill/>
        </p:spPr>
        <p:txBody>
          <a:bodyPr wrap="square" lIns="0" rIns="0" tIns="0" bIns="0" anchor="ctr">
            <a:spAutoFit/>
          </a:bodyPr>
          <a:lstStyle/>
          <a:p>
            <a:pPr algn="l"/>
            <a:r>
              <a:rPr sz="1500" b="1" i="0">
                <a:solidFill>
                  <a:schemeClr val="tx2"/>
                </a:solidFill>
              </a:rPr>
              <a:t>Stability &amp; load-pull</a:t>
            </a:r>
          </a:p>
        </p:txBody>
      </p:sp>
      <p:sp>
        <p:nvSpPr>
          <p:cNvPr id="21" name="Card body Stability &amp; load-pull"/>
          <p:cNvSpPr txBox="1"/>
          <p:nvPr/>
        </p:nvSpPr>
        <p:spPr>
          <a:xfrm>
            <a:off x="4256531" y="3550919"/>
            <a:ext cx="3031236" cy="652271"/>
          </a:xfrm>
          <a:prstGeom prst="rect">
            <a:avLst/>
          </a:prstGeom>
          <a:noFill/>
        </p:spPr>
        <p:txBody>
          <a:bodyPr wrap="square" lIns="0" rIns="0" tIns="0" bIns="0" anchor="t">
            <a:spAutoFit/>
          </a:bodyPr>
          <a:lstStyle/>
          <a:p>
            <a:pPr algn="l"/>
            <a:r>
              <a:rPr sz="1400" b="0" i="0">
                <a:solidFill>
                  <a:schemeClr val="tx1"/>
                </a:solidFill>
              </a:rPr>
              <a:t>rfstab: K, Δ, μ, MSG and MAG; loadpull contours on a Smith chart</a:t>
            </a:r>
          </a:p>
        </p:txBody>
      </p:sp>
      <p:sp>
        <p:nvSpPr>
          <p:cNvPr id="22" name="Chip E-253">
            <a:hlinkClick r:id="rId9"/>
          </p:cNvPr>
          <p:cNvSpPr/>
          <p:nvPr/>
        </p:nvSpPr>
        <p:spPr>
          <a:xfrm>
            <a:off x="4256531" y="4258055"/>
            <a:ext cx="662940" cy="219456"/>
          </a:xfrm>
          <a:prstGeom prst="roundRect">
            <a:avLst>
              <a:gd name="adj" fmla="val 50000"/>
            </a:avLst>
          </a:prstGeom>
          <a:solidFill>
            <a:schemeClr val="accent2">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2">
                    <a:lumMod val="65000"/>
                  </a:schemeClr>
                </a:solidFill>
              </a:rPr>
              <a:t>E-253</a:t>
            </a:r>
          </a:p>
        </p:txBody>
      </p:sp>
      <p:sp>
        <p:nvSpPr>
          <p:cNvPr id="23" name="Chip E-234">
            <a:hlinkClick r:id="rId10"/>
          </p:cNvPr>
          <p:cNvSpPr/>
          <p:nvPr/>
        </p:nvSpPr>
        <p:spPr>
          <a:xfrm>
            <a:off x="4974336" y="4258055"/>
            <a:ext cx="662940" cy="219456"/>
          </a:xfrm>
          <a:prstGeom prst="roundRect">
            <a:avLst>
              <a:gd name="adj" fmla="val 50000"/>
            </a:avLst>
          </a:prstGeom>
          <a:solidFill>
            <a:schemeClr val="accent2">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2">
                    <a:lumMod val="65000"/>
                  </a:schemeClr>
                </a:solidFill>
              </a:rPr>
              <a:t>E-234</a:t>
            </a:r>
          </a:p>
        </p:txBody>
      </p:sp>
      <p:sp>
        <p:nvSpPr>
          <p:cNvPr id="24" name="Card Large-signal RF"/>
          <p:cNvSpPr/>
          <p:nvPr/>
        </p:nvSpPr>
        <p:spPr>
          <a:xfrm>
            <a:off x="548640" y="4770119"/>
            <a:ext cx="3360420" cy="1493519"/>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Card title Large-signal RF"/>
          <p:cNvSpPr txBox="1"/>
          <p:nvPr/>
        </p:nvSpPr>
        <p:spPr>
          <a:xfrm>
            <a:off x="713232" y="4888991"/>
            <a:ext cx="3031236" cy="292608"/>
          </a:xfrm>
          <a:prstGeom prst="rect">
            <a:avLst/>
          </a:prstGeom>
          <a:noFill/>
        </p:spPr>
        <p:txBody>
          <a:bodyPr wrap="square" lIns="0" rIns="0" tIns="0" bIns="0" anchor="ctr">
            <a:spAutoFit/>
          </a:bodyPr>
          <a:lstStyle/>
          <a:p>
            <a:pPr algn="l"/>
            <a:r>
              <a:rPr sz="1500" b="1" i="0">
                <a:solidFill>
                  <a:schemeClr val="tx2"/>
                </a:solidFill>
              </a:rPr>
              <a:t>Large-signal RF</a:t>
            </a:r>
          </a:p>
        </p:txBody>
      </p:sp>
      <p:sp>
        <p:nvSpPr>
          <p:cNvPr id="26" name="Card body Large-signal RF"/>
          <p:cNvSpPr txBox="1"/>
          <p:nvPr/>
        </p:nvSpPr>
        <p:spPr>
          <a:xfrm>
            <a:off x="713232" y="5227319"/>
            <a:ext cx="3031236" cy="652271"/>
          </a:xfrm>
          <a:prstGeom prst="rect">
            <a:avLst/>
          </a:prstGeom>
          <a:noFill/>
        </p:spPr>
        <p:txBody>
          <a:bodyPr wrap="square" lIns="0" rIns="0" tIns="0" bIns="0" anchor="t">
            <a:spAutoFit/>
          </a:bodyPr>
          <a:lstStyle/>
          <a:p>
            <a:pPr algn="l"/>
            <a:r>
              <a:rPr sz="1400" b="0" i="0">
                <a:solidFill>
                  <a:schemeClr val="tx1"/>
                </a:solidFill>
              </a:rPr>
              <a:t>P1dB and IP3; LNA noise figure with noise match and the Friis cascade</a:t>
            </a:r>
          </a:p>
        </p:txBody>
      </p:sp>
      <p:sp>
        <p:nvSpPr>
          <p:cNvPr id="27" name="Chip E-164">
            <a:hlinkClick r:id="rId11"/>
          </p:cNvPr>
          <p:cNvSpPr/>
          <p:nvPr/>
        </p:nvSpPr>
        <p:spPr>
          <a:xfrm>
            <a:off x="713232" y="5934455"/>
            <a:ext cx="662940" cy="219456"/>
          </a:xfrm>
          <a:prstGeom prst="roundRect">
            <a:avLst>
              <a:gd name="adj" fmla="val 50000"/>
            </a:avLst>
          </a:prstGeom>
          <a:solidFill>
            <a:schemeClr val="accent2">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2">
                    <a:lumMod val="65000"/>
                  </a:schemeClr>
                </a:solidFill>
              </a:rPr>
              <a:t>E-164</a:t>
            </a:r>
          </a:p>
        </p:txBody>
      </p:sp>
      <p:sp>
        <p:nvSpPr>
          <p:cNvPr id="28" name="Chip E-168">
            <a:hlinkClick r:id="rId12"/>
          </p:cNvPr>
          <p:cNvSpPr/>
          <p:nvPr/>
        </p:nvSpPr>
        <p:spPr>
          <a:xfrm>
            <a:off x="1431036" y="5934455"/>
            <a:ext cx="662940" cy="219456"/>
          </a:xfrm>
          <a:prstGeom prst="roundRect">
            <a:avLst>
              <a:gd name="adj" fmla="val 50000"/>
            </a:avLst>
          </a:prstGeom>
          <a:solidFill>
            <a:schemeClr val="accent2">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2">
                    <a:lumMod val="65000"/>
                  </a:schemeClr>
                </a:solidFill>
              </a:rPr>
              <a:t>E-168</a:t>
            </a:r>
          </a:p>
        </p:txBody>
      </p:sp>
      <p:sp>
        <p:nvSpPr>
          <p:cNvPr id="29" name="Card Smith views"/>
          <p:cNvSpPr/>
          <p:nvPr/>
        </p:nvSpPr>
        <p:spPr>
          <a:xfrm>
            <a:off x="4091939" y="4770119"/>
            <a:ext cx="3360420" cy="1493519"/>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Card title Smith views"/>
          <p:cNvSpPr txBox="1"/>
          <p:nvPr/>
        </p:nvSpPr>
        <p:spPr>
          <a:xfrm>
            <a:off x="4256531" y="4888991"/>
            <a:ext cx="3031236" cy="292608"/>
          </a:xfrm>
          <a:prstGeom prst="rect">
            <a:avLst/>
          </a:prstGeom>
          <a:noFill/>
        </p:spPr>
        <p:txBody>
          <a:bodyPr wrap="square" lIns="0" rIns="0" tIns="0" bIns="0" anchor="ctr">
            <a:spAutoFit/>
          </a:bodyPr>
          <a:lstStyle/>
          <a:p>
            <a:pPr algn="l"/>
            <a:r>
              <a:rPr sz="1500" b="1" i="0">
                <a:solidFill>
                  <a:schemeClr val="tx2"/>
                </a:solidFill>
              </a:rPr>
              <a:t>Smith views</a:t>
            </a:r>
          </a:p>
        </p:txBody>
      </p:sp>
      <p:sp>
        <p:nvSpPr>
          <p:cNvPr id="31" name="Card body Smith views"/>
          <p:cNvSpPr txBox="1"/>
          <p:nvPr/>
        </p:nvSpPr>
        <p:spPr>
          <a:xfrm>
            <a:off x="4256531" y="5227319"/>
            <a:ext cx="3031236" cy="652271"/>
          </a:xfrm>
          <a:prstGeom prst="rect">
            <a:avLst/>
          </a:prstGeom>
          <a:noFill/>
        </p:spPr>
        <p:txBody>
          <a:bodyPr wrap="square" lIns="0" rIns="0" tIns="0" bIns="0" anchor="t">
            <a:spAutoFit/>
          </a:bodyPr>
          <a:lstStyle/>
          <a:p>
            <a:pPr algn="l"/>
            <a:r>
              <a:rPr sz="1400" b="0" i="0">
                <a:solidFill>
                  <a:schemeClr val="tx1"/>
                </a:solidFill>
              </a:rPr>
              <a:t>pyplot -smith draws S-parameters on a Smith chart</a:t>
            </a:r>
          </a:p>
        </p:txBody>
      </p:sp>
      <p:sp>
        <p:nvSpPr>
          <p:cNvPr id="32" name="Chip E-254">
            <a:hlinkClick r:id="rId13"/>
          </p:cNvPr>
          <p:cNvSpPr/>
          <p:nvPr/>
        </p:nvSpPr>
        <p:spPr>
          <a:xfrm>
            <a:off x="4256531" y="5934455"/>
            <a:ext cx="662940" cy="219456"/>
          </a:xfrm>
          <a:prstGeom prst="roundRect">
            <a:avLst>
              <a:gd name="adj" fmla="val 50000"/>
            </a:avLst>
          </a:prstGeom>
          <a:solidFill>
            <a:schemeClr val="accent2">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2">
                    <a:lumMod val="65000"/>
                  </a:schemeClr>
                </a:solidFill>
              </a:rPr>
              <a:t>E-254</a:t>
            </a:r>
          </a:p>
        </p:txBody>
      </p:sp>
      <p:pic>
        <p:nvPicPr>
          <p:cNvPr id="33" name="Plot rfpa_ip3.png" descr="rfpa_ip3.png"/>
          <p:cNvPicPr>
            <a:picLocks noChangeAspect="1"/>
          </p:cNvPicPr>
          <p:nvPr/>
        </p:nvPicPr>
        <p:blipFill>
          <a:blip r:embed="rId14"/>
          <a:stretch>
            <a:fillRect/>
          </a:stretch>
        </p:blipFill>
        <p:spPr>
          <a:xfrm>
            <a:off x="7726679" y="1417320"/>
            <a:ext cx="3913632" cy="1565452"/>
          </a:xfrm>
          <a:prstGeom prst="rect">
            <a:avLst/>
          </a:prstGeom>
          <a:ln w="9525">
            <a:solidFill>
              <a:schemeClr val="bg2">
                <a:lumMod val="90000"/>
              </a:schemeClr>
            </a:solidFill>
          </a:ln>
        </p:spPr>
      </p:pic>
      <p:sp>
        <p:nvSpPr>
          <p:cNvPr id="34" name="Caption rfpa_ip3.png"/>
          <p:cNvSpPr txBox="1"/>
          <p:nvPr/>
        </p:nvSpPr>
        <p:spPr>
          <a:xfrm>
            <a:off x="7726679" y="3074212"/>
            <a:ext cx="3913632" cy="365760"/>
          </a:xfrm>
          <a:prstGeom prst="rect">
            <a:avLst/>
          </a:prstGeom>
          <a:noFill/>
        </p:spPr>
        <p:txBody>
          <a:bodyPr wrap="square" lIns="0" rIns="0" tIns="0" bIns="0" anchor="t">
            <a:spAutoFit/>
          </a:bodyPr>
          <a:lstStyle/>
          <a:p>
            <a:pPr algn="l"/>
            <a:r>
              <a:rPr sz="1100" b="0" i="1">
                <a:solidFill>
                  <a:schemeClr val="accent3"/>
                </a:solidFill>
              </a:rPr>
              <a:t>AM-AM compression and two-tone IM3 of a SiGe HBT (examples/rfpa_examples)</a:t>
            </a:r>
          </a:p>
        </p:txBody>
      </p:sp>
      <p:pic>
        <p:nvPicPr>
          <p:cNvPr id="35" name="Plot noisefigure.png" descr="noisefigure.png"/>
          <p:cNvPicPr>
            <a:picLocks noChangeAspect="1"/>
          </p:cNvPicPr>
          <p:nvPr/>
        </p:nvPicPr>
        <p:blipFill>
          <a:blip r:embed="rId15"/>
          <a:stretch>
            <a:fillRect/>
          </a:stretch>
        </p:blipFill>
        <p:spPr>
          <a:xfrm>
            <a:off x="7726679" y="3840480"/>
            <a:ext cx="3913632" cy="1565452"/>
          </a:xfrm>
          <a:prstGeom prst="rect">
            <a:avLst/>
          </a:prstGeom>
          <a:ln w="9525">
            <a:solidFill>
              <a:schemeClr val="bg2">
                <a:lumMod val="90000"/>
              </a:schemeClr>
            </a:solidFill>
          </a:ln>
        </p:spPr>
      </p:pic>
      <p:sp>
        <p:nvSpPr>
          <p:cNvPr id="36" name="Caption noisefigure.png"/>
          <p:cNvSpPr txBox="1"/>
          <p:nvPr/>
        </p:nvSpPr>
        <p:spPr>
          <a:xfrm>
            <a:off x="7726679" y="5497372"/>
            <a:ext cx="3913632" cy="365760"/>
          </a:xfrm>
          <a:prstGeom prst="rect">
            <a:avLst/>
          </a:prstGeom>
          <a:noFill/>
        </p:spPr>
        <p:txBody>
          <a:bodyPr wrap="square" lIns="0" rIns="0" tIns="0" bIns="0" anchor="t">
            <a:spAutoFit/>
          </a:bodyPr>
          <a:lstStyle/>
          <a:p>
            <a:pPr algn="l"/>
            <a:r>
              <a:rPr sz="1100" b="0" i="1">
                <a:solidFill>
                  <a:schemeClr val="accent3"/>
                </a:solidFill>
              </a:rPr>
              <a:t>LNA noise figure: noise match and Friis cascade (examples/noisefigure_examples)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Signal integrity: PRBS, PAM4 and eyes</a:t>
            </a:r>
          </a:p>
        </p:txBody>
      </p:sp>
      <p:sp>
        <p:nvSpPr>
          <p:cNvPr id="3" name="Kicker"/>
          <p:cNvSpPr txBox="1"/>
          <p:nvPr/>
        </p:nvSpPr>
        <p:spPr>
          <a:xfrm>
            <a:off x="548640" y="274320"/>
            <a:ext cx="11094415" cy="274320"/>
          </a:xfrm>
          <a:prstGeom prst="rect">
            <a:avLst/>
          </a:prstGeom>
          <a:noFill/>
        </p:spPr>
        <p:txBody>
          <a:bodyPr wrap="square" lIns="0" rIns="0" tIns="0" bIns="0" anchor="t">
            <a:spAutoFit/>
          </a:bodyPr>
          <a:lstStyle/>
          <a:p>
            <a:pPr algn="l"/>
            <a:r>
              <a:rPr sz="1100" b="1" i="0" spc="120">
                <a:solidFill>
                  <a:schemeClr val="accent2">
                    <a:lumMod val="75000"/>
                  </a:schemeClr>
                </a:solidFill>
              </a:rPr>
              <a:t>SIMULATOR · SERDES</a:t>
            </a:r>
          </a:p>
        </p:txBody>
      </p:sp>
      <p:sp>
        <p:nvSpPr>
          <p:cNvPr id="4" name="Code panel"/>
          <p:cNvSpPr/>
          <p:nvPr/>
        </p:nvSpPr>
        <p:spPr>
          <a:xfrm>
            <a:off x="548640" y="1417320"/>
            <a:ext cx="5486400" cy="2331720"/>
          </a:xfrm>
          <a:prstGeom prst="roundRect">
            <a:avLst>
              <a:gd name="adj" fmla="val 4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Code title"/>
          <p:cNvSpPr txBox="1"/>
          <p:nvPr/>
        </p:nvSpPr>
        <p:spPr>
          <a:xfrm>
            <a:off x="777240" y="1581912"/>
            <a:ext cx="5029200" cy="274320"/>
          </a:xfrm>
          <a:prstGeom prst="rect">
            <a:avLst/>
          </a:prstGeom>
          <a:noFill/>
        </p:spPr>
        <p:txBody>
          <a:bodyPr wrap="square" lIns="0" rIns="0" tIns="0" bIns="0" anchor="t">
            <a:spAutoFit/>
          </a:bodyPr>
          <a:lstStyle/>
          <a:p>
            <a:pPr algn="l"/>
            <a:r>
              <a:rPr sz="1200" b="1" i="0">
                <a:solidFill>
                  <a:schemeClr val="accent6"/>
                </a:solidFill>
              </a:rPr>
              <a:t>A PRBS7, a PRBS13Q and an eye</a:t>
            </a:r>
          </a:p>
        </p:txBody>
      </p:sp>
      <p:sp>
        <p:nvSpPr>
          <p:cNvPr id="6" name="Code"/>
          <p:cNvSpPr txBox="1"/>
          <p:nvPr/>
        </p:nvSpPr>
        <p:spPr>
          <a:xfrm>
            <a:off x="777240" y="1947672"/>
            <a:ext cx="5029200" cy="1664208"/>
          </a:xfrm>
          <a:prstGeom prst="rect">
            <a:avLst/>
          </a:prstGeom>
          <a:noFill/>
        </p:spPr>
        <p:txBody>
          <a:bodyPr wrap="square" lIns="0" rIns="0" tIns="0" bIns="0" anchor="t">
            <a:spAutoFit/>
          </a:bodyPr>
          <a:lstStyle/>
          <a:p>
            <a:pPr algn="l">
              <a:lnSpc>
                <a:spcPct val="100000"/>
              </a:lnSpc>
            </a:pPr>
            <a:r>
              <a:rPr sz="1200" b="0" i="0">
                <a:solidFill>
                  <a:schemeClr val="bg1"/>
                </a:solidFill>
                <a:latin typeface="Courier New"/>
              </a:rPr>
              <a:t>Vtx tx 0 PRBS(0 1 1n 0 50p 50p 7)</a:t>
            </a:r>
          </a:p>
          <a:p>
            <a:pPr algn="l">
              <a:lnSpc>
                <a:spcPct val="100000"/>
              </a:lnSpc>
            </a:pPr>
            <a:r>
              <a:rPr sz="1200" b="0" i="0">
                <a:solidFill>
                  <a:schemeClr val="bg1"/>
                </a:solidFill>
                <a:latin typeface="Courier New"/>
              </a:rPr>
              <a:t>Vp4 tq 0 PAM4(-0.6 0.6 100p 0 10p 10p 13)</a:t>
            </a:r>
          </a:p>
          <a:p>
            <a:pPr algn="l">
              <a:lnSpc>
                <a:spcPct val="100000"/>
              </a:lnSpc>
            </a:pPr>
            <a:r>
              <a:rPr sz="1200" b="0" i="0">
                <a:solidFill>
                  <a:schemeClr val="bg1"/>
                </a:solidFill>
                <a:latin typeface="Courier New"/>
              </a:rPr>
              <a:t>.control</a:t>
            </a:r>
          </a:p>
          <a:p>
            <a:pPr algn="l">
              <a:lnSpc>
                <a:spcPct val="100000"/>
              </a:lnSpc>
            </a:pPr>
            <a:r>
              <a:rPr sz="1200" b="0" i="0">
                <a:solidFill>
                  <a:schemeClr val="bg1"/>
                </a:solidFill>
                <a:latin typeface="Courier New"/>
              </a:rPr>
              <a:t>tran 5p 2u</a:t>
            </a:r>
          </a:p>
          <a:p>
            <a:pPr algn="l">
              <a:lnSpc>
                <a:spcPct val="100000"/>
              </a:lnSpc>
            </a:pPr>
            <a:r>
              <a:rPr sz="1200" b="0" i="0">
                <a:solidFill>
                  <a:schemeClr val="bg1"/>
                </a:solidFill>
                <a:latin typeface="Courier New"/>
              </a:rPr>
              <a:t>eye v(rx) -ui 1n -tstart 3n</a:t>
            </a:r>
          </a:p>
          <a:p>
            <a:pPr algn="l">
              <a:lnSpc>
                <a:spcPct val="100000"/>
              </a:lnSpc>
            </a:pPr>
            <a:r>
              <a:rPr sz="1200" b="0" i="0">
                <a:solidFill>
                  <a:schemeClr val="bg1"/>
                </a:solidFill>
                <a:latin typeface="Courier New"/>
              </a:rPr>
              <a:t>.endc</a:t>
            </a:r>
          </a:p>
        </p:txBody>
      </p:sp>
      <p:sp>
        <p:nvSpPr>
          <p:cNvPr id="7" name="Card PRBS and PAM4"/>
          <p:cNvSpPr/>
          <p:nvPr/>
        </p:nvSpPr>
        <p:spPr>
          <a:xfrm>
            <a:off x="548640" y="4023360"/>
            <a:ext cx="2651760" cy="2240279"/>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ard title PRBS and PAM4"/>
          <p:cNvSpPr txBox="1"/>
          <p:nvPr/>
        </p:nvSpPr>
        <p:spPr>
          <a:xfrm>
            <a:off x="713232" y="4142232"/>
            <a:ext cx="2322576" cy="292608"/>
          </a:xfrm>
          <a:prstGeom prst="rect">
            <a:avLst/>
          </a:prstGeom>
          <a:noFill/>
        </p:spPr>
        <p:txBody>
          <a:bodyPr wrap="square" lIns="0" rIns="0" tIns="0" bIns="0" anchor="ctr">
            <a:spAutoFit/>
          </a:bodyPr>
          <a:lstStyle/>
          <a:p>
            <a:pPr algn="l"/>
            <a:r>
              <a:rPr sz="1500" b="1" i="0">
                <a:solidFill>
                  <a:schemeClr val="tx2"/>
                </a:solidFill>
              </a:rPr>
              <a:t>PRBS and PAM4</a:t>
            </a:r>
          </a:p>
        </p:txBody>
      </p:sp>
      <p:sp>
        <p:nvSpPr>
          <p:cNvPr id="9" name="Card body PRBS and PAM4"/>
          <p:cNvSpPr txBox="1"/>
          <p:nvPr/>
        </p:nvSpPr>
        <p:spPr>
          <a:xfrm>
            <a:off x="713232" y="4480560"/>
            <a:ext cx="2322576" cy="1399031"/>
          </a:xfrm>
          <a:prstGeom prst="rect">
            <a:avLst/>
          </a:prstGeom>
          <a:noFill/>
        </p:spPr>
        <p:txBody>
          <a:bodyPr wrap="square" lIns="0" rIns="0" tIns="0" bIns="0" anchor="t">
            <a:spAutoFit/>
          </a:bodyPr>
          <a:lstStyle/>
          <a:p>
            <a:pPr algn="l"/>
            <a:r>
              <a:rPr sz="1400" b="0" i="0">
                <a:solidFill>
                  <a:schemeClr val="tx1"/>
                </a:solidFill>
              </a:rPr>
              <a:t>Orders 7, 9, 11, 15, 23 and 31 on V and I sources; PAM4 Gray coded, PRBS13Q and PRBS31Q; every transition a breakpoint; the stream a pure function of time</a:t>
            </a:r>
          </a:p>
        </p:txBody>
      </p:sp>
      <p:sp>
        <p:nvSpPr>
          <p:cNvPr id="10" name="Chip E-752">
            <a:hlinkClick r:id="rId3"/>
          </p:cNvPr>
          <p:cNvSpPr/>
          <p:nvPr/>
        </p:nvSpPr>
        <p:spPr>
          <a:xfrm>
            <a:off x="713232" y="5934455"/>
            <a:ext cx="662940" cy="219456"/>
          </a:xfrm>
          <a:prstGeom prst="roundRect">
            <a:avLst>
              <a:gd name="adj" fmla="val 50000"/>
            </a:avLst>
          </a:prstGeom>
          <a:solidFill>
            <a:schemeClr val="accent2">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2">
                    <a:lumMod val="65000"/>
                  </a:schemeClr>
                </a:solidFill>
              </a:rPr>
              <a:t>E-752</a:t>
            </a:r>
          </a:p>
        </p:txBody>
      </p:sp>
      <p:sp>
        <p:nvSpPr>
          <p:cNvPr id="11" name="Card eye and pyplot -eye"/>
          <p:cNvSpPr/>
          <p:nvPr/>
        </p:nvSpPr>
        <p:spPr>
          <a:xfrm>
            <a:off x="3383280" y="4023360"/>
            <a:ext cx="2651760" cy="2240279"/>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Card title eye and pyplot -eye"/>
          <p:cNvSpPr txBox="1"/>
          <p:nvPr/>
        </p:nvSpPr>
        <p:spPr>
          <a:xfrm>
            <a:off x="3547872" y="4142232"/>
            <a:ext cx="2322576" cy="292608"/>
          </a:xfrm>
          <a:prstGeom prst="rect">
            <a:avLst/>
          </a:prstGeom>
          <a:noFill/>
        </p:spPr>
        <p:txBody>
          <a:bodyPr wrap="square" lIns="0" rIns="0" tIns="0" bIns="0" anchor="ctr">
            <a:spAutoFit/>
          </a:bodyPr>
          <a:lstStyle/>
          <a:p>
            <a:pPr algn="l"/>
            <a:r>
              <a:rPr sz="1500" b="1" i="0">
                <a:solidFill>
                  <a:schemeClr val="tx2"/>
                </a:solidFill>
              </a:rPr>
              <a:t>eye and pyplot -eye</a:t>
            </a:r>
          </a:p>
        </p:txBody>
      </p:sp>
      <p:sp>
        <p:nvSpPr>
          <p:cNvPr id="13" name="Card body eye and pyplot -eye"/>
          <p:cNvSpPr txBox="1"/>
          <p:nvPr/>
        </p:nvSpPr>
        <p:spPr>
          <a:xfrm>
            <a:off x="3547872" y="4480560"/>
            <a:ext cx="2322576" cy="1399031"/>
          </a:xfrm>
          <a:prstGeom prst="rect">
            <a:avLst/>
          </a:prstGeom>
          <a:noFill/>
        </p:spPr>
        <p:txBody>
          <a:bodyPr wrap="square" lIns="0" rIns="0" tIns="0" bIns="0" anchor="t">
            <a:spAutoFit/>
          </a:bodyPr>
          <a:lstStyle/>
          <a:p>
            <a:pPr algn="l"/>
            <a:r>
              <a:rPr sz="1400" b="0" i="0">
                <a:solidFill>
                  <a:schemeClr val="tx1"/>
                </a:solidFill>
              </a:rPr>
              <a:t>eye measures eye height, eye width and RMS jitter of any waveform; pyplot -eye draws persistence-shaded eyes</a:t>
            </a:r>
          </a:p>
        </p:txBody>
      </p:sp>
      <p:sp>
        <p:nvSpPr>
          <p:cNvPr id="14" name="Chip E-207">
            <a:hlinkClick r:id="rId4"/>
          </p:cNvPr>
          <p:cNvSpPr/>
          <p:nvPr/>
        </p:nvSpPr>
        <p:spPr>
          <a:xfrm>
            <a:off x="3547872" y="5934455"/>
            <a:ext cx="662940" cy="219456"/>
          </a:xfrm>
          <a:prstGeom prst="roundRect">
            <a:avLst>
              <a:gd name="adj" fmla="val 50000"/>
            </a:avLst>
          </a:prstGeom>
          <a:solidFill>
            <a:schemeClr val="accent2">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2">
                    <a:lumMod val="65000"/>
                  </a:schemeClr>
                </a:solidFill>
              </a:rPr>
              <a:t>E-207</a:t>
            </a:r>
          </a:p>
        </p:txBody>
      </p:sp>
      <p:sp>
        <p:nvSpPr>
          <p:cNvPr id="15" name="Chip E-208">
            <a:hlinkClick r:id="rId5"/>
          </p:cNvPr>
          <p:cNvSpPr/>
          <p:nvPr/>
        </p:nvSpPr>
        <p:spPr>
          <a:xfrm>
            <a:off x="4265676" y="5934455"/>
            <a:ext cx="662940" cy="219456"/>
          </a:xfrm>
          <a:prstGeom prst="roundRect">
            <a:avLst>
              <a:gd name="adj" fmla="val 50000"/>
            </a:avLst>
          </a:prstGeom>
          <a:solidFill>
            <a:schemeClr val="accent2">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2">
                    <a:lumMod val="65000"/>
                  </a:schemeClr>
                </a:solidFill>
              </a:rPr>
              <a:t>E-208</a:t>
            </a:r>
          </a:p>
        </p:txBody>
      </p:sp>
      <p:pic>
        <p:nvPicPr>
          <p:cNvPr id="16" name="Plot eye_diagram.png" descr="eye_diagram.png"/>
          <p:cNvPicPr>
            <a:picLocks noChangeAspect="1"/>
          </p:cNvPicPr>
          <p:nvPr/>
        </p:nvPicPr>
        <p:blipFill>
          <a:blip r:embed="rId6"/>
          <a:stretch>
            <a:fillRect/>
          </a:stretch>
        </p:blipFill>
        <p:spPr>
          <a:xfrm>
            <a:off x="6355080" y="1417320"/>
            <a:ext cx="5285232" cy="3093794"/>
          </a:xfrm>
          <a:prstGeom prst="rect">
            <a:avLst/>
          </a:prstGeom>
          <a:ln w="9525">
            <a:solidFill>
              <a:schemeClr val="bg2">
                <a:lumMod val="90000"/>
              </a:schemeClr>
            </a:solidFill>
          </a:ln>
        </p:spPr>
      </p:pic>
      <p:sp>
        <p:nvSpPr>
          <p:cNvPr id="17" name="Caption eye_diagram.png"/>
          <p:cNvSpPr txBox="1"/>
          <p:nvPr/>
        </p:nvSpPr>
        <p:spPr>
          <a:xfrm>
            <a:off x="6355080" y="4602554"/>
            <a:ext cx="5285232" cy="457200"/>
          </a:xfrm>
          <a:prstGeom prst="rect">
            <a:avLst/>
          </a:prstGeom>
          <a:noFill/>
        </p:spPr>
        <p:txBody>
          <a:bodyPr wrap="square" lIns="0" rIns="0" tIns="0" bIns="0" anchor="t">
            <a:spAutoFit/>
          </a:bodyPr>
          <a:lstStyle/>
          <a:p>
            <a:pPr algn="l"/>
            <a:r>
              <a:rPr sz="1100" b="0" i="1">
                <a:solidFill>
                  <a:schemeClr val="accent3"/>
                </a:solidFill>
              </a:rPr>
              <a:t>A 2 Gb/s PRBS through an RC channel: eye height 565 mV, eye width 461 ps, RMS jitter 15.9 ps (examples/eye_examples)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Convergence and integration</a:t>
            </a:r>
          </a:p>
        </p:txBody>
      </p:sp>
      <p:sp>
        <p:nvSpPr>
          <p:cNvPr id="3" name="Kicker"/>
          <p:cNvSpPr txBox="1"/>
          <p:nvPr/>
        </p:nvSpPr>
        <p:spPr>
          <a:xfrm>
            <a:off x="548640" y="274320"/>
            <a:ext cx="11094415" cy="274320"/>
          </a:xfrm>
          <a:prstGeom prst="rect">
            <a:avLst/>
          </a:prstGeom>
          <a:noFill/>
        </p:spPr>
        <p:txBody>
          <a:bodyPr wrap="square" lIns="0" rIns="0" tIns="0" bIns="0" anchor="t">
            <a:spAutoFit/>
          </a:bodyPr>
          <a:lstStyle/>
          <a:p>
            <a:pPr algn="l"/>
            <a:r>
              <a:rPr sz="1100" b="1" i="0" spc="120">
                <a:solidFill>
                  <a:schemeClr val="accent2">
                    <a:lumMod val="75000"/>
                  </a:schemeClr>
                </a:solidFill>
              </a:rPr>
              <a:t>SIMULATOR · 43 ENHANCEMENTS</a:t>
            </a:r>
          </a:p>
        </p:txBody>
      </p:sp>
      <p:sp>
        <p:nvSpPr>
          <p:cNvPr id="4" name="Rung Newton"/>
          <p:cNvSpPr/>
          <p:nvPr/>
        </p:nvSpPr>
        <p:spPr>
          <a:xfrm>
            <a:off x="548640" y="1463040"/>
            <a:ext cx="1889699" cy="868680"/>
          </a:xfrm>
          <a:prstGeom prst="roundRect">
            <a:avLst>
              <a:gd name="adj" fmla="val 6000"/>
            </a:avLst>
          </a:prstGeom>
          <a:solidFill>
            <a:schemeClr val="accent2">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600" b="1">
                <a:solidFill>
                  <a:schemeClr val="accent2">
                    <a:lumMod val="55000"/>
                  </a:schemeClr>
                </a:solidFill>
              </a:rPr>
              <a:t>Newton</a:t>
            </a:r>
          </a:p>
        </p:txBody>
      </p:sp>
      <p:sp>
        <p:nvSpPr>
          <p:cNvPr id="5" name="Arrow"/>
          <p:cNvSpPr/>
          <p:nvPr/>
        </p:nvSpPr>
        <p:spPr>
          <a:xfrm>
            <a:off x="2511491" y="1764792"/>
            <a:ext cx="265176" cy="265176"/>
          </a:xfrm>
          <a:prstGeom prst="rightArrow">
            <a:avLst/>
          </a:prstGeom>
          <a:solidFill>
            <a:schemeClr val="accent3">
              <a:lumMod val="65000"/>
              <a:lumOff val="3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ung gmin stepping"/>
          <p:cNvSpPr/>
          <p:nvPr/>
        </p:nvSpPr>
        <p:spPr>
          <a:xfrm>
            <a:off x="2849819" y="1463040"/>
            <a:ext cx="1889699" cy="868680"/>
          </a:xfrm>
          <a:prstGeom prst="roundRect">
            <a:avLst>
              <a:gd name="adj" fmla="val 6000"/>
            </a:avLst>
          </a:prstGeom>
          <a:solidFill>
            <a:schemeClr val="accent2">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600" b="1">
                <a:solidFill>
                  <a:schemeClr val="accent2">
                    <a:lumMod val="55000"/>
                  </a:schemeClr>
                </a:solidFill>
              </a:rPr>
              <a:t>gmin stepping</a:t>
            </a:r>
          </a:p>
        </p:txBody>
      </p:sp>
      <p:sp>
        <p:nvSpPr>
          <p:cNvPr id="7" name="Arrow"/>
          <p:cNvSpPr/>
          <p:nvPr/>
        </p:nvSpPr>
        <p:spPr>
          <a:xfrm>
            <a:off x="4812670" y="1764792"/>
            <a:ext cx="265176" cy="265176"/>
          </a:xfrm>
          <a:prstGeom prst="rightArrow">
            <a:avLst/>
          </a:prstGeom>
          <a:solidFill>
            <a:schemeClr val="accent3">
              <a:lumMod val="65000"/>
              <a:lumOff val="3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ung source stepping"/>
          <p:cNvSpPr/>
          <p:nvPr/>
        </p:nvSpPr>
        <p:spPr>
          <a:xfrm>
            <a:off x="5150998" y="1463040"/>
            <a:ext cx="1889699" cy="868680"/>
          </a:xfrm>
          <a:prstGeom prst="roundRect">
            <a:avLst>
              <a:gd name="adj" fmla="val 6000"/>
            </a:avLst>
          </a:prstGeom>
          <a:solidFill>
            <a:schemeClr val="accent2">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600" b="1">
                <a:solidFill>
                  <a:schemeClr val="accent2">
                    <a:lumMod val="55000"/>
                  </a:schemeClr>
                </a:solidFill>
              </a:rPr>
              <a:t>source stepping</a:t>
            </a:r>
          </a:p>
        </p:txBody>
      </p:sp>
      <p:sp>
        <p:nvSpPr>
          <p:cNvPr id="9" name="Arrow"/>
          <p:cNvSpPr/>
          <p:nvPr/>
        </p:nvSpPr>
        <p:spPr>
          <a:xfrm>
            <a:off x="7113849" y="1764792"/>
            <a:ext cx="265176" cy="265176"/>
          </a:xfrm>
          <a:prstGeom prst="rightArrow">
            <a:avLst/>
          </a:prstGeom>
          <a:solidFill>
            <a:schemeClr val="accent3">
              <a:lumMod val="65000"/>
              <a:lumOff val="3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ung line search"/>
          <p:cNvSpPr/>
          <p:nvPr/>
        </p:nvSpPr>
        <p:spPr>
          <a:xfrm>
            <a:off x="7452177" y="1463040"/>
            <a:ext cx="1889699" cy="868680"/>
          </a:xfrm>
          <a:prstGeom prst="roundRect">
            <a:avLst>
              <a:gd name="adj" fmla="val 6000"/>
            </a:avLst>
          </a:prstGeom>
          <a:solidFill>
            <a:schemeClr val="accent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600" b="1">
                <a:solidFill>
                  <a:schemeClr val="bg1"/>
                </a:solidFill>
              </a:rPr>
              <a:t>line search</a:t>
            </a:r>
          </a:p>
        </p:txBody>
      </p:sp>
      <p:sp>
        <p:nvSpPr>
          <p:cNvPr id="11" name="Arrow"/>
          <p:cNvSpPr/>
          <p:nvPr/>
        </p:nvSpPr>
        <p:spPr>
          <a:xfrm>
            <a:off x="9415028" y="1764792"/>
            <a:ext cx="265176" cy="265176"/>
          </a:xfrm>
          <a:prstGeom prst="rightArrow">
            <a:avLst/>
          </a:prstGeom>
          <a:solidFill>
            <a:schemeClr val="accent3">
              <a:lumMod val="65000"/>
              <a:lumOff val="3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ung pseudo-transient"/>
          <p:cNvSpPr/>
          <p:nvPr/>
        </p:nvSpPr>
        <p:spPr>
          <a:xfrm>
            <a:off x="9753356" y="1463040"/>
            <a:ext cx="1889699" cy="868680"/>
          </a:xfrm>
          <a:prstGeom prst="roundRect">
            <a:avLst>
              <a:gd name="adj" fmla="val 6000"/>
            </a:avLst>
          </a:prstGeom>
          <a:solidFill>
            <a:schemeClr val="accent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600" b="1">
                <a:solidFill>
                  <a:schemeClr val="bg1"/>
                </a:solidFill>
              </a:rPr>
              <a:t>pseudo-transient</a:t>
            </a:r>
          </a:p>
        </p:txBody>
      </p:sp>
      <p:sp>
        <p:nvSpPr>
          <p:cNvPr id="13" name="Ladder note"/>
          <p:cNvSpPr txBox="1"/>
          <p:nvPr/>
        </p:nvSpPr>
        <p:spPr>
          <a:xfrm>
            <a:off x="548640" y="2468880"/>
            <a:ext cx="11094415" cy="320040"/>
          </a:xfrm>
          <a:prstGeom prst="rect">
            <a:avLst/>
          </a:prstGeom>
          <a:noFill/>
        </p:spPr>
        <p:txBody>
          <a:bodyPr wrap="square" lIns="0" rIns="0" tIns="0" bIns="0" anchor="t">
            <a:spAutoFit/>
          </a:bodyPr>
          <a:lstStyle/>
          <a:p>
            <a:pPr algn="l"/>
            <a:r>
              <a:rPr sz="1400" b="1" i="0">
                <a:solidFill>
                  <a:schemeClr val="tx1"/>
                </a:solidFill>
                <a:latin typeface="Courier New"/>
              </a:rPr>
              <a:t>.option convhelp</a:t>
            </a:r>
            <a:r>
              <a:rPr sz="1400" b="0" i="0">
                <a:solidFill>
                  <a:schemeClr val="tx1"/>
                </a:solidFill>
              </a:rPr>
              <a:t> climbs the whole ladder itself and reports which aid found the operating point</a:t>
            </a:r>
          </a:p>
        </p:txBody>
      </p:sp>
      <p:sp>
        <p:nvSpPr>
          <p:cNvPr id="14" name="Card Accuracy presets"/>
          <p:cNvSpPr/>
          <p:nvPr/>
        </p:nvSpPr>
        <p:spPr>
          <a:xfrm>
            <a:off x="548640" y="3017520"/>
            <a:ext cx="3360420" cy="1531619"/>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Card title Accuracy presets"/>
          <p:cNvSpPr txBox="1"/>
          <p:nvPr/>
        </p:nvSpPr>
        <p:spPr>
          <a:xfrm>
            <a:off x="713232" y="3136391"/>
            <a:ext cx="3031236" cy="292608"/>
          </a:xfrm>
          <a:prstGeom prst="rect">
            <a:avLst/>
          </a:prstGeom>
          <a:noFill/>
        </p:spPr>
        <p:txBody>
          <a:bodyPr wrap="square" lIns="0" rIns="0" tIns="0" bIns="0" anchor="ctr">
            <a:spAutoFit/>
          </a:bodyPr>
          <a:lstStyle/>
          <a:p>
            <a:pPr algn="l"/>
            <a:r>
              <a:rPr sz="1500" b="1" i="0">
                <a:solidFill>
                  <a:schemeClr val="tx2"/>
                </a:solidFill>
              </a:rPr>
              <a:t>Accuracy presets</a:t>
            </a:r>
          </a:p>
        </p:txBody>
      </p:sp>
      <p:sp>
        <p:nvSpPr>
          <p:cNvPr id="16" name="Card body Accuracy presets"/>
          <p:cNvSpPr txBox="1"/>
          <p:nvPr/>
        </p:nvSpPr>
        <p:spPr>
          <a:xfrm>
            <a:off x="713232" y="3474720"/>
            <a:ext cx="3031236" cy="690371"/>
          </a:xfrm>
          <a:prstGeom prst="rect">
            <a:avLst/>
          </a:prstGeom>
          <a:noFill/>
        </p:spPr>
        <p:txBody>
          <a:bodyPr wrap="square" lIns="0" rIns="0" tIns="0" bIns="0" anchor="t">
            <a:spAutoFit/>
          </a:bodyPr>
          <a:lstStyle/>
          <a:p>
            <a:pPr algn="l"/>
            <a:r>
              <a:rPr sz="1400" b="0" i="0">
                <a:solidFill>
                  <a:schemeClr val="tx1"/>
                </a:solidFill>
              </a:rPr>
              <a:t>.option errpreset sets the tolerances together: conservative, moderate, liberal</a:t>
            </a:r>
          </a:p>
        </p:txBody>
      </p:sp>
      <p:sp>
        <p:nvSpPr>
          <p:cNvPr id="17" name="Chip E-110">
            <a:hlinkClick r:id="rId3"/>
          </p:cNvPr>
          <p:cNvSpPr/>
          <p:nvPr/>
        </p:nvSpPr>
        <p:spPr>
          <a:xfrm>
            <a:off x="713232" y="4219955"/>
            <a:ext cx="662940" cy="219456"/>
          </a:xfrm>
          <a:prstGeom prst="roundRect">
            <a:avLst>
              <a:gd name="adj" fmla="val 50000"/>
            </a:avLst>
          </a:prstGeom>
          <a:solidFill>
            <a:schemeClr val="accent2">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2">
                    <a:lumMod val="65000"/>
                  </a:schemeClr>
                </a:solidFill>
              </a:rPr>
              <a:t>E-110</a:t>
            </a:r>
          </a:p>
        </p:txBody>
      </p:sp>
      <p:sp>
        <p:nvSpPr>
          <p:cNvPr id="18" name="Card Five integrators"/>
          <p:cNvSpPr/>
          <p:nvPr/>
        </p:nvSpPr>
        <p:spPr>
          <a:xfrm>
            <a:off x="4091939" y="3017520"/>
            <a:ext cx="3360420" cy="1531619"/>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Card title Five integrators"/>
          <p:cNvSpPr txBox="1"/>
          <p:nvPr/>
        </p:nvSpPr>
        <p:spPr>
          <a:xfrm>
            <a:off x="4256531" y="3136391"/>
            <a:ext cx="3031236" cy="292608"/>
          </a:xfrm>
          <a:prstGeom prst="rect">
            <a:avLst/>
          </a:prstGeom>
          <a:noFill/>
        </p:spPr>
        <p:txBody>
          <a:bodyPr wrap="square" lIns="0" rIns="0" tIns="0" bIns="0" anchor="ctr">
            <a:spAutoFit/>
          </a:bodyPr>
          <a:lstStyle/>
          <a:p>
            <a:pPr algn="l"/>
            <a:r>
              <a:rPr sz="1500" b="1" i="0">
                <a:solidFill>
                  <a:schemeClr val="tx2"/>
                </a:solidFill>
              </a:rPr>
              <a:t>Five integrators</a:t>
            </a:r>
          </a:p>
        </p:txBody>
      </p:sp>
      <p:sp>
        <p:nvSpPr>
          <p:cNvPr id="20" name="Card body Five integrators"/>
          <p:cNvSpPr txBox="1"/>
          <p:nvPr/>
        </p:nvSpPr>
        <p:spPr>
          <a:xfrm>
            <a:off x="4256531" y="3474720"/>
            <a:ext cx="3031236" cy="690371"/>
          </a:xfrm>
          <a:prstGeom prst="rect">
            <a:avLst/>
          </a:prstGeom>
          <a:noFill/>
        </p:spPr>
        <p:txBody>
          <a:bodyPr wrap="square" lIns="0" rIns="0" tIns="0" bIns="0" anchor="t">
            <a:spAutoFit/>
          </a:bodyPr>
          <a:lstStyle/>
          <a:p>
            <a:pPr algn="l"/>
            <a:r>
              <a:rPr sz="1400" b="0" i="0">
                <a:solidFill>
                  <a:schemeClr val="tx1"/>
                </a:solidFill>
              </a:rPr>
              <a:t>trap and gear 1–6, plus trbdf2, sdirk and adams; ordfix pins the order</a:t>
            </a:r>
          </a:p>
        </p:txBody>
      </p:sp>
      <p:sp>
        <p:nvSpPr>
          <p:cNvPr id="21" name="Chip E-419">
            <a:hlinkClick r:id="rId4"/>
          </p:cNvPr>
          <p:cNvSpPr/>
          <p:nvPr/>
        </p:nvSpPr>
        <p:spPr>
          <a:xfrm>
            <a:off x="4256531" y="4219955"/>
            <a:ext cx="662940" cy="219456"/>
          </a:xfrm>
          <a:prstGeom prst="roundRect">
            <a:avLst>
              <a:gd name="adj" fmla="val 50000"/>
            </a:avLst>
          </a:prstGeom>
          <a:solidFill>
            <a:schemeClr val="accent2">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2">
                    <a:lumMod val="65000"/>
                  </a:schemeClr>
                </a:solidFill>
              </a:rPr>
              <a:t>E-419</a:t>
            </a:r>
          </a:p>
        </p:txBody>
      </p:sp>
      <p:sp>
        <p:nvSpPr>
          <p:cNvPr id="22" name="Chip E-181">
            <a:hlinkClick r:id="rId5"/>
          </p:cNvPr>
          <p:cNvSpPr/>
          <p:nvPr/>
        </p:nvSpPr>
        <p:spPr>
          <a:xfrm>
            <a:off x="4974336" y="4219955"/>
            <a:ext cx="662940" cy="219456"/>
          </a:xfrm>
          <a:prstGeom prst="roundRect">
            <a:avLst>
              <a:gd name="adj" fmla="val 50000"/>
            </a:avLst>
          </a:prstGeom>
          <a:solidFill>
            <a:schemeClr val="accent2">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2">
                    <a:lumMod val="65000"/>
                  </a:schemeClr>
                </a:solidFill>
              </a:rPr>
              <a:t>E-181</a:t>
            </a:r>
          </a:p>
        </p:txBody>
      </p:sp>
      <p:sp>
        <p:nvSpPr>
          <p:cNvPr id="23" name="Card Order control"/>
          <p:cNvSpPr/>
          <p:nvPr/>
        </p:nvSpPr>
        <p:spPr>
          <a:xfrm>
            <a:off x="548640" y="4732020"/>
            <a:ext cx="3360420" cy="1531619"/>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Card title Order control"/>
          <p:cNvSpPr txBox="1"/>
          <p:nvPr/>
        </p:nvSpPr>
        <p:spPr>
          <a:xfrm>
            <a:off x="713232" y="4850892"/>
            <a:ext cx="3031236" cy="292608"/>
          </a:xfrm>
          <a:prstGeom prst="rect">
            <a:avLst/>
          </a:prstGeom>
          <a:noFill/>
        </p:spPr>
        <p:txBody>
          <a:bodyPr wrap="square" lIns="0" rIns="0" tIns="0" bIns="0" anchor="ctr">
            <a:spAutoFit/>
          </a:bodyPr>
          <a:lstStyle/>
          <a:p>
            <a:pPr algn="l"/>
            <a:r>
              <a:rPr sz="1500" b="1" i="0">
                <a:solidFill>
                  <a:schemeClr val="tx2"/>
                </a:solidFill>
              </a:rPr>
              <a:t>Order control</a:t>
            </a:r>
          </a:p>
        </p:txBody>
      </p:sp>
      <p:sp>
        <p:nvSpPr>
          <p:cNvPr id="25" name="Card body Order control"/>
          <p:cNvSpPr txBox="1"/>
          <p:nvPr/>
        </p:nvSpPr>
        <p:spPr>
          <a:xfrm>
            <a:off x="713232" y="5189220"/>
            <a:ext cx="3031236" cy="690371"/>
          </a:xfrm>
          <a:prstGeom prst="rect">
            <a:avLst/>
          </a:prstGeom>
          <a:noFill/>
        </p:spPr>
        <p:txBody>
          <a:bodyPr wrap="square" lIns="0" rIns="0" tIns="0" bIns="0" anchor="t">
            <a:spAutoFit/>
          </a:bodyPr>
          <a:lstStyle/>
          <a:p>
            <a:pPr algn="l"/>
            <a:r>
              <a:rPr sz="1400" b="0" i="0">
                <a:solidFill>
                  <a:schemeClr val="tx1"/>
                </a:solidFill>
              </a:rPr>
              <a:t>.option dynorder picks the Gear order from the local truncation error</a:t>
            </a:r>
          </a:p>
        </p:txBody>
      </p:sp>
      <p:sp>
        <p:nvSpPr>
          <p:cNvPr id="26" name="Chip E-128">
            <a:hlinkClick r:id="rId6"/>
          </p:cNvPr>
          <p:cNvSpPr/>
          <p:nvPr/>
        </p:nvSpPr>
        <p:spPr>
          <a:xfrm>
            <a:off x="713232" y="5934455"/>
            <a:ext cx="662940" cy="219456"/>
          </a:xfrm>
          <a:prstGeom prst="roundRect">
            <a:avLst>
              <a:gd name="adj" fmla="val 50000"/>
            </a:avLst>
          </a:prstGeom>
          <a:solidFill>
            <a:schemeClr val="accent2">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2">
                    <a:lumMod val="65000"/>
                  </a:schemeClr>
                </a:solidFill>
              </a:rPr>
              <a:t>E-128</a:t>
            </a:r>
          </a:p>
        </p:txBody>
      </p:sp>
      <p:sp>
        <p:nvSpPr>
          <p:cNvPr id="27" name="Card Guards"/>
          <p:cNvSpPr/>
          <p:nvPr/>
        </p:nvSpPr>
        <p:spPr>
          <a:xfrm>
            <a:off x="4091939" y="4732020"/>
            <a:ext cx="3360420" cy="1531619"/>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Card title Guards"/>
          <p:cNvSpPr txBox="1"/>
          <p:nvPr/>
        </p:nvSpPr>
        <p:spPr>
          <a:xfrm>
            <a:off x="4256531" y="4850892"/>
            <a:ext cx="3031236" cy="292608"/>
          </a:xfrm>
          <a:prstGeom prst="rect">
            <a:avLst/>
          </a:prstGeom>
          <a:noFill/>
        </p:spPr>
        <p:txBody>
          <a:bodyPr wrap="square" lIns="0" rIns="0" tIns="0" bIns="0" anchor="ctr">
            <a:spAutoFit/>
          </a:bodyPr>
          <a:lstStyle/>
          <a:p>
            <a:pPr algn="l"/>
            <a:r>
              <a:rPr sz="1500" b="1" i="0">
                <a:solidFill>
                  <a:schemeClr val="tx2"/>
                </a:solidFill>
              </a:rPr>
              <a:t>Guards</a:t>
            </a:r>
          </a:p>
        </p:txBody>
      </p:sp>
      <p:sp>
        <p:nvSpPr>
          <p:cNvPr id="29" name="Card body Guards"/>
          <p:cNvSpPr txBox="1"/>
          <p:nvPr/>
        </p:nvSpPr>
        <p:spPr>
          <a:xfrm>
            <a:off x="4256531" y="5189220"/>
            <a:ext cx="3031236" cy="690371"/>
          </a:xfrm>
          <a:prstGeom prst="rect">
            <a:avLst/>
          </a:prstGeom>
          <a:noFill/>
        </p:spPr>
        <p:txBody>
          <a:bodyPr wrap="square" lIns="0" rIns="0" tIns="0" bIns="0" anchor="t">
            <a:spAutoFit/>
          </a:bodyPr>
          <a:lstStyle/>
          <a:p>
            <a:pPr algn="l"/>
            <a:r>
              <a:rPr sz="1400" b="0" i="0">
                <a:solidFill>
                  <a:schemeClr val="tx1"/>
                </a:solidFill>
              </a:rPr>
              <a:t>False convergence on singular B-sources caught; device convergence tests honoured</a:t>
            </a:r>
          </a:p>
        </p:txBody>
      </p:sp>
      <p:sp>
        <p:nvSpPr>
          <p:cNvPr id="30" name="Chip E-256">
            <a:hlinkClick r:id="rId7"/>
          </p:cNvPr>
          <p:cNvSpPr/>
          <p:nvPr/>
        </p:nvSpPr>
        <p:spPr>
          <a:xfrm>
            <a:off x="4256531" y="5934455"/>
            <a:ext cx="662940" cy="219456"/>
          </a:xfrm>
          <a:prstGeom prst="roundRect">
            <a:avLst>
              <a:gd name="adj" fmla="val 50000"/>
            </a:avLst>
          </a:prstGeom>
          <a:solidFill>
            <a:schemeClr val="accent2">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2">
                    <a:lumMod val="65000"/>
                  </a:schemeClr>
                </a:solidFill>
              </a:rPr>
              <a:t>E-256</a:t>
            </a:r>
          </a:p>
        </p:txBody>
      </p:sp>
      <p:sp>
        <p:nvSpPr>
          <p:cNvPr id="31" name="Chip E-889">
            <a:hlinkClick r:id="rId8"/>
          </p:cNvPr>
          <p:cNvSpPr/>
          <p:nvPr/>
        </p:nvSpPr>
        <p:spPr>
          <a:xfrm>
            <a:off x="4974336" y="5934455"/>
            <a:ext cx="662940" cy="219456"/>
          </a:xfrm>
          <a:prstGeom prst="roundRect">
            <a:avLst>
              <a:gd name="adj" fmla="val 50000"/>
            </a:avLst>
          </a:prstGeom>
          <a:solidFill>
            <a:schemeClr val="accent2">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2">
                    <a:lumMod val="65000"/>
                  </a:schemeClr>
                </a:solidFill>
              </a:rPr>
              <a:t>E-889</a:t>
            </a:r>
          </a:p>
        </p:txBody>
      </p:sp>
      <p:pic>
        <p:nvPicPr>
          <p:cNvPr id="32" name="Plot corenum.png" descr="corenum.png"/>
          <p:cNvPicPr>
            <a:picLocks noChangeAspect="1"/>
          </p:cNvPicPr>
          <p:nvPr/>
        </p:nvPicPr>
        <p:blipFill>
          <a:blip r:embed="rId9"/>
          <a:stretch>
            <a:fillRect/>
          </a:stretch>
        </p:blipFill>
        <p:spPr>
          <a:xfrm>
            <a:off x="7726679" y="3017520"/>
            <a:ext cx="3913632" cy="1633515"/>
          </a:xfrm>
          <a:prstGeom prst="rect">
            <a:avLst/>
          </a:prstGeom>
          <a:ln w="9525">
            <a:solidFill>
              <a:schemeClr val="bg2">
                <a:lumMod val="90000"/>
              </a:schemeClr>
            </a:solidFill>
          </a:ln>
        </p:spPr>
      </p:pic>
      <p:sp>
        <p:nvSpPr>
          <p:cNvPr id="33" name="Caption corenum.png"/>
          <p:cNvSpPr txBox="1"/>
          <p:nvPr/>
        </p:nvSpPr>
        <p:spPr>
          <a:xfrm>
            <a:off x="7726679" y="4742475"/>
            <a:ext cx="3913632" cy="822960"/>
          </a:xfrm>
          <a:prstGeom prst="rect">
            <a:avLst/>
          </a:prstGeom>
          <a:noFill/>
        </p:spPr>
        <p:txBody>
          <a:bodyPr wrap="square" lIns="0" rIns="0" tIns="0" bIns="0" anchor="t">
            <a:spAutoFit/>
          </a:bodyPr>
          <a:lstStyle/>
          <a:p>
            <a:pPr algn="l"/>
            <a:r>
              <a:rPr sz="1100" b="0" i="1">
                <a:solidFill>
                  <a:schemeClr val="accent3"/>
                </a:solidFill>
              </a:rPr>
              <a:t>The integrator certified: accepted points satisfy the exact BDF formula to machine precision, and ordfix converges at h^k (examples/corenum_examples)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KLU, at parity with Sparse</a:t>
            </a:r>
          </a:p>
        </p:txBody>
      </p:sp>
      <p:sp>
        <p:nvSpPr>
          <p:cNvPr id="3" name="Kicker"/>
          <p:cNvSpPr txBox="1"/>
          <p:nvPr/>
        </p:nvSpPr>
        <p:spPr>
          <a:xfrm>
            <a:off x="548640" y="274320"/>
            <a:ext cx="11094415" cy="274320"/>
          </a:xfrm>
          <a:prstGeom prst="rect">
            <a:avLst/>
          </a:prstGeom>
          <a:noFill/>
        </p:spPr>
        <p:txBody>
          <a:bodyPr wrap="square" lIns="0" rIns="0" tIns="0" bIns="0" anchor="t">
            <a:spAutoFit/>
          </a:bodyPr>
          <a:lstStyle/>
          <a:p>
            <a:pPr algn="l"/>
            <a:r>
              <a:rPr sz="1100" b="1" i="0" spc="120">
                <a:solidFill>
                  <a:schemeClr val="accent2">
                    <a:lumMod val="75000"/>
                  </a:schemeClr>
                </a:solidFill>
              </a:rPr>
              <a:t>SIMULATOR · 16 ENHANCEMENTS</a:t>
            </a:r>
          </a:p>
        </p:txBody>
      </p:sp>
      <p:sp>
        <p:nvSpPr>
          <p:cNvPr id="4" name="Card Every analysis"/>
          <p:cNvSpPr/>
          <p:nvPr/>
        </p:nvSpPr>
        <p:spPr>
          <a:xfrm>
            <a:off x="548640" y="1417320"/>
            <a:ext cx="3360420" cy="1493519"/>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Card title Every analysis"/>
          <p:cNvSpPr txBox="1"/>
          <p:nvPr/>
        </p:nvSpPr>
        <p:spPr>
          <a:xfrm>
            <a:off x="713232" y="1536192"/>
            <a:ext cx="3031236" cy="292608"/>
          </a:xfrm>
          <a:prstGeom prst="rect">
            <a:avLst/>
          </a:prstGeom>
          <a:noFill/>
        </p:spPr>
        <p:txBody>
          <a:bodyPr wrap="square" lIns="0" rIns="0" tIns="0" bIns="0" anchor="ctr">
            <a:spAutoFit/>
          </a:bodyPr>
          <a:lstStyle/>
          <a:p>
            <a:pPr algn="l"/>
            <a:r>
              <a:rPr sz="1500" b="1" i="0">
                <a:solidFill>
                  <a:schemeClr val="tx2"/>
                </a:solidFill>
              </a:rPr>
              <a:t>Every analysis</a:t>
            </a:r>
          </a:p>
        </p:txBody>
      </p:sp>
      <p:sp>
        <p:nvSpPr>
          <p:cNvPr id="6" name="Card body Every analysis"/>
          <p:cNvSpPr txBox="1"/>
          <p:nvPr/>
        </p:nvSpPr>
        <p:spPr>
          <a:xfrm>
            <a:off x="713232" y="1874519"/>
            <a:ext cx="3031236" cy="652271"/>
          </a:xfrm>
          <a:prstGeom prst="rect">
            <a:avLst/>
          </a:prstGeom>
          <a:noFill/>
        </p:spPr>
        <p:txBody>
          <a:bodyPr wrap="square" lIns="0" rIns="0" tIns="0" bIns="0" anchor="t">
            <a:spAutoFit/>
          </a:bodyPr>
          <a:lstStyle/>
          <a:p>
            <a:pPr algn="l"/>
            <a:r>
              <a:rPr sz="1400" b="0" i="0">
                <a:solidFill>
                  <a:schemeClr val="tx1"/>
                </a:solidFill>
              </a:rPr>
              <a:t>KLU runs noise, pole-zero, sensitivity and distortion as Sparse does</a:t>
            </a:r>
          </a:p>
        </p:txBody>
      </p:sp>
      <p:sp>
        <p:nvSpPr>
          <p:cNvPr id="7" name="Chip E-113">
            <a:hlinkClick r:id="rId3"/>
          </p:cNvPr>
          <p:cNvSpPr/>
          <p:nvPr/>
        </p:nvSpPr>
        <p:spPr>
          <a:xfrm>
            <a:off x="713232" y="2581656"/>
            <a:ext cx="662940" cy="219456"/>
          </a:xfrm>
          <a:prstGeom prst="roundRect">
            <a:avLst>
              <a:gd name="adj" fmla="val 50000"/>
            </a:avLst>
          </a:prstGeom>
          <a:solidFill>
            <a:schemeClr val="accent2">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2">
                    <a:lumMod val="65000"/>
                  </a:schemeClr>
                </a:solidFill>
              </a:rPr>
              <a:t>E-113</a:t>
            </a:r>
          </a:p>
        </p:txBody>
      </p:sp>
      <p:sp>
        <p:nvSpPr>
          <p:cNvPr id="8" name="Chip E-114">
            <a:hlinkClick r:id="rId4"/>
          </p:cNvPr>
          <p:cNvSpPr/>
          <p:nvPr/>
        </p:nvSpPr>
        <p:spPr>
          <a:xfrm>
            <a:off x="1431036" y="2581656"/>
            <a:ext cx="662940" cy="219456"/>
          </a:xfrm>
          <a:prstGeom prst="roundRect">
            <a:avLst>
              <a:gd name="adj" fmla="val 50000"/>
            </a:avLst>
          </a:prstGeom>
          <a:solidFill>
            <a:schemeClr val="accent2">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2">
                    <a:lumMod val="65000"/>
                  </a:schemeClr>
                </a:solidFill>
              </a:rPr>
              <a:t>E-114</a:t>
            </a:r>
          </a:p>
        </p:txBody>
      </p:sp>
      <p:sp>
        <p:nvSpPr>
          <p:cNvPr id="9" name="Chip E-115">
            <a:hlinkClick r:id="rId5"/>
          </p:cNvPr>
          <p:cNvSpPr/>
          <p:nvPr/>
        </p:nvSpPr>
        <p:spPr>
          <a:xfrm>
            <a:off x="2148839" y="2581656"/>
            <a:ext cx="662940" cy="219456"/>
          </a:xfrm>
          <a:prstGeom prst="roundRect">
            <a:avLst>
              <a:gd name="adj" fmla="val 50000"/>
            </a:avLst>
          </a:prstGeom>
          <a:solidFill>
            <a:schemeClr val="accent2">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2">
                    <a:lumMod val="65000"/>
                  </a:schemeClr>
                </a:solidFill>
              </a:rPr>
              <a:t>E-115</a:t>
            </a:r>
          </a:p>
        </p:txBody>
      </p:sp>
      <p:sp>
        <p:nvSpPr>
          <p:cNvPr id="10" name="Card Periodic &amp; restart"/>
          <p:cNvSpPr/>
          <p:nvPr/>
        </p:nvSpPr>
        <p:spPr>
          <a:xfrm>
            <a:off x="4091939" y="1417320"/>
            <a:ext cx="3360420" cy="1493519"/>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Card title Periodic &amp; restart"/>
          <p:cNvSpPr txBox="1"/>
          <p:nvPr/>
        </p:nvSpPr>
        <p:spPr>
          <a:xfrm>
            <a:off x="4256531" y="1536192"/>
            <a:ext cx="3031236" cy="292608"/>
          </a:xfrm>
          <a:prstGeom prst="rect">
            <a:avLst/>
          </a:prstGeom>
          <a:noFill/>
        </p:spPr>
        <p:txBody>
          <a:bodyPr wrap="square" lIns="0" rIns="0" tIns="0" bIns="0" anchor="ctr">
            <a:spAutoFit/>
          </a:bodyPr>
          <a:lstStyle/>
          <a:p>
            <a:pPr algn="l"/>
            <a:r>
              <a:rPr sz="1500" b="1" i="0">
                <a:solidFill>
                  <a:schemeClr val="tx2"/>
                </a:solidFill>
              </a:rPr>
              <a:t>Periodic &amp; restart</a:t>
            </a:r>
          </a:p>
        </p:txBody>
      </p:sp>
      <p:sp>
        <p:nvSpPr>
          <p:cNvPr id="12" name="Card body Periodic &amp; restart"/>
          <p:cNvSpPr txBox="1"/>
          <p:nvPr/>
        </p:nvSpPr>
        <p:spPr>
          <a:xfrm>
            <a:off x="4256531" y="1874519"/>
            <a:ext cx="3031236" cy="652271"/>
          </a:xfrm>
          <a:prstGeom prst="rect">
            <a:avLst/>
          </a:prstGeom>
          <a:noFill/>
        </p:spPr>
        <p:txBody>
          <a:bodyPr wrap="square" lIns="0" rIns="0" tIns="0" bIns="0" anchor="t">
            <a:spAutoFit/>
          </a:bodyPr>
          <a:lstStyle/>
          <a:p>
            <a:pPr algn="l"/>
            <a:r>
              <a:rPr sz="1400" b="0" i="0">
                <a:solidFill>
                  <a:schemeClr val="tx1"/>
                </a:solidFill>
              </a:rPr>
              <a:t>PSS under KLU; a checkpoint resumes under the other solver</a:t>
            </a:r>
          </a:p>
        </p:txBody>
      </p:sp>
      <p:sp>
        <p:nvSpPr>
          <p:cNvPr id="13" name="Chip E-118">
            <a:hlinkClick r:id="rId6"/>
          </p:cNvPr>
          <p:cNvSpPr/>
          <p:nvPr/>
        </p:nvSpPr>
        <p:spPr>
          <a:xfrm>
            <a:off x="4256531" y="2581656"/>
            <a:ext cx="662940" cy="219456"/>
          </a:xfrm>
          <a:prstGeom prst="roundRect">
            <a:avLst>
              <a:gd name="adj" fmla="val 50000"/>
            </a:avLst>
          </a:prstGeom>
          <a:solidFill>
            <a:schemeClr val="accent2">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2">
                    <a:lumMod val="65000"/>
                  </a:schemeClr>
                </a:solidFill>
              </a:rPr>
              <a:t>E-118</a:t>
            </a:r>
          </a:p>
        </p:txBody>
      </p:sp>
      <p:sp>
        <p:nvSpPr>
          <p:cNvPr id="14" name="Chip E-180">
            <a:hlinkClick r:id="rId7"/>
          </p:cNvPr>
          <p:cNvSpPr/>
          <p:nvPr/>
        </p:nvSpPr>
        <p:spPr>
          <a:xfrm>
            <a:off x="4974336" y="2581656"/>
            <a:ext cx="662940" cy="219456"/>
          </a:xfrm>
          <a:prstGeom prst="roundRect">
            <a:avLst>
              <a:gd name="adj" fmla="val 50000"/>
            </a:avLst>
          </a:prstGeom>
          <a:solidFill>
            <a:schemeClr val="accent2">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2">
                    <a:lumMod val="65000"/>
                  </a:schemeClr>
                </a:solidFill>
              </a:rPr>
              <a:t>E-180</a:t>
            </a:r>
          </a:p>
        </p:txBody>
      </p:sp>
      <p:sp>
        <p:nvSpPr>
          <p:cNvPr id="15" name="Card Tuning"/>
          <p:cNvSpPr/>
          <p:nvPr/>
        </p:nvSpPr>
        <p:spPr>
          <a:xfrm>
            <a:off x="548640" y="3093719"/>
            <a:ext cx="3360420" cy="1493519"/>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Card title Tuning"/>
          <p:cNvSpPr txBox="1"/>
          <p:nvPr/>
        </p:nvSpPr>
        <p:spPr>
          <a:xfrm>
            <a:off x="713232" y="3212591"/>
            <a:ext cx="3031236" cy="292608"/>
          </a:xfrm>
          <a:prstGeom prst="rect">
            <a:avLst/>
          </a:prstGeom>
          <a:noFill/>
        </p:spPr>
        <p:txBody>
          <a:bodyPr wrap="square" lIns="0" rIns="0" tIns="0" bIns="0" anchor="ctr">
            <a:spAutoFit/>
          </a:bodyPr>
          <a:lstStyle/>
          <a:p>
            <a:pPr algn="l"/>
            <a:r>
              <a:rPr sz="1500" b="1" i="0">
                <a:solidFill>
                  <a:schemeClr val="tx2"/>
                </a:solidFill>
              </a:rPr>
              <a:t>Tuning</a:t>
            </a:r>
          </a:p>
        </p:txBody>
      </p:sp>
      <p:sp>
        <p:nvSpPr>
          <p:cNvPr id="17" name="Card body Tuning"/>
          <p:cNvSpPr txBox="1"/>
          <p:nvPr/>
        </p:nvSpPr>
        <p:spPr>
          <a:xfrm>
            <a:off x="713232" y="3550919"/>
            <a:ext cx="3031236" cy="652271"/>
          </a:xfrm>
          <a:prstGeom prst="rect">
            <a:avLst/>
          </a:prstGeom>
          <a:noFill/>
        </p:spPr>
        <p:txBody>
          <a:bodyPr wrap="square" lIns="0" rIns="0" tIns="0" bIns="0" anchor="t">
            <a:spAutoFit/>
          </a:bodyPr>
          <a:lstStyle/>
          <a:p>
            <a:pPr algn="l"/>
            <a:r>
              <a:rPr sz="1400" b="0" i="0">
                <a:solidFill>
                  <a:schemeClr val="tx1"/>
                </a:solidFill>
              </a:rPr>
              <a:t>Ordering, scaling and BTF controls for KLU</a:t>
            </a:r>
          </a:p>
        </p:txBody>
      </p:sp>
      <p:sp>
        <p:nvSpPr>
          <p:cNvPr id="18" name="Chip E-152">
            <a:hlinkClick r:id="rId8"/>
          </p:cNvPr>
          <p:cNvSpPr/>
          <p:nvPr/>
        </p:nvSpPr>
        <p:spPr>
          <a:xfrm>
            <a:off x="713232" y="4258055"/>
            <a:ext cx="662940" cy="219456"/>
          </a:xfrm>
          <a:prstGeom prst="roundRect">
            <a:avLst>
              <a:gd name="adj" fmla="val 50000"/>
            </a:avLst>
          </a:prstGeom>
          <a:solidFill>
            <a:schemeClr val="accent2">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2">
                    <a:lumMod val="65000"/>
                  </a:schemeClr>
                </a:solidFill>
              </a:rPr>
              <a:t>E-152</a:t>
            </a:r>
          </a:p>
        </p:txBody>
      </p:sp>
      <p:sp>
        <p:nvSpPr>
          <p:cNvPr id="19" name="Card Accuracy"/>
          <p:cNvSpPr/>
          <p:nvPr/>
        </p:nvSpPr>
        <p:spPr>
          <a:xfrm>
            <a:off x="4091939" y="3093719"/>
            <a:ext cx="3360420" cy="1493519"/>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Card title Accuracy"/>
          <p:cNvSpPr txBox="1"/>
          <p:nvPr/>
        </p:nvSpPr>
        <p:spPr>
          <a:xfrm>
            <a:off x="4256531" y="3212591"/>
            <a:ext cx="3031236" cy="292608"/>
          </a:xfrm>
          <a:prstGeom prst="rect">
            <a:avLst/>
          </a:prstGeom>
          <a:noFill/>
        </p:spPr>
        <p:txBody>
          <a:bodyPr wrap="square" lIns="0" rIns="0" tIns="0" bIns="0" anchor="ctr">
            <a:spAutoFit/>
          </a:bodyPr>
          <a:lstStyle/>
          <a:p>
            <a:pPr algn="l"/>
            <a:r>
              <a:rPr sz="1500" b="1" i="0">
                <a:solidFill>
                  <a:schemeClr val="tx2"/>
                </a:solidFill>
              </a:rPr>
              <a:t>Accuracy</a:t>
            </a:r>
          </a:p>
        </p:txBody>
      </p:sp>
      <p:sp>
        <p:nvSpPr>
          <p:cNvPr id="21" name="Card body Accuracy"/>
          <p:cNvSpPr txBox="1"/>
          <p:nvPr/>
        </p:nvSpPr>
        <p:spPr>
          <a:xfrm>
            <a:off x="4256531" y="3550919"/>
            <a:ext cx="3031236" cy="652271"/>
          </a:xfrm>
          <a:prstGeom prst="rect">
            <a:avLst/>
          </a:prstGeom>
          <a:noFill/>
        </p:spPr>
        <p:txBody>
          <a:bodyPr wrap="square" lIns="0" rIns="0" tIns="0" bIns="0" anchor="t">
            <a:spAutoFit/>
          </a:bodyPr>
          <a:lstStyle/>
          <a:p>
            <a:pPr algn="l"/>
            <a:r>
              <a:rPr sz="1400" b="0" i="0">
                <a:solidFill>
                  <a:schemeClr val="tx1"/>
                </a:solidFill>
              </a:rPr>
              <a:t>Iterative refinement of real solves; the residual measured per row</a:t>
            </a:r>
          </a:p>
        </p:txBody>
      </p:sp>
      <p:sp>
        <p:nvSpPr>
          <p:cNvPr id="22" name="Chip E-867">
            <a:hlinkClick r:id="rId9"/>
          </p:cNvPr>
          <p:cNvSpPr/>
          <p:nvPr/>
        </p:nvSpPr>
        <p:spPr>
          <a:xfrm>
            <a:off x="4256531" y="4258055"/>
            <a:ext cx="662940" cy="219456"/>
          </a:xfrm>
          <a:prstGeom prst="roundRect">
            <a:avLst>
              <a:gd name="adj" fmla="val 50000"/>
            </a:avLst>
          </a:prstGeom>
          <a:solidFill>
            <a:schemeClr val="accent2">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2">
                    <a:lumMod val="65000"/>
                  </a:schemeClr>
                </a:solidFill>
              </a:rPr>
              <a:t>E-867</a:t>
            </a:r>
          </a:p>
        </p:txBody>
      </p:sp>
      <p:sp>
        <p:nvSpPr>
          <p:cNvPr id="23" name="Chip E-868">
            <a:hlinkClick r:id="rId10"/>
          </p:cNvPr>
          <p:cNvSpPr/>
          <p:nvPr/>
        </p:nvSpPr>
        <p:spPr>
          <a:xfrm>
            <a:off x="4974336" y="4258055"/>
            <a:ext cx="662940" cy="219456"/>
          </a:xfrm>
          <a:prstGeom prst="roundRect">
            <a:avLst>
              <a:gd name="adj" fmla="val 50000"/>
            </a:avLst>
          </a:prstGeom>
          <a:solidFill>
            <a:schemeClr val="accent2">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2">
                    <a:lumMod val="65000"/>
                  </a:schemeClr>
                </a:solidFill>
              </a:rPr>
              <a:t>E-868</a:t>
            </a:r>
          </a:p>
        </p:txBody>
      </p:sp>
      <p:sp>
        <p:nvSpPr>
          <p:cNvPr id="24" name="Card Hardening"/>
          <p:cNvSpPr/>
          <p:nvPr/>
        </p:nvSpPr>
        <p:spPr>
          <a:xfrm>
            <a:off x="548640" y="4770119"/>
            <a:ext cx="3360420" cy="1493519"/>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Card title Hardening"/>
          <p:cNvSpPr txBox="1"/>
          <p:nvPr/>
        </p:nvSpPr>
        <p:spPr>
          <a:xfrm>
            <a:off x="713232" y="4888991"/>
            <a:ext cx="3031236" cy="292608"/>
          </a:xfrm>
          <a:prstGeom prst="rect">
            <a:avLst/>
          </a:prstGeom>
          <a:noFill/>
        </p:spPr>
        <p:txBody>
          <a:bodyPr wrap="square" lIns="0" rIns="0" tIns="0" bIns="0" anchor="ctr">
            <a:spAutoFit/>
          </a:bodyPr>
          <a:lstStyle/>
          <a:p>
            <a:pPr algn="l"/>
            <a:r>
              <a:rPr sz="1500" b="1" i="0">
                <a:solidFill>
                  <a:schemeClr val="tx2"/>
                </a:solidFill>
              </a:rPr>
              <a:t>Hardening</a:t>
            </a:r>
          </a:p>
        </p:txBody>
      </p:sp>
      <p:sp>
        <p:nvSpPr>
          <p:cNvPr id="26" name="Card body Hardening"/>
          <p:cNvSpPr txBox="1"/>
          <p:nvPr/>
        </p:nvSpPr>
        <p:spPr>
          <a:xfrm>
            <a:off x="713232" y="5227319"/>
            <a:ext cx="3031236" cy="652271"/>
          </a:xfrm>
          <a:prstGeom prst="rect">
            <a:avLst/>
          </a:prstGeom>
          <a:noFill/>
        </p:spPr>
        <p:txBody>
          <a:bodyPr wrap="square" lIns="0" rIns="0" tIns="0" bIns="0" anchor="t">
            <a:spAutoFit/>
          </a:bodyPr>
          <a:lstStyle/>
          <a:p>
            <a:pPr algn="l"/>
            <a:r>
              <a:rPr sz="1400" b="0" i="0">
                <a:solidFill>
                  <a:schemeClr val="tx1"/>
                </a:solidFill>
              </a:rPr>
              <a:t>Solver glue: null checks, collapse maps and bounds fixed</a:t>
            </a:r>
          </a:p>
        </p:txBody>
      </p:sp>
      <p:sp>
        <p:nvSpPr>
          <p:cNvPr id="27" name="Chip E-232">
            <a:hlinkClick r:id="rId11"/>
          </p:cNvPr>
          <p:cNvSpPr/>
          <p:nvPr/>
        </p:nvSpPr>
        <p:spPr>
          <a:xfrm>
            <a:off x="713232" y="5934455"/>
            <a:ext cx="662940" cy="219456"/>
          </a:xfrm>
          <a:prstGeom prst="roundRect">
            <a:avLst>
              <a:gd name="adj" fmla="val 50000"/>
            </a:avLst>
          </a:prstGeom>
          <a:solidFill>
            <a:schemeClr val="accent2">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2">
                    <a:lumMod val="65000"/>
                  </a:schemeClr>
                </a:solidFill>
              </a:rPr>
              <a:t>E-232</a:t>
            </a:r>
          </a:p>
        </p:txBody>
      </p:sp>
      <p:sp>
        <p:nvSpPr>
          <p:cNvPr id="28" name="Chip E-233">
            <a:hlinkClick r:id="rId12"/>
          </p:cNvPr>
          <p:cNvSpPr/>
          <p:nvPr/>
        </p:nvSpPr>
        <p:spPr>
          <a:xfrm>
            <a:off x="1431036" y="5934455"/>
            <a:ext cx="662940" cy="219456"/>
          </a:xfrm>
          <a:prstGeom prst="roundRect">
            <a:avLst>
              <a:gd name="adj" fmla="val 50000"/>
            </a:avLst>
          </a:prstGeom>
          <a:solidFill>
            <a:schemeClr val="accent2">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2">
                    <a:lumMod val="65000"/>
                  </a:schemeClr>
                </a:solidFill>
              </a:rPr>
              <a:t>E-233</a:t>
            </a:r>
          </a:p>
        </p:txBody>
      </p:sp>
      <p:sp>
        <p:nvSpPr>
          <p:cNvPr id="29" name="Card Differential campaign"/>
          <p:cNvSpPr/>
          <p:nvPr/>
        </p:nvSpPr>
        <p:spPr>
          <a:xfrm>
            <a:off x="4091939" y="4770119"/>
            <a:ext cx="3360420" cy="1493519"/>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Card title Differential campaign"/>
          <p:cNvSpPr txBox="1"/>
          <p:nvPr/>
        </p:nvSpPr>
        <p:spPr>
          <a:xfrm>
            <a:off x="4256531" y="4888991"/>
            <a:ext cx="3031236" cy="292608"/>
          </a:xfrm>
          <a:prstGeom prst="rect">
            <a:avLst/>
          </a:prstGeom>
          <a:noFill/>
        </p:spPr>
        <p:txBody>
          <a:bodyPr wrap="square" lIns="0" rIns="0" tIns="0" bIns="0" anchor="ctr">
            <a:spAutoFit/>
          </a:bodyPr>
          <a:lstStyle/>
          <a:p>
            <a:pPr algn="l"/>
            <a:r>
              <a:rPr sz="1500" b="1" i="0">
                <a:solidFill>
                  <a:schemeClr val="tx2"/>
                </a:solidFill>
              </a:rPr>
              <a:t>Differential campaign</a:t>
            </a:r>
          </a:p>
        </p:txBody>
      </p:sp>
      <p:sp>
        <p:nvSpPr>
          <p:cNvPr id="31" name="Card body Differential campaign"/>
          <p:cNvSpPr txBox="1"/>
          <p:nvPr/>
        </p:nvSpPr>
        <p:spPr>
          <a:xfrm>
            <a:off x="4256531" y="5227319"/>
            <a:ext cx="3031236" cy="944879"/>
          </a:xfrm>
          <a:prstGeom prst="rect">
            <a:avLst/>
          </a:prstGeom>
          <a:noFill/>
        </p:spPr>
        <p:txBody>
          <a:bodyPr wrap="square" lIns="0" rIns="0" tIns="0" bIns="0" anchor="t">
            <a:spAutoFit/>
          </a:bodyPr>
          <a:lstStyle/>
          <a:p>
            <a:pPr algn="l"/>
            <a:r>
              <a:rPr sz="1400" b="0" i="0">
                <a:solidFill>
                  <a:schemeClr val="tx1"/>
                </a:solidFill>
              </a:rPr>
              <a:t>37 of 37 against a numpy third opinion and each deck's condition</a:t>
            </a:r>
          </a:p>
        </p:txBody>
      </p:sp>
      <p:pic>
        <p:nvPicPr>
          <p:cNvPr id="32" name="Plot speedup.png" descr="speedup.png"/>
          <p:cNvPicPr>
            <a:picLocks noChangeAspect="1"/>
          </p:cNvPicPr>
          <p:nvPr/>
        </p:nvPicPr>
        <p:blipFill>
          <a:blip r:embed="rId13"/>
          <a:stretch>
            <a:fillRect/>
          </a:stretch>
        </p:blipFill>
        <p:spPr>
          <a:xfrm>
            <a:off x="7726679" y="1417320"/>
            <a:ext cx="3913632" cy="2500376"/>
          </a:xfrm>
          <a:prstGeom prst="rect">
            <a:avLst/>
          </a:prstGeom>
          <a:ln w="9525">
            <a:solidFill>
              <a:schemeClr val="bg2">
                <a:lumMod val="90000"/>
              </a:schemeClr>
            </a:solidFill>
          </a:ln>
        </p:spPr>
      </p:pic>
      <p:sp>
        <p:nvSpPr>
          <p:cNvPr id="33" name="Caption speedup.png"/>
          <p:cNvSpPr txBox="1"/>
          <p:nvPr/>
        </p:nvSpPr>
        <p:spPr>
          <a:xfrm>
            <a:off x="7726679" y="4009135"/>
            <a:ext cx="3913632" cy="411480"/>
          </a:xfrm>
          <a:prstGeom prst="rect">
            <a:avLst/>
          </a:prstGeom>
          <a:noFill/>
        </p:spPr>
        <p:txBody>
          <a:bodyPr wrap="square" lIns="0" rIns="0" tIns="0" bIns="0" anchor="t">
            <a:spAutoFit/>
          </a:bodyPr>
          <a:lstStyle/>
          <a:p>
            <a:pPr algn="l"/>
            <a:r>
              <a:rPr sz="1100" b="0" i="1">
                <a:solidFill>
                  <a:schemeClr val="accent3"/>
                </a:solidFill>
              </a:rPr>
              <a:t>KLU speedup over Sparse 1.3 against circuit size (examples/solver_stress)</a:t>
            </a:r>
          </a:p>
        </p:txBody>
      </p:sp>
      <p:sp>
        <p:nvSpPr>
          <p:cNvPr id="34" name="Stat ≈70x"/>
          <p:cNvSpPr/>
          <p:nvPr/>
        </p:nvSpPr>
        <p:spPr>
          <a:xfrm>
            <a:off x="7726679" y="4572000"/>
            <a:ext cx="1865376" cy="1691639"/>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Stat number ≈70x"/>
          <p:cNvSpPr txBox="1"/>
          <p:nvPr/>
        </p:nvSpPr>
        <p:spPr>
          <a:xfrm>
            <a:off x="7955279" y="4754880"/>
            <a:ext cx="1408176" cy="868680"/>
          </a:xfrm>
          <a:prstGeom prst="rect">
            <a:avLst/>
          </a:prstGeom>
          <a:noFill/>
        </p:spPr>
        <p:txBody>
          <a:bodyPr wrap="square" lIns="0" rIns="0" tIns="0" bIns="0" anchor="t">
            <a:spAutoFit/>
          </a:bodyPr>
          <a:lstStyle/>
          <a:p>
            <a:pPr algn="l"/>
            <a:r>
              <a:rPr sz="3000" b="1" i="0">
                <a:solidFill>
                  <a:schemeClr val="accent2">
                    <a:lumMod val="85000"/>
                  </a:schemeClr>
                </a:solidFill>
                <a:latin typeface="+mj-lt"/>
              </a:rPr>
              <a:t>≈70x</a:t>
            </a:r>
          </a:p>
        </p:txBody>
      </p:sp>
      <p:sp>
        <p:nvSpPr>
          <p:cNvPr id="36" name="Stat label ≈70x"/>
          <p:cNvSpPr txBox="1"/>
          <p:nvPr/>
        </p:nvSpPr>
        <p:spPr>
          <a:xfrm>
            <a:off x="7955279" y="5231130"/>
            <a:ext cx="1408176" cy="849629"/>
          </a:xfrm>
          <a:prstGeom prst="rect">
            <a:avLst/>
          </a:prstGeom>
          <a:noFill/>
        </p:spPr>
        <p:txBody>
          <a:bodyPr wrap="square" lIns="0" rIns="0" tIns="0" bIns="0" anchor="t">
            <a:spAutoFit/>
          </a:bodyPr>
          <a:lstStyle/>
          <a:p>
            <a:pPr algn="l"/>
            <a:r>
              <a:rPr sz="1400" b="0" i="0">
                <a:solidFill>
                  <a:schemeClr val="tx1"/>
                </a:solidFill>
              </a:rPr>
              <a:t>faster than Sparse on large meshes</a:t>
            </a:r>
          </a:p>
        </p:txBody>
      </p:sp>
      <p:sp>
        <p:nvSpPr>
          <p:cNvPr id="37" name="Stat 37/37"/>
          <p:cNvSpPr/>
          <p:nvPr/>
        </p:nvSpPr>
        <p:spPr>
          <a:xfrm>
            <a:off x="9774936" y="4572000"/>
            <a:ext cx="1865376" cy="1691639"/>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Stat number 37/37"/>
          <p:cNvSpPr txBox="1"/>
          <p:nvPr/>
        </p:nvSpPr>
        <p:spPr>
          <a:xfrm>
            <a:off x="10003536" y="4754880"/>
            <a:ext cx="1408176" cy="868680"/>
          </a:xfrm>
          <a:prstGeom prst="rect">
            <a:avLst/>
          </a:prstGeom>
          <a:noFill/>
        </p:spPr>
        <p:txBody>
          <a:bodyPr wrap="square" lIns="0" rIns="0" tIns="0" bIns="0" anchor="t">
            <a:spAutoFit/>
          </a:bodyPr>
          <a:lstStyle/>
          <a:p>
            <a:pPr algn="l"/>
            <a:r>
              <a:rPr sz="3000" b="1" i="0">
                <a:solidFill>
                  <a:schemeClr val="accent2">
                    <a:lumMod val="85000"/>
                  </a:schemeClr>
                </a:solidFill>
                <a:latin typeface="+mj-lt"/>
              </a:rPr>
              <a:t>37/37</a:t>
            </a:r>
          </a:p>
        </p:txBody>
      </p:sp>
      <p:sp>
        <p:nvSpPr>
          <p:cNvPr id="39" name="Stat label 37/37"/>
          <p:cNvSpPr txBox="1"/>
          <p:nvPr/>
        </p:nvSpPr>
        <p:spPr>
          <a:xfrm>
            <a:off x="10003536" y="5231130"/>
            <a:ext cx="1408176" cy="849629"/>
          </a:xfrm>
          <a:prstGeom prst="rect">
            <a:avLst/>
          </a:prstGeom>
          <a:noFill/>
        </p:spPr>
        <p:txBody>
          <a:bodyPr wrap="square" lIns="0" rIns="0" tIns="0" bIns="0" anchor="t">
            <a:spAutoFit/>
          </a:bodyPr>
          <a:lstStyle/>
          <a:p>
            <a:pPr algn="l"/>
            <a:r>
              <a:rPr sz="1400" b="0" i="0">
                <a:solidFill>
                  <a:schemeClr val="tx1"/>
                </a:solidFill>
              </a:rPr>
              <a:t>differential checks, no solver defect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Statistics, variability and yield</a:t>
            </a:r>
          </a:p>
        </p:txBody>
      </p:sp>
      <p:sp>
        <p:nvSpPr>
          <p:cNvPr id="3" name="Kicker"/>
          <p:cNvSpPr txBox="1"/>
          <p:nvPr/>
        </p:nvSpPr>
        <p:spPr>
          <a:xfrm>
            <a:off x="548640" y="274320"/>
            <a:ext cx="11094415" cy="274320"/>
          </a:xfrm>
          <a:prstGeom prst="rect">
            <a:avLst/>
          </a:prstGeom>
          <a:noFill/>
        </p:spPr>
        <p:txBody>
          <a:bodyPr wrap="square" lIns="0" rIns="0" tIns="0" bIns="0" anchor="t">
            <a:spAutoFit/>
          </a:bodyPr>
          <a:lstStyle/>
          <a:p>
            <a:pPr algn="l"/>
            <a:r>
              <a:rPr sz="1100" b="1" i="0" spc="120">
                <a:solidFill>
                  <a:schemeClr val="accent2">
                    <a:lumMod val="75000"/>
                  </a:schemeClr>
                </a:solidFill>
              </a:rPr>
              <a:t>SIMULATOR · 63 ENHANCEMENTS</a:t>
            </a:r>
          </a:p>
        </p:txBody>
      </p:sp>
      <p:sp>
        <p:nvSpPr>
          <p:cNvPr id="4" name="Card Monte Carlo on OSDI"/>
          <p:cNvSpPr/>
          <p:nvPr/>
        </p:nvSpPr>
        <p:spPr>
          <a:xfrm>
            <a:off x="548640" y="1417320"/>
            <a:ext cx="3360420" cy="1493519"/>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Card title Monte Carlo on OSDI"/>
          <p:cNvSpPr txBox="1"/>
          <p:nvPr/>
        </p:nvSpPr>
        <p:spPr>
          <a:xfrm>
            <a:off x="713232" y="1536192"/>
            <a:ext cx="3031236" cy="292608"/>
          </a:xfrm>
          <a:prstGeom prst="rect">
            <a:avLst/>
          </a:prstGeom>
          <a:noFill/>
        </p:spPr>
        <p:txBody>
          <a:bodyPr wrap="square" lIns="0" rIns="0" tIns="0" bIns="0" anchor="ctr">
            <a:spAutoFit/>
          </a:bodyPr>
          <a:lstStyle/>
          <a:p>
            <a:pPr algn="l"/>
            <a:r>
              <a:rPr sz="1500" b="1" i="0">
                <a:solidFill>
                  <a:schemeClr val="tx2"/>
                </a:solidFill>
              </a:rPr>
              <a:t>Monte Carlo on OSDI</a:t>
            </a:r>
          </a:p>
        </p:txBody>
      </p:sp>
      <p:sp>
        <p:nvSpPr>
          <p:cNvPr id="6" name="Card body Monte Carlo on OSDI"/>
          <p:cNvSpPr txBox="1"/>
          <p:nvPr/>
        </p:nvSpPr>
        <p:spPr>
          <a:xfrm>
            <a:off x="713232" y="1874519"/>
            <a:ext cx="3031236" cy="652271"/>
          </a:xfrm>
          <a:prstGeom prst="rect">
            <a:avLst/>
          </a:prstGeom>
          <a:noFill/>
        </p:spPr>
        <p:txBody>
          <a:bodyPr wrap="square" lIns="0" rIns="0" tIns="0" bIns="0" anchor="t">
            <a:spAutoFit/>
          </a:bodyPr>
          <a:lstStyle/>
          <a:p>
            <a:pPr algn="l"/>
            <a:r>
              <a:rPr sz="1400" b="0" i="0">
                <a:solidFill>
                  <a:schemeClr val="tx1"/>
                </a:solidFill>
              </a:rPr>
              <a:t>reset loops re-draw .param values into OSDI cards; warm-started trials</a:t>
            </a:r>
          </a:p>
        </p:txBody>
      </p:sp>
      <p:sp>
        <p:nvSpPr>
          <p:cNvPr id="7" name="Chip E-66">
            <a:hlinkClick r:id="rId3"/>
          </p:cNvPr>
          <p:cNvSpPr/>
          <p:nvPr/>
        </p:nvSpPr>
        <p:spPr>
          <a:xfrm>
            <a:off x="713232" y="2581656"/>
            <a:ext cx="594360" cy="219456"/>
          </a:xfrm>
          <a:prstGeom prst="roundRect">
            <a:avLst>
              <a:gd name="adj" fmla="val 50000"/>
            </a:avLst>
          </a:prstGeom>
          <a:solidFill>
            <a:schemeClr val="accent2">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2">
                    <a:lumMod val="65000"/>
                  </a:schemeClr>
                </a:solidFill>
              </a:rPr>
              <a:t>E-66</a:t>
            </a:r>
          </a:p>
        </p:txBody>
      </p:sp>
      <p:sp>
        <p:nvSpPr>
          <p:cNvPr id="8" name="Chip E-188">
            <a:hlinkClick r:id="rId4"/>
          </p:cNvPr>
          <p:cNvSpPr/>
          <p:nvPr/>
        </p:nvSpPr>
        <p:spPr>
          <a:xfrm>
            <a:off x="1362456" y="2581656"/>
            <a:ext cx="662940" cy="219456"/>
          </a:xfrm>
          <a:prstGeom prst="roundRect">
            <a:avLst>
              <a:gd name="adj" fmla="val 50000"/>
            </a:avLst>
          </a:prstGeom>
          <a:solidFill>
            <a:schemeClr val="accent2">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2">
                    <a:lumMod val="65000"/>
                  </a:schemeClr>
                </a:solidFill>
              </a:rPr>
              <a:t>E-188</a:t>
            </a:r>
          </a:p>
        </p:txBody>
      </p:sp>
      <p:sp>
        <p:nvSpPr>
          <p:cNvPr id="9" name="Card Latin hypercube"/>
          <p:cNvSpPr/>
          <p:nvPr/>
        </p:nvSpPr>
        <p:spPr>
          <a:xfrm>
            <a:off x="4091939" y="1417320"/>
            <a:ext cx="3360420" cy="1493519"/>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Card title Latin hypercube"/>
          <p:cNvSpPr txBox="1"/>
          <p:nvPr/>
        </p:nvSpPr>
        <p:spPr>
          <a:xfrm>
            <a:off x="4256531" y="1536192"/>
            <a:ext cx="3031236" cy="292608"/>
          </a:xfrm>
          <a:prstGeom prst="rect">
            <a:avLst/>
          </a:prstGeom>
          <a:noFill/>
        </p:spPr>
        <p:txBody>
          <a:bodyPr wrap="square" lIns="0" rIns="0" tIns="0" bIns="0" anchor="ctr">
            <a:spAutoFit/>
          </a:bodyPr>
          <a:lstStyle/>
          <a:p>
            <a:pPr algn="l"/>
            <a:r>
              <a:rPr sz="1500" b="1" i="0">
                <a:solidFill>
                  <a:schemeClr val="tx2"/>
                </a:solidFill>
              </a:rPr>
              <a:t>Latin hypercube</a:t>
            </a:r>
          </a:p>
        </p:txBody>
      </p:sp>
      <p:sp>
        <p:nvSpPr>
          <p:cNvPr id="11" name="Card body Latin hypercube"/>
          <p:cNvSpPr txBox="1"/>
          <p:nvPr/>
        </p:nvSpPr>
        <p:spPr>
          <a:xfrm>
            <a:off x="4256531" y="1874519"/>
            <a:ext cx="3031236" cy="652271"/>
          </a:xfrm>
          <a:prstGeom prst="rect">
            <a:avLst/>
          </a:prstGeom>
          <a:noFill/>
        </p:spPr>
        <p:txBody>
          <a:bodyPr wrap="square" lIns="0" rIns="0" tIns="0" bIns="0" anchor="t">
            <a:spAutoFit/>
          </a:bodyPr>
          <a:lstStyle/>
          <a:p>
            <a:pPr algn="l"/>
            <a:r>
              <a:rPr sz="1400" b="0" i="0">
                <a:solidFill>
                  <a:schemeClr val="tx1"/>
                </a:solidFill>
              </a:rPr>
              <a:t>mcsample lhs: about 130x lower estimator variance at the same N</a:t>
            </a:r>
          </a:p>
        </p:txBody>
      </p:sp>
      <p:sp>
        <p:nvSpPr>
          <p:cNvPr id="12" name="Chip E-149">
            <a:hlinkClick r:id="rId5"/>
          </p:cNvPr>
          <p:cNvSpPr/>
          <p:nvPr/>
        </p:nvSpPr>
        <p:spPr>
          <a:xfrm>
            <a:off x="4256531" y="2581656"/>
            <a:ext cx="662940" cy="219456"/>
          </a:xfrm>
          <a:prstGeom prst="roundRect">
            <a:avLst>
              <a:gd name="adj" fmla="val 50000"/>
            </a:avLst>
          </a:prstGeom>
          <a:solidFill>
            <a:schemeClr val="accent2">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2">
                    <a:lumMod val="65000"/>
                  </a:schemeClr>
                </a:solidFill>
              </a:rPr>
              <a:t>E-149</a:t>
            </a:r>
          </a:p>
        </p:txBody>
      </p:sp>
      <p:sp>
        <p:nvSpPr>
          <p:cNvPr id="13" name="Card High sigma"/>
          <p:cNvSpPr/>
          <p:nvPr/>
        </p:nvSpPr>
        <p:spPr>
          <a:xfrm>
            <a:off x="548640" y="3093719"/>
            <a:ext cx="3360420" cy="1493519"/>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Card title High sigma"/>
          <p:cNvSpPr txBox="1"/>
          <p:nvPr/>
        </p:nvSpPr>
        <p:spPr>
          <a:xfrm>
            <a:off x="713232" y="3212591"/>
            <a:ext cx="3031236" cy="292608"/>
          </a:xfrm>
          <a:prstGeom prst="rect">
            <a:avLst/>
          </a:prstGeom>
          <a:noFill/>
        </p:spPr>
        <p:txBody>
          <a:bodyPr wrap="square" lIns="0" rIns="0" tIns="0" bIns="0" anchor="ctr">
            <a:spAutoFit/>
          </a:bodyPr>
          <a:lstStyle/>
          <a:p>
            <a:pPr algn="l"/>
            <a:r>
              <a:rPr sz="1500" b="1" i="0">
                <a:solidFill>
                  <a:schemeClr val="tx2"/>
                </a:solidFill>
              </a:rPr>
              <a:t>High sigma</a:t>
            </a:r>
          </a:p>
        </p:txBody>
      </p:sp>
      <p:sp>
        <p:nvSpPr>
          <p:cNvPr id="15" name="Card body High sigma"/>
          <p:cNvSpPr txBox="1"/>
          <p:nvPr/>
        </p:nvSpPr>
        <p:spPr>
          <a:xfrm>
            <a:off x="713232" y="3550919"/>
            <a:ext cx="3031236" cy="652271"/>
          </a:xfrm>
          <a:prstGeom prst="rect">
            <a:avLst/>
          </a:prstGeom>
          <a:noFill/>
        </p:spPr>
        <p:txBody>
          <a:bodyPr wrap="square" lIns="0" rIns="0" tIns="0" bIns="0" anchor="t">
            <a:spAutoFit/>
          </a:bodyPr>
          <a:lstStyle/>
          <a:p>
            <a:pPr algn="l"/>
            <a:r>
              <a:rPr sz="1400" b="0" i="0">
                <a:solidFill>
                  <a:schemeClr val="tx1"/>
                </a:solidFill>
              </a:rPr>
              <a:t>highsigma reaches 4–6σ in a few thousand runs; wcd finds the worst case</a:t>
            </a:r>
          </a:p>
        </p:txBody>
      </p:sp>
      <p:sp>
        <p:nvSpPr>
          <p:cNvPr id="16" name="Chip E-150">
            <a:hlinkClick r:id="rId6"/>
          </p:cNvPr>
          <p:cNvSpPr/>
          <p:nvPr/>
        </p:nvSpPr>
        <p:spPr>
          <a:xfrm>
            <a:off x="713232" y="4258055"/>
            <a:ext cx="662940" cy="219456"/>
          </a:xfrm>
          <a:prstGeom prst="roundRect">
            <a:avLst>
              <a:gd name="adj" fmla="val 50000"/>
            </a:avLst>
          </a:prstGeom>
          <a:solidFill>
            <a:schemeClr val="accent2">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2">
                    <a:lumMod val="65000"/>
                  </a:schemeClr>
                </a:solidFill>
              </a:rPr>
              <a:t>E-150</a:t>
            </a:r>
          </a:p>
        </p:txBody>
      </p:sp>
      <p:sp>
        <p:nvSpPr>
          <p:cNvPr id="17" name="Chip E-305">
            <a:hlinkClick r:id="rId7"/>
          </p:cNvPr>
          <p:cNvSpPr/>
          <p:nvPr/>
        </p:nvSpPr>
        <p:spPr>
          <a:xfrm>
            <a:off x="1431036" y="4258055"/>
            <a:ext cx="662940" cy="219456"/>
          </a:xfrm>
          <a:prstGeom prst="roundRect">
            <a:avLst>
              <a:gd name="adj" fmla="val 50000"/>
            </a:avLst>
          </a:prstGeom>
          <a:solidFill>
            <a:schemeClr val="accent2">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2">
                    <a:lumMod val="65000"/>
                  </a:schemeClr>
                </a:solidFill>
              </a:rPr>
              <a:t>E-305</a:t>
            </a:r>
          </a:p>
        </p:txBody>
      </p:sp>
      <p:sp>
        <p:nvSpPr>
          <p:cNvPr id="18" name="Card Correlations &amp; yield"/>
          <p:cNvSpPr/>
          <p:nvPr/>
        </p:nvSpPr>
        <p:spPr>
          <a:xfrm>
            <a:off x="4091939" y="3093719"/>
            <a:ext cx="3360420" cy="1493519"/>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Card title Correlations &amp; yield"/>
          <p:cNvSpPr txBox="1"/>
          <p:nvPr/>
        </p:nvSpPr>
        <p:spPr>
          <a:xfrm>
            <a:off x="4256531" y="3212591"/>
            <a:ext cx="3031236" cy="292608"/>
          </a:xfrm>
          <a:prstGeom prst="rect">
            <a:avLst/>
          </a:prstGeom>
          <a:noFill/>
        </p:spPr>
        <p:txBody>
          <a:bodyPr wrap="square" lIns="0" rIns="0" tIns="0" bIns="0" anchor="ctr">
            <a:spAutoFit/>
          </a:bodyPr>
          <a:lstStyle/>
          <a:p>
            <a:pPr algn="l"/>
            <a:r>
              <a:rPr sz="1500" b="1" i="0">
                <a:solidFill>
                  <a:schemeClr val="tx2"/>
                </a:solidFill>
              </a:rPr>
              <a:t>Correlations &amp; yield</a:t>
            </a:r>
          </a:p>
        </p:txBody>
      </p:sp>
      <p:sp>
        <p:nvSpPr>
          <p:cNvPr id="20" name="Card body Correlations &amp; yield"/>
          <p:cNvSpPr txBox="1"/>
          <p:nvPr/>
        </p:nvSpPr>
        <p:spPr>
          <a:xfrm>
            <a:off x="4256531" y="3550919"/>
            <a:ext cx="3031236" cy="652271"/>
          </a:xfrm>
          <a:prstGeom prst="rect">
            <a:avLst/>
          </a:prstGeom>
          <a:noFill/>
        </p:spPr>
        <p:txBody>
          <a:bodyPr wrap="square" lIns="0" rIns="0" tIns="0" bIns="0" anchor="t">
            <a:spAutoFit/>
          </a:bodyPr>
          <a:lstStyle/>
          <a:p>
            <a:pPr algn="l"/>
            <a:r>
              <a:rPr sz="1400" b="0" i="0">
                <a:solidFill>
                  <a:schemeClr val="tx1"/>
                </a:solidFill>
              </a:rPr>
              <a:t>mccorr and mvnorm correlations; montecarlo -expr -track packages yield</a:t>
            </a:r>
          </a:p>
        </p:txBody>
      </p:sp>
      <p:sp>
        <p:nvSpPr>
          <p:cNvPr id="21" name="Chip E-151">
            <a:hlinkClick r:id="rId8"/>
          </p:cNvPr>
          <p:cNvSpPr/>
          <p:nvPr/>
        </p:nvSpPr>
        <p:spPr>
          <a:xfrm>
            <a:off x="4256531" y="4258055"/>
            <a:ext cx="662940" cy="219456"/>
          </a:xfrm>
          <a:prstGeom prst="roundRect">
            <a:avLst>
              <a:gd name="adj" fmla="val 50000"/>
            </a:avLst>
          </a:prstGeom>
          <a:solidFill>
            <a:schemeClr val="accent2">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2">
                    <a:lumMod val="65000"/>
                  </a:schemeClr>
                </a:solidFill>
              </a:rPr>
              <a:t>E-151</a:t>
            </a:r>
          </a:p>
        </p:txBody>
      </p:sp>
      <p:sp>
        <p:nvSpPr>
          <p:cNvPr id="22" name="Card Design centring"/>
          <p:cNvSpPr/>
          <p:nvPr/>
        </p:nvSpPr>
        <p:spPr>
          <a:xfrm>
            <a:off x="548640" y="4770119"/>
            <a:ext cx="3360420" cy="1493519"/>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Card title Design centring"/>
          <p:cNvSpPr txBox="1"/>
          <p:nvPr/>
        </p:nvSpPr>
        <p:spPr>
          <a:xfrm>
            <a:off x="713232" y="4888991"/>
            <a:ext cx="3031236" cy="292608"/>
          </a:xfrm>
          <a:prstGeom prst="rect">
            <a:avLst/>
          </a:prstGeom>
          <a:noFill/>
        </p:spPr>
        <p:txBody>
          <a:bodyPr wrap="square" lIns="0" rIns="0" tIns="0" bIns="0" anchor="ctr">
            <a:spAutoFit/>
          </a:bodyPr>
          <a:lstStyle/>
          <a:p>
            <a:pPr algn="l"/>
            <a:r>
              <a:rPr sz="1500" b="1" i="0">
                <a:solidFill>
                  <a:schemeClr val="tx2"/>
                </a:solidFill>
              </a:rPr>
              <a:t>Design centring</a:t>
            </a:r>
          </a:p>
        </p:txBody>
      </p:sp>
      <p:sp>
        <p:nvSpPr>
          <p:cNvPr id="24" name="Card body Design centring"/>
          <p:cNvSpPr txBox="1"/>
          <p:nvPr/>
        </p:nvSpPr>
        <p:spPr>
          <a:xfrm>
            <a:off x="713232" y="5227319"/>
            <a:ext cx="3031236" cy="652271"/>
          </a:xfrm>
          <a:prstGeom prst="rect">
            <a:avLst/>
          </a:prstGeom>
          <a:noFill/>
        </p:spPr>
        <p:txBody>
          <a:bodyPr wrap="square" lIns="0" rIns="0" tIns="0" bIns="0" anchor="t">
            <a:spAutoFit/>
          </a:bodyPr>
          <a:lstStyle/>
          <a:p>
            <a:pPr algn="l"/>
            <a:r>
              <a:rPr sz="1400" b="0" i="0">
                <a:solidFill>
                  <a:schemeClr val="tx1"/>
                </a:solidFill>
              </a:rPr>
              <a:t>optimize -center maximizes yield or Cpk against -spec limits</a:t>
            </a:r>
          </a:p>
        </p:txBody>
      </p:sp>
      <p:sp>
        <p:nvSpPr>
          <p:cNvPr id="25" name="Chip E-206">
            <a:hlinkClick r:id="rId9"/>
          </p:cNvPr>
          <p:cNvSpPr/>
          <p:nvPr/>
        </p:nvSpPr>
        <p:spPr>
          <a:xfrm>
            <a:off x="713232" y="5934455"/>
            <a:ext cx="662940" cy="219456"/>
          </a:xfrm>
          <a:prstGeom prst="roundRect">
            <a:avLst>
              <a:gd name="adj" fmla="val 50000"/>
            </a:avLst>
          </a:prstGeom>
          <a:solidFill>
            <a:schemeClr val="accent2">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2">
                    <a:lumMod val="65000"/>
                  </a:schemeClr>
                </a:solidFill>
              </a:rPr>
              <a:t>E-206</a:t>
            </a:r>
          </a:p>
        </p:txBody>
      </p:sp>
      <p:sp>
        <p:nvSpPr>
          <p:cNvPr id="26" name="Card Records"/>
          <p:cNvSpPr/>
          <p:nvPr/>
        </p:nvSpPr>
        <p:spPr>
          <a:xfrm>
            <a:off x="4091939" y="4770119"/>
            <a:ext cx="3360420" cy="1493519"/>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Card title Records"/>
          <p:cNvSpPr txBox="1"/>
          <p:nvPr/>
        </p:nvSpPr>
        <p:spPr>
          <a:xfrm>
            <a:off x="4256531" y="4888991"/>
            <a:ext cx="3031236" cy="292608"/>
          </a:xfrm>
          <a:prstGeom prst="rect">
            <a:avLst/>
          </a:prstGeom>
          <a:noFill/>
        </p:spPr>
        <p:txBody>
          <a:bodyPr wrap="square" lIns="0" rIns="0" tIns="0" bIns="0" anchor="ctr">
            <a:spAutoFit/>
          </a:bodyPr>
          <a:lstStyle/>
          <a:p>
            <a:pPr algn="l"/>
            <a:r>
              <a:rPr sz="1500" b="1" i="0">
                <a:solidFill>
                  <a:schemeClr val="tx2"/>
                </a:solidFill>
              </a:rPr>
              <a:t>Records</a:t>
            </a:r>
          </a:p>
        </p:txBody>
      </p:sp>
      <p:sp>
        <p:nvSpPr>
          <p:cNvPr id="28" name="Card body Records"/>
          <p:cNvSpPr txBox="1"/>
          <p:nvPr/>
        </p:nvSpPr>
        <p:spPr>
          <a:xfrm>
            <a:off x="4256531" y="5227319"/>
            <a:ext cx="3031236" cy="652271"/>
          </a:xfrm>
          <a:prstGeom prst="rect">
            <a:avLst/>
          </a:prstGeom>
          <a:noFill/>
        </p:spPr>
        <p:txBody>
          <a:bodyPr wrap="square" lIns="0" rIns="0" tIns="0" bIns="0" anchor="t">
            <a:spAutoFit/>
          </a:bodyPr>
          <a:lstStyle/>
          <a:p>
            <a:pPr algn="l"/>
            <a:r>
              <a:rPr sz="1400" b="0" i="0">
                <a:solidFill>
                  <a:schemeClr val="tx1"/>
                </a:solidFill>
              </a:rPr>
              <a:t>.option savemc and writemc keep every draw and every result</a:t>
            </a:r>
          </a:p>
        </p:txBody>
      </p:sp>
      <p:sp>
        <p:nvSpPr>
          <p:cNvPr id="29" name="Chip E-742">
            <a:hlinkClick r:id="rId10"/>
          </p:cNvPr>
          <p:cNvSpPr/>
          <p:nvPr/>
        </p:nvSpPr>
        <p:spPr>
          <a:xfrm>
            <a:off x="4256531" y="5934455"/>
            <a:ext cx="662940" cy="219456"/>
          </a:xfrm>
          <a:prstGeom prst="roundRect">
            <a:avLst>
              <a:gd name="adj" fmla="val 50000"/>
            </a:avLst>
          </a:prstGeom>
          <a:solidFill>
            <a:schemeClr val="accent2">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2">
                    <a:lumMod val="65000"/>
                  </a:schemeClr>
                </a:solidFill>
              </a:rPr>
              <a:t>E-742</a:t>
            </a:r>
          </a:p>
        </p:txBody>
      </p:sp>
      <p:pic>
        <p:nvPicPr>
          <p:cNvPr id="30" name="Plot mc_distributions.png" descr="mc_distributions.png"/>
          <p:cNvPicPr>
            <a:picLocks noChangeAspect="1"/>
          </p:cNvPicPr>
          <p:nvPr/>
        </p:nvPicPr>
        <p:blipFill>
          <a:blip r:embed="rId11"/>
          <a:stretch>
            <a:fillRect/>
          </a:stretch>
        </p:blipFill>
        <p:spPr>
          <a:xfrm>
            <a:off x="7726679" y="1417320"/>
            <a:ext cx="3913632" cy="1601031"/>
          </a:xfrm>
          <a:prstGeom prst="rect">
            <a:avLst/>
          </a:prstGeom>
          <a:ln w="9525">
            <a:solidFill>
              <a:schemeClr val="bg2">
                <a:lumMod val="90000"/>
              </a:schemeClr>
            </a:solidFill>
          </a:ln>
        </p:spPr>
      </p:pic>
      <p:sp>
        <p:nvSpPr>
          <p:cNvPr id="31" name="Caption mc_distributions.png"/>
          <p:cNvSpPr txBox="1"/>
          <p:nvPr/>
        </p:nvSpPr>
        <p:spPr>
          <a:xfrm>
            <a:off x="7726679" y="3109791"/>
            <a:ext cx="3913632" cy="640080"/>
          </a:xfrm>
          <a:prstGeom prst="rect">
            <a:avLst/>
          </a:prstGeom>
          <a:noFill/>
        </p:spPr>
        <p:txBody>
          <a:bodyPr wrap="square" lIns="0" rIns="0" tIns="0" bIns="0" anchor="t">
            <a:spAutoFit/>
          </a:bodyPr>
          <a:lstStyle/>
          <a:p>
            <a:pPr algn="l"/>
            <a:r>
              <a:rPr sz="1100" b="0" i="1">
                <a:solidFill>
                  <a:schemeClr val="accent3"/>
                </a:solidFill>
              </a:rPr>
              <a:t>Gaussian and uniform Monte Carlo on an OSDI parameter against the analytic density, 500 runs each (examples/montecarlo_examples)</a:t>
            </a:r>
          </a:p>
        </p:txBody>
      </p:sp>
      <p:pic>
        <p:nvPicPr>
          <p:cNvPr id="32" name="Plot draws_hist.png" descr="draws_hist.png"/>
          <p:cNvPicPr>
            <a:picLocks noChangeAspect="1"/>
          </p:cNvPicPr>
          <p:nvPr/>
        </p:nvPicPr>
        <p:blipFill>
          <a:blip r:embed="rId12"/>
          <a:stretch>
            <a:fillRect/>
          </a:stretch>
        </p:blipFill>
        <p:spPr>
          <a:xfrm>
            <a:off x="8037575" y="3931920"/>
            <a:ext cx="3291840" cy="1828800"/>
          </a:xfrm>
          <a:prstGeom prst="rect">
            <a:avLst/>
          </a:prstGeom>
          <a:ln w="9525">
            <a:solidFill>
              <a:schemeClr val="bg2">
                <a:lumMod val="90000"/>
              </a:schemeClr>
            </a:solidFill>
          </a:ln>
        </p:spPr>
      </p:pic>
      <p:sp>
        <p:nvSpPr>
          <p:cNvPr id="33" name="Caption draws_hist.png"/>
          <p:cNvSpPr txBox="1"/>
          <p:nvPr/>
        </p:nvSpPr>
        <p:spPr>
          <a:xfrm>
            <a:off x="7726679" y="5852159"/>
            <a:ext cx="3913632" cy="365760"/>
          </a:xfrm>
          <a:prstGeom prst="rect">
            <a:avLst/>
          </a:prstGeom>
          <a:noFill/>
        </p:spPr>
        <p:txBody>
          <a:bodyPr wrap="square" lIns="0" rIns="0" tIns="0" bIns="0" anchor="t">
            <a:spAutoFit/>
          </a:bodyPr>
          <a:lstStyle/>
          <a:p>
            <a:pPr algn="l"/>
            <a:r>
              <a:rPr sz="1100" b="0" i="1">
                <a:solidFill>
                  <a:schemeClr val="accent3"/>
                </a:solidFill>
              </a:rPr>
              <a:t>Draws recorded by .option savemc (examples/savemc_examples)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Statistics declared in the model</a:t>
            </a:r>
          </a:p>
        </p:txBody>
      </p:sp>
      <p:sp>
        <p:nvSpPr>
          <p:cNvPr id="3" name="Kicker"/>
          <p:cNvSpPr txBox="1"/>
          <p:nvPr/>
        </p:nvSpPr>
        <p:spPr>
          <a:xfrm>
            <a:off x="548640" y="274320"/>
            <a:ext cx="11094415" cy="274320"/>
          </a:xfrm>
          <a:prstGeom prst="rect">
            <a:avLst/>
          </a:prstGeom>
          <a:noFill/>
        </p:spPr>
        <p:txBody>
          <a:bodyPr wrap="square" lIns="0" rIns="0" tIns="0" bIns="0" anchor="t">
            <a:spAutoFit/>
          </a:bodyPr>
          <a:lstStyle/>
          <a:p>
            <a:pPr algn="l"/>
            <a:r>
              <a:rPr sz="1100" b="1" i="0" spc="120">
                <a:solidFill>
                  <a:schemeClr val="accent2">
                    <a:lumMod val="75000"/>
                  </a:schemeClr>
                </a:solidFill>
              </a:rPr>
              <a:t>SIMULATOR · FROM VERILOG-A ATTRIBUTES</a:t>
            </a:r>
          </a:p>
        </p:txBody>
      </p:sp>
      <p:sp>
        <p:nvSpPr>
          <p:cNvPr id="4" name="Code panel"/>
          <p:cNvSpPr/>
          <p:nvPr/>
        </p:nvSpPr>
        <p:spPr>
          <a:xfrm>
            <a:off x="548640" y="1417320"/>
            <a:ext cx="6492240" cy="2514600"/>
          </a:xfrm>
          <a:prstGeom prst="roundRect">
            <a:avLst>
              <a:gd name="adj" fmla="val 4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Code title"/>
          <p:cNvSpPr txBox="1"/>
          <p:nvPr/>
        </p:nvSpPr>
        <p:spPr>
          <a:xfrm>
            <a:off x="777240" y="1581912"/>
            <a:ext cx="6035040" cy="274320"/>
          </a:xfrm>
          <a:prstGeom prst="rect">
            <a:avLst/>
          </a:prstGeom>
          <a:noFill/>
        </p:spPr>
        <p:txBody>
          <a:bodyPr wrap="square" lIns="0" rIns="0" tIns="0" bIns="0" anchor="t">
            <a:spAutoFit/>
          </a:bodyPr>
          <a:lstStyle/>
          <a:p>
            <a:pPr algn="l"/>
            <a:r>
              <a:rPr sz="1200" b="1" i="0">
                <a:solidFill>
                  <a:schemeClr val="accent6"/>
                </a:solidFill>
              </a:rPr>
              <a:t>rstat.va</a:t>
            </a:r>
          </a:p>
        </p:txBody>
      </p:sp>
      <p:sp>
        <p:nvSpPr>
          <p:cNvPr id="6" name="Code"/>
          <p:cNvSpPr txBox="1"/>
          <p:nvPr/>
        </p:nvSpPr>
        <p:spPr>
          <a:xfrm>
            <a:off x="777240" y="1947672"/>
            <a:ext cx="6035040" cy="1847088"/>
          </a:xfrm>
          <a:prstGeom prst="rect">
            <a:avLst/>
          </a:prstGeom>
          <a:noFill/>
        </p:spPr>
        <p:txBody>
          <a:bodyPr wrap="square" lIns="0" rIns="0" tIns="0" bIns="0" anchor="t">
            <a:spAutoFit/>
          </a:bodyPr>
          <a:lstStyle/>
          <a:p>
            <a:pPr algn="l">
              <a:lnSpc>
                <a:spcPct val="100000"/>
              </a:lnSpc>
            </a:pPr>
            <a:r>
              <a:rPr sz="1200" b="0" i="0">
                <a:solidFill>
                  <a:schemeClr val="bg1"/>
                </a:solidFill>
                <a:latin typeface="Courier New"/>
              </a:rPr>
              <a:t>`include "disciplines.vams"</a:t>
            </a:r>
          </a:p>
          <a:p>
            <a:pPr algn="l">
              <a:lnSpc>
                <a:spcPct val="100000"/>
              </a:lnSpc>
            </a:pPr>
            <a:r>
              <a:rPr sz="1200" b="0" i="0">
                <a:solidFill>
                  <a:schemeClr val="bg1"/>
                </a:solidFill>
                <a:latin typeface="Courier New"/>
              </a:rPr>
              <a:t>module rstat(p, n);</a:t>
            </a:r>
          </a:p>
          <a:p>
            <a:pPr algn="l">
              <a:lnSpc>
                <a:spcPct val="100000"/>
              </a:lnSpc>
            </a:pPr>
            <a:r>
              <a:rPr sz="1200" b="0" i="0">
                <a:solidFill>
                  <a:schemeClr val="bg1"/>
                </a:solidFill>
                <a:latin typeface="Courier New"/>
              </a:rPr>
              <a:t>  inout p, n; electrical p, n;</a:t>
            </a:r>
          </a:p>
          <a:p>
            <a:pPr algn="l">
              <a:lnSpc>
                <a:spcPct val="100000"/>
              </a:lnSpc>
            </a:pPr>
            <a:r>
              <a:rPr sz="1200" b="0" i="0">
                <a:solidFill>
                  <a:schemeClr val="bg1"/>
                </a:solidFill>
                <a:latin typeface="Courier New"/>
              </a:rPr>
              <a:t>  (* std_rel=0.05 *)             parameter real r  = 1k;</a:t>
            </a:r>
          </a:p>
          <a:p>
            <a:pPr algn="l">
              <a:lnSpc>
                <a:spcPct val="100000"/>
              </a:lnSpc>
            </a:pPr>
            <a:r>
              <a:rPr sz="1200" b="0" i="0">
                <a:solidFill>
                  <a:schemeClr val="bg1"/>
                </a:solidFill>
                <a:latin typeface="Courier New"/>
              </a:rPr>
              <a:t>  (* dist="uniform", std=2e-4 *) parameter real tc = 1e-3;</a:t>
            </a:r>
          </a:p>
          <a:p>
            <a:pPr algn="l">
              <a:lnSpc>
                <a:spcPct val="100000"/>
              </a:lnSpc>
            </a:pPr>
            <a:r>
              <a:rPr sz="1200" b="0" i="0">
                <a:solidFill>
                  <a:schemeClr val="bg1"/>
                </a:solidFill>
                <a:latin typeface="Courier New"/>
              </a:rPr>
              <a:t>  (* corner="ss=+10%, ff=-10%" *) parameter real k  = 1.0;</a:t>
            </a:r>
          </a:p>
          <a:p>
            <a:pPr algn="l">
              <a:lnSpc>
                <a:spcPct val="100000"/>
              </a:lnSpc>
            </a:pPr>
            <a:r>
              <a:rPr sz="1200" b="0" i="0">
                <a:solidFill>
                  <a:schemeClr val="bg1"/>
                </a:solidFill>
                <a:latin typeface="Courier New"/>
              </a:rPr>
              <a:t>  analog I(p, n) &lt;+ V(p, n) /</a:t>
            </a:r>
          </a:p>
          <a:p>
            <a:pPr algn="l">
              <a:lnSpc>
                <a:spcPct val="100000"/>
              </a:lnSpc>
            </a:pPr>
            <a:r>
              <a:rPr sz="1200" b="0" i="0">
                <a:solidFill>
                  <a:schemeClr val="bg1"/>
                </a:solidFill>
                <a:latin typeface="Courier New"/>
              </a:rPr>
              <a:t>    (k * r * (1 + tc * ($temperature - 300.15)));</a:t>
            </a:r>
          </a:p>
          <a:p>
            <a:pPr algn="l">
              <a:lnSpc>
                <a:spcPct val="100000"/>
              </a:lnSpc>
            </a:pPr>
            <a:r>
              <a:rPr sz="1200" b="0" i="0">
                <a:solidFill>
                  <a:schemeClr val="bg1"/>
                </a:solidFill>
                <a:latin typeface="Courier New"/>
              </a:rPr>
              <a:t>endmodule</a:t>
            </a:r>
          </a:p>
        </p:txBody>
      </p:sp>
      <p:sp>
        <p:nvSpPr>
          <p:cNvPr id="7" name="Code panel"/>
          <p:cNvSpPr/>
          <p:nvPr/>
        </p:nvSpPr>
        <p:spPr>
          <a:xfrm>
            <a:off x="548640" y="4160520"/>
            <a:ext cx="6492240" cy="2103120"/>
          </a:xfrm>
          <a:prstGeom prst="roundRect">
            <a:avLst>
              <a:gd name="adj" fmla="val 4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ode title"/>
          <p:cNvSpPr txBox="1"/>
          <p:nvPr/>
        </p:nvSpPr>
        <p:spPr>
          <a:xfrm>
            <a:off x="777240" y="4325112"/>
            <a:ext cx="6035040" cy="274320"/>
          </a:xfrm>
          <a:prstGeom prst="rect">
            <a:avLst/>
          </a:prstGeom>
          <a:noFill/>
        </p:spPr>
        <p:txBody>
          <a:bodyPr wrap="square" lIns="0" rIns="0" tIns="0" bIns="0" anchor="t">
            <a:spAutoFit/>
          </a:bodyPr>
          <a:lstStyle/>
          <a:p>
            <a:pPr algn="l"/>
            <a:r>
              <a:rPr sz="1200" b="1" i="0">
                <a:solidFill>
                  <a:schemeClr val="accent6"/>
                </a:solidFill>
              </a:rPr>
              <a:t>The deck side</a:t>
            </a:r>
          </a:p>
        </p:txBody>
      </p:sp>
      <p:sp>
        <p:nvSpPr>
          <p:cNvPr id="9" name="Code"/>
          <p:cNvSpPr txBox="1"/>
          <p:nvPr/>
        </p:nvSpPr>
        <p:spPr>
          <a:xfrm>
            <a:off x="777240" y="4690872"/>
            <a:ext cx="6035040" cy="1435607"/>
          </a:xfrm>
          <a:prstGeom prst="rect">
            <a:avLst/>
          </a:prstGeom>
          <a:noFill/>
        </p:spPr>
        <p:txBody>
          <a:bodyPr wrap="square" lIns="0" rIns="0" tIns="0" bIns="0" anchor="t">
            <a:spAutoFit/>
          </a:bodyPr>
          <a:lstStyle/>
          <a:p>
            <a:pPr algn="l">
              <a:lnSpc>
                <a:spcPct val="100000"/>
              </a:lnSpc>
            </a:pPr>
            <a:r>
              <a:rPr sz="1200" b="0" i="0">
                <a:solidFill>
                  <a:schemeClr val="bg1"/>
                </a:solidFill>
                <a:latin typeface="Courier New"/>
              </a:rPr>
              <a:t>.option osdimc mcseed=7   ; each run a fresh trial</a:t>
            </a:r>
          </a:p>
          <a:p>
            <a:pPr algn="l">
              <a:lnSpc>
                <a:spcPct val="100000"/>
              </a:lnSpc>
            </a:pPr>
            <a:r>
              <a:rPr sz="1200" b="0" i="0">
                <a:solidFill>
                  <a:schemeClr val="bg1"/>
                </a:solidFill>
                <a:latin typeface="Courier New"/>
              </a:rPr>
              <a:t>op  →  i = 1.000 mA      ; first run: nominal</a:t>
            </a:r>
          </a:p>
          <a:p>
            <a:pPr algn="l">
              <a:lnSpc>
                <a:spcPct val="100000"/>
              </a:lnSpc>
            </a:pPr>
            <a:r>
              <a:rPr sz="1200" b="0" i="0">
                <a:solidFill>
                  <a:schemeClr val="bg1"/>
                </a:solidFill>
                <a:latin typeface="Courier New"/>
              </a:rPr>
              <a:t>op  →  i = 0.945 mA      ; a trial</a:t>
            </a:r>
          </a:p>
          <a:p>
            <a:pPr algn="l">
              <a:lnSpc>
                <a:spcPct val="100000"/>
              </a:lnSpc>
            </a:pPr>
            <a:r>
              <a:rPr sz="1200" b="0" i="0">
                <a:solidFill>
                  <a:schemeClr val="bg1"/>
                </a:solidFill>
                <a:latin typeface="Courier New"/>
              </a:rPr>
              <a:t/>
            </a:r>
          </a:p>
          <a:p>
            <a:pPr algn="l">
              <a:lnSpc>
                <a:spcPct val="100000"/>
              </a:lnSpc>
            </a:pPr>
            <a:r>
              <a:rPr sz="1200" b="0" i="0">
                <a:solidFill>
                  <a:schemeClr val="bg1"/>
                </a:solidFill>
                <a:latin typeface="Courier New"/>
              </a:rPr>
              <a:t>.option corner=ss        ; k = 1.1</a:t>
            </a:r>
          </a:p>
          <a:p>
            <a:pPr algn="l">
              <a:lnSpc>
                <a:spcPct val="100000"/>
              </a:lnSpc>
            </a:pPr>
            <a:r>
              <a:rPr sz="1200" b="0" i="0">
                <a:solidFill>
                  <a:schemeClr val="bg1"/>
                </a:solidFill>
                <a:latin typeface="Courier New"/>
              </a:rPr>
              <a:t>op  →  i = 0.909 mA</a:t>
            </a:r>
          </a:p>
        </p:txBody>
      </p:sp>
      <p:sp>
        <p:nvSpPr>
          <p:cNvPr id="10" name="Card No reset loop"/>
          <p:cNvSpPr/>
          <p:nvPr/>
        </p:nvSpPr>
        <p:spPr>
          <a:xfrm>
            <a:off x="7315200" y="1417320"/>
            <a:ext cx="4327855" cy="1493519"/>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Card title No reset loop"/>
          <p:cNvSpPr txBox="1"/>
          <p:nvPr/>
        </p:nvSpPr>
        <p:spPr>
          <a:xfrm>
            <a:off x="7479792" y="1536192"/>
            <a:ext cx="3998671" cy="292608"/>
          </a:xfrm>
          <a:prstGeom prst="rect">
            <a:avLst/>
          </a:prstGeom>
          <a:noFill/>
        </p:spPr>
        <p:txBody>
          <a:bodyPr wrap="square" lIns="0" rIns="0" tIns="0" bIns="0" anchor="ctr">
            <a:spAutoFit/>
          </a:bodyPr>
          <a:lstStyle/>
          <a:p>
            <a:pPr algn="l"/>
            <a:r>
              <a:rPr sz="1500" b="1" i="0">
                <a:solidFill>
                  <a:schemeClr val="tx2"/>
                </a:solidFill>
              </a:rPr>
              <a:t>No reset loop</a:t>
            </a:r>
          </a:p>
        </p:txBody>
      </p:sp>
      <p:sp>
        <p:nvSpPr>
          <p:cNvPr id="12" name="Card body No reset loop"/>
          <p:cNvSpPr txBox="1"/>
          <p:nvPr/>
        </p:nvSpPr>
        <p:spPr>
          <a:xfrm>
            <a:off x="7479792" y="1874519"/>
            <a:ext cx="3998671" cy="652271"/>
          </a:xfrm>
          <a:prstGeom prst="rect">
            <a:avLst/>
          </a:prstGeom>
          <a:noFill/>
        </p:spPr>
        <p:txBody>
          <a:bodyPr wrap="square" lIns="0" rIns="0" tIns="0" bIns="0" anchor="t">
            <a:spAutoFit/>
          </a:bodyPr>
          <a:lstStyle/>
          <a:p>
            <a:pPr algn="l"/>
            <a:r>
              <a:rPr sz="1400" b="0" i="0">
                <a:solidFill>
                  <a:schemeClr val="tx1"/>
                </a:solidFill>
              </a:rPr>
              <a:t>std, std_rel and dist travel in an OSDI side table; osdimc makes each run a trial</a:t>
            </a:r>
          </a:p>
        </p:txBody>
      </p:sp>
      <p:sp>
        <p:nvSpPr>
          <p:cNvPr id="13" name="Chip E-530">
            <a:hlinkClick r:id="rId3"/>
          </p:cNvPr>
          <p:cNvSpPr/>
          <p:nvPr/>
        </p:nvSpPr>
        <p:spPr>
          <a:xfrm>
            <a:off x="7479792" y="2581656"/>
            <a:ext cx="662940" cy="219456"/>
          </a:xfrm>
          <a:prstGeom prst="roundRect">
            <a:avLst>
              <a:gd name="adj" fmla="val 50000"/>
            </a:avLst>
          </a:prstGeom>
          <a:solidFill>
            <a:schemeClr val="accent2">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2">
                    <a:lumMod val="65000"/>
                  </a:schemeClr>
                </a:solidFill>
              </a:rPr>
              <a:t>E-530</a:t>
            </a:r>
          </a:p>
        </p:txBody>
      </p:sp>
      <p:sp>
        <p:nvSpPr>
          <p:cNvPr id="14" name="Card Corners in the source"/>
          <p:cNvSpPr/>
          <p:nvPr/>
        </p:nvSpPr>
        <p:spPr>
          <a:xfrm>
            <a:off x="7315200" y="3093719"/>
            <a:ext cx="4327855" cy="1493519"/>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Card title Corners in the source"/>
          <p:cNvSpPr txBox="1"/>
          <p:nvPr/>
        </p:nvSpPr>
        <p:spPr>
          <a:xfrm>
            <a:off x="7479792" y="3212591"/>
            <a:ext cx="3998671" cy="292608"/>
          </a:xfrm>
          <a:prstGeom prst="rect">
            <a:avLst/>
          </a:prstGeom>
          <a:noFill/>
        </p:spPr>
        <p:txBody>
          <a:bodyPr wrap="square" lIns="0" rIns="0" tIns="0" bIns="0" anchor="ctr">
            <a:spAutoFit/>
          </a:bodyPr>
          <a:lstStyle/>
          <a:p>
            <a:pPr algn="l"/>
            <a:r>
              <a:rPr sz="1500" b="1" i="0">
                <a:solidFill>
                  <a:schemeClr val="tx2"/>
                </a:solidFill>
              </a:rPr>
              <a:t>Corners in the source</a:t>
            </a:r>
          </a:p>
        </p:txBody>
      </p:sp>
      <p:sp>
        <p:nvSpPr>
          <p:cNvPr id="16" name="Card body Corners in the source"/>
          <p:cNvSpPr txBox="1"/>
          <p:nvPr/>
        </p:nvSpPr>
        <p:spPr>
          <a:xfrm>
            <a:off x="7479792" y="3550919"/>
            <a:ext cx="3998671" cy="652271"/>
          </a:xfrm>
          <a:prstGeom prst="rect">
            <a:avLst/>
          </a:prstGeom>
          <a:noFill/>
        </p:spPr>
        <p:txBody>
          <a:bodyPr wrap="square" lIns="0" rIns="0" tIns="0" bIns="0" anchor="t">
            <a:spAutoFit/>
          </a:bodyPr>
          <a:lstStyle/>
          <a:p>
            <a:pPr algn="l"/>
            <a:r>
              <a:rPr sz="1400" b="0" i="0">
                <a:solidFill>
                  <a:schemeClr val="tx1"/>
                </a:solidFill>
              </a:rPr>
              <a:t>A value, a % of nominal or ±kσ per corner; .option corner selects one</a:t>
            </a:r>
          </a:p>
        </p:txBody>
      </p:sp>
      <p:sp>
        <p:nvSpPr>
          <p:cNvPr id="17" name="Chip E-654">
            <a:hlinkClick r:id="rId4"/>
          </p:cNvPr>
          <p:cNvSpPr/>
          <p:nvPr/>
        </p:nvSpPr>
        <p:spPr>
          <a:xfrm>
            <a:off x="7479792" y="4258055"/>
            <a:ext cx="662940" cy="219456"/>
          </a:xfrm>
          <a:prstGeom prst="roundRect">
            <a:avLst>
              <a:gd name="adj" fmla="val 50000"/>
            </a:avLst>
          </a:prstGeom>
          <a:solidFill>
            <a:schemeClr val="accent2">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2">
                    <a:lumMod val="65000"/>
                  </a:schemeClr>
                </a:solidFill>
              </a:rPr>
              <a:t>E-654</a:t>
            </a:r>
          </a:p>
        </p:txBody>
      </p:sp>
      <p:sp>
        <p:nvSpPr>
          <p:cNvPr id="18" name="Card All corners at once"/>
          <p:cNvSpPr/>
          <p:nvPr/>
        </p:nvSpPr>
        <p:spPr>
          <a:xfrm>
            <a:off x="7315200" y="4770119"/>
            <a:ext cx="4327855" cy="1493519"/>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Card title All corners at once"/>
          <p:cNvSpPr txBox="1"/>
          <p:nvPr/>
        </p:nvSpPr>
        <p:spPr>
          <a:xfrm>
            <a:off x="7479792" y="4888991"/>
            <a:ext cx="3998671" cy="292608"/>
          </a:xfrm>
          <a:prstGeom prst="rect">
            <a:avLst/>
          </a:prstGeom>
          <a:noFill/>
        </p:spPr>
        <p:txBody>
          <a:bodyPr wrap="square" lIns="0" rIns="0" tIns="0" bIns="0" anchor="ctr">
            <a:spAutoFit/>
          </a:bodyPr>
          <a:lstStyle/>
          <a:p>
            <a:pPr algn="l"/>
            <a:r>
              <a:rPr sz="1500" b="1" i="0">
                <a:solidFill>
                  <a:schemeClr val="tx2"/>
                </a:solidFill>
              </a:rPr>
              <a:t>All corners at once</a:t>
            </a:r>
          </a:p>
        </p:txBody>
      </p:sp>
      <p:sp>
        <p:nvSpPr>
          <p:cNvPr id="20" name="Card body All corners at once"/>
          <p:cNvSpPr txBox="1"/>
          <p:nvPr/>
        </p:nvSpPr>
        <p:spPr>
          <a:xfrm>
            <a:off x="7479792" y="5227319"/>
            <a:ext cx="3998671" cy="652271"/>
          </a:xfrm>
          <a:prstGeom prst="rect">
            <a:avLst/>
          </a:prstGeom>
          <a:noFill/>
        </p:spPr>
        <p:txBody>
          <a:bodyPr wrap="square" lIns="0" rIns="0" tIns="0" bIns="0" anchor="t">
            <a:spAutoFit/>
          </a:bodyPr>
          <a:lstStyle/>
          <a:p>
            <a:pPr algn="l"/>
            <a:r>
              <a:rPr sz="1400" b="0" i="0">
                <a:solidFill>
                  <a:schemeClr val="tx1"/>
                </a:solidFill>
              </a:rPr>
              <a:t>.option autocorner runs nominal and every declared corner, side by side</a:t>
            </a:r>
          </a:p>
        </p:txBody>
      </p:sp>
      <p:sp>
        <p:nvSpPr>
          <p:cNvPr id="21" name="Chip E-656">
            <a:hlinkClick r:id="rId5"/>
          </p:cNvPr>
          <p:cNvSpPr/>
          <p:nvPr/>
        </p:nvSpPr>
        <p:spPr>
          <a:xfrm>
            <a:off x="7479792" y="5934455"/>
            <a:ext cx="662940" cy="219456"/>
          </a:xfrm>
          <a:prstGeom prst="roundRect">
            <a:avLst>
              <a:gd name="adj" fmla="val 50000"/>
            </a:avLst>
          </a:prstGeom>
          <a:solidFill>
            <a:schemeClr val="accent2">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2">
                    <a:lumMod val="65000"/>
                  </a:schemeClr>
                </a:solidFill>
              </a:rPr>
              <a:t>E-656</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Optimization and sweeps</a:t>
            </a:r>
          </a:p>
        </p:txBody>
      </p:sp>
      <p:sp>
        <p:nvSpPr>
          <p:cNvPr id="3" name="Kicker"/>
          <p:cNvSpPr txBox="1"/>
          <p:nvPr/>
        </p:nvSpPr>
        <p:spPr>
          <a:xfrm>
            <a:off x="548640" y="274320"/>
            <a:ext cx="11094415" cy="274320"/>
          </a:xfrm>
          <a:prstGeom prst="rect">
            <a:avLst/>
          </a:prstGeom>
          <a:noFill/>
        </p:spPr>
        <p:txBody>
          <a:bodyPr wrap="square" lIns="0" rIns="0" tIns="0" bIns="0" anchor="t">
            <a:spAutoFit/>
          </a:bodyPr>
          <a:lstStyle/>
          <a:p>
            <a:pPr algn="l"/>
            <a:r>
              <a:rPr sz="1100" b="1" i="0" spc="120">
                <a:solidFill>
                  <a:schemeClr val="accent2">
                    <a:lumMod val="75000"/>
                  </a:schemeClr>
                </a:solidFill>
              </a:rPr>
              <a:t>SIMULATOR · 49 ENHANCEMENTS</a:t>
            </a:r>
          </a:p>
        </p:txBody>
      </p:sp>
      <p:graphicFrame>
        <p:nvGraphicFramePr>
          <p:cNvPr id="4" name="Methods table"/>
          <p:cNvGraphicFramePr>
            <a:graphicFrameLocks noGrp="1"/>
          </p:cNvGraphicFramePr>
          <p:nvPr/>
        </p:nvGraphicFramePr>
        <p:xfrm>
          <a:off x="548640" y="1417320"/>
          <a:ext cx="6903719" cy="4242816"/>
        </p:xfrm>
        <a:graphic>
          <a:graphicData uri="http://schemas.openxmlformats.org/drawingml/2006/table">
            <a:tbl>
              <a:tblPr firstRow="1">
                <a:tableStyleId>{5C22544A-7EE6-4342-B048-85BDC9FD1C3A}</a:tableStyleId>
              </a:tblPr>
              <a:tblGrid>
                <a:gridCol w="1417320"/>
                <a:gridCol w="1737360"/>
                <a:gridCol w="3749039"/>
              </a:tblGrid>
              <a:tr h="530352">
                <a:tc>
                  <a:txBody>
                    <a:bodyPr wrap="square"/>
                    <a:lstStyle/>
                    <a:p>
                      <a:r>
                        <a:rPr sz="1400" b="1">
                          <a:solidFill>
                            <a:schemeClr val="bg1"/>
                          </a:solidFill>
                        </a:rPr>
                        <a:t>-method</a:t>
                      </a:r>
                    </a:p>
                  </a:txBody>
                  <a:tcPr marL="91440" marR="91440" marT="36576" marB="36576" anchor="ctr">
                    <a:solidFill>
                      <a:schemeClr val="tx2"/>
                    </a:solidFill>
                  </a:tcPr>
                </a:tc>
                <a:tc>
                  <a:txBody>
                    <a:bodyPr wrap="square"/>
                    <a:lstStyle/>
                    <a:p>
                      <a:r>
                        <a:rPr sz="1400" b="1">
                          <a:solidFill>
                            <a:schemeClr val="bg1"/>
                          </a:solidFill>
                        </a:rPr>
                        <a:t>Kind</a:t>
                      </a:r>
                    </a:p>
                  </a:txBody>
                  <a:tcPr marL="91440" marR="91440" marT="36576" marB="36576" anchor="ctr">
                    <a:solidFill>
                      <a:schemeClr val="tx2"/>
                    </a:solidFill>
                  </a:tcPr>
                </a:tc>
                <a:tc>
                  <a:txBody>
                    <a:bodyPr wrap="square"/>
                    <a:lstStyle/>
                    <a:p>
                      <a:r>
                        <a:rPr sz="1400" b="1">
                          <a:solidFill>
                            <a:schemeClr val="bg1"/>
                          </a:solidFill>
                        </a:rPr>
                        <a:t>Reach for it when</a:t>
                      </a:r>
                    </a:p>
                  </a:txBody>
                  <a:tcPr marL="91440" marR="91440" marT="36576" marB="36576" anchor="ctr">
                    <a:solidFill>
                      <a:schemeClr val="tx2"/>
                    </a:solidFill>
                  </a:tcPr>
                </a:tc>
              </a:tr>
              <a:tr h="530352">
                <a:tc>
                  <a:txBody>
                    <a:bodyPr wrap="square"/>
                    <a:lstStyle/>
                    <a:p>
                      <a:r>
                        <a:rPr sz="1400" b="1">
                          <a:solidFill>
                            <a:schemeClr val="tx1"/>
                          </a:solidFill>
                          <a:latin typeface="Courier New"/>
                        </a:rPr>
                        <a:t>nm</a:t>
                      </a:r>
                    </a:p>
                  </a:txBody>
                  <a:tcPr marL="91440" marR="91440" marT="36576" marB="36576" anchor="ctr">
                    <a:solidFill>
                      <a:schemeClr val="bg1"/>
                    </a:solidFill>
                  </a:tcPr>
                </a:tc>
                <a:tc>
                  <a:txBody>
                    <a:bodyPr wrap="square"/>
                    <a:lstStyle/>
                    <a:p>
                      <a:r>
                        <a:rPr sz="1400" b="0">
                          <a:solidFill>
                            <a:schemeClr val="tx1"/>
                          </a:solidFill>
                        </a:rPr>
                        <a:t>simplex</a:t>
                      </a:r>
                    </a:p>
                  </a:txBody>
                  <a:tcPr marL="91440" marR="91440" marT="36576" marB="36576" anchor="ctr">
                    <a:solidFill>
                      <a:schemeClr val="bg1"/>
                    </a:solidFill>
                  </a:tcPr>
                </a:tc>
                <a:tc>
                  <a:txBody>
                    <a:bodyPr wrap="square"/>
                    <a:lstStyle/>
                    <a:p>
                      <a:r>
                        <a:rPr sz="1400" b="0">
                          <a:solidFill>
                            <a:schemeClr val="tx1"/>
                          </a:solidFill>
                        </a:rPr>
                        <a:t>the default for a scalar -minimize</a:t>
                      </a:r>
                    </a:p>
                  </a:txBody>
                  <a:tcPr marL="91440" marR="91440" marT="36576" marB="36576" anchor="ctr">
                    <a:solidFill>
                      <a:schemeClr val="bg1"/>
                    </a:solidFill>
                  </a:tcPr>
                </a:tc>
              </a:tr>
              <a:tr h="530352">
                <a:tc>
                  <a:txBody>
                    <a:bodyPr wrap="square"/>
                    <a:lstStyle/>
                    <a:p>
                      <a:r>
                        <a:rPr sz="1400" b="1">
                          <a:solidFill>
                            <a:schemeClr val="tx1"/>
                          </a:solidFill>
                          <a:latin typeface="Courier New"/>
                        </a:rPr>
                        <a:t>lm</a:t>
                      </a:r>
                    </a:p>
                  </a:txBody>
                  <a:tcPr marL="91440" marR="91440" marT="36576" marB="36576" anchor="ctr">
                    <a:solidFill>
                      <a:schemeClr val="bg2"/>
                    </a:solidFill>
                  </a:tcPr>
                </a:tc>
                <a:tc>
                  <a:txBody>
                    <a:bodyPr wrap="square"/>
                    <a:lstStyle/>
                    <a:p>
                      <a:r>
                        <a:rPr sz="1400" b="0">
                          <a:solidFill>
                            <a:schemeClr val="tx1"/>
                          </a:solidFill>
                        </a:rPr>
                        <a:t>least squares</a:t>
                      </a:r>
                    </a:p>
                  </a:txBody>
                  <a:tcPr marL="91440" marR="91440" marT="36576" marB="36576" anchor="ctr">
                    <a:solidFill>
                      <a:schemeClr val="bg2"/>
                    </a:solidFill>
                  </a:tcPr>
                </a:tc>
                <a:tc>
                  <a:txBody>
                    <a:bodyPr wrap="square"/>
                    <a:lstStyle/>
                    <a:p>
                      <a:r>
                        <a:rPr sz="1400" b="0">
                          <a:solidFill>
                            <a:schemeClr val="tx1"/>
                          </a:solidFill>
                        </a:rPr>
                        <a:t>the default for -target fits, up to 100 knobs</a:t>
                      </a:r>
                    </a:p>
                  </a:txBody>
                  <a:tcPr marL="91440" marR="91440" marT="36576" marB="36576" anchor="ctr">
                    <a:solidFill>
                      <a:schemeClr val="bg2"/>
                    </a:solidFill>
                  </a:tcPr>
                </a:tc>
              </a:tr>
              <a:tr h="530352">
                <a:tc>
                  <a:txBody>
                    <a:bodyPr wrap="square"/>
                    <a:lstStyle/>
                    <a:p>
                      <a:r>
                        <a:rPr sz="1400" b="1">
                          <a:solidFill>
                            <a:schemeClr val="tx1"/>
                          </a:solidFill>
                          <a:latin typeface="Courier New"/>
                        </a:rPr>
                        <a:t>tr</a:t>
                      </a:r>
                    </a:p>
                  </a:txBody>
                  <a:tcPr marL="91440" marR="91440" marT="36576" marB="36576" anchor="ctr">
                    <a:solidFill>
                      <a:schemeClr val="bg1"/>
                    </a:solidFill>
                  </a:tcPr>
                </a:tc>
                <a:tc>
                  <a:txBody>
                    <a:bodyPr wrap="square"/>
                    <a:lstStyle/>
                    <a:p>
                      <a:r>
                        <a:rPr sz="1400" b="0">
                          <a:solidFill>
                            <a:schemeClr val="tx1"/>
                          </a:solidFill>
                        </a:rPr>
                        <a:t>trust region</a:t>
                      </a:r>
                    </a:p>
                  </a:txBody>
                  <a:tcPr marL="91440" marR="91440" marT="36576" marB="36576" anchor="ctr">
                    <a:solidFill>
                      <a:schemeClr val="bg1"/>
                    </a:solidFill>
                  </a:tcPr>
                </a:tc>
                <a:tc>
                  <a:txBody>
                    <a:bodyPr wrap="square"/>
                    <a:lstStyle/>
                    <a:p>
                      <a:r>
                        <a:rPr sz="1400" b="0">
                          <a:solidFill>
                            <a:schemeClr val="tx1"/>
                          </a:solidFill>
                        </a:rPr>
                        <a:t>smooth objectives: 2–7x fewer evaluations</a:t>
                      </a:r>
                    </a:p>
                  </a:txBody>
                  <a:tcPr marL="91440" marR="91440" marT="36576" marB="36576" anchor="ctr">
                    <a:solidFill>
                      <a:schemeClr val="bg1"/>
                    </a:solidFill>
                  </a:tcPr>
                </a:tc>
              </a:tr>
              <a:tr h="530352">
                <a:tc>
                  <a:txBody>
                    <a:bodyPr wrap="square"/>
                    <a:lstStyle/>
                    <a:p>
                      <a:r>
                        <a:rPr sz="1400" b="1">
                          <a:solidFill>
                            <a:schemeClr val="tx1"/>
                          </a:solidFill>
                          <a:latin typeface="Courier New"/>
                        </a:rPr>
                        <a:t>pso de sa</a:t>
                      </a:r>
                    </a:p>
                  </a:txBody>
                  <a:tcPr marL="91440" marR="91440" marT="36576" marB="36576" anchor="ctr">
                    <a:solidFill>
                      <a:schemeClr val="bg2"/>
                    </a:solidFill>
                  </a:tcPr>
                </a:tc>
                <a:tc>
                  <a:txBody>
                    <a:bodyPr wrap="square"/>
                    <a:lstStyle/>
                    <a:p>
                      <a:r>
                        <a:rPr sz="1400" b="0">
                          <a:solidFill>
                            <a:schemeClr val="tx1"/>
                          </a:solidFill>
                        </a:rPr>
                        <a:t>global</a:t>
                      </a:r>
                    </a:p>
                  </a:txBody>
                  <a:tcPr marL="91440" marR="91440" marT="36576" marB="36576" anchor="ctr">
                    <a:solidFill>
                      <a:schemeClr val="bg2"/>
                    </a:solidFill>
                  </a:tcPr>
                </a:tc>
                <a:tc>
                  <a:txBody>
                    <a:bodyPr wrap="square"/>
                    <a:lstStyle/>
                    <a:p>
                      <a:r>
                        <a:rPr sz="1400" b="0">
                          <a:solidFill>
                            <a:schemeClr val="tx1"/>
                          </a:solidFill>
                        </a:rPr>
                        <a:t>the whole knob box has to be searched</a:t>
                      </a:r>
                    </a:p>
                  </a:txBody>
                  <a:tcPr marL="91440" marR="91440" marT="36576" marB="36576" anchor="ctr">
                    <a:solidFill>
                      <a:schemeClr val="bg2"/>
                    </a:solidFill>
                  </a:tcPr>
                </a:tc>
              </a:tr>
              <a:tr h="530352">
                <a:tc>
                  <a:txBody>
                    <a:bodyPr wrap="square"/>
                    <a:lstStyle/>
                    <a:p>
                      <a:r>
                        <a:rPr sz="1400" b="1">
                          <a:solidFill>
                            <a:schemeClr val="tx1"/>
                          </a:solidFill>
                          <a:latin typeface="Courier New"/>
                        </a:rPr>
                        <a:t>cmaes</a:t>
                      </a:r>
                    </a:p>
                  </a:txBody>
                  <a:tcPr marL="91440" marR="91440" marT="36576" marB="36576" anchor="ctr">
                    <a:solidFill>
                      <a:schemeClr val="bg1"/>
                    </a:solidFill>
                  </a:tcPr>
                </a:tc>
                <a:tc>
                  <a:txBody>
                    <a:bodyPr wrap="square"/>
                    <a:lstStyle/>
                    <a:p>
                      <a:r>
                        <a:rPr sz="1400" b="0">
                          <a:solidFill>
                            <a:schemeClr val="tx1"/>
                          </a:solidFill>
                        </a:rPr>
                        <a:t>adaptive global</a:t>
                      </a:r>
                    </a:p>
                  </a:txBody>
                  <a:tcPr marL="91440" marR="91440" marT="36576" marB="36576" anchor="ctr">
                    <a:solidFill>
                      <a:schemeClr val="bg1"/>
                    </a:solidFill>
                  </a:tcPr>
                </a:tc>
                <a:tc>
                  <a:txBody>
                    <a:bodyPr wrap="square"/>
                    <a:lstStyle/>
                    <a:p>
                      <a:r>
                        <a:rPr sz="1400" b="0">
                          <a:solidFill>
                            <a:schemeClr val="tx1"/>
                          </a:solidFill>
                        </a:rPr>
                        <a:t>knobs over decades or correlated</a:t>
                      </a:r>
                    </a:p>
                  </a:txBody>
                  <a:tcPr marL="91440" marR="91440" marT="36576" marB="36576" anchor="ctr">
                    <a:solidFill>
                      <a:schemeClr val="bg1"/>
                    </a:solidFill>
                  </a:tcPr>
                </a:tc>
              </a:tr>
              <a:tr h="530352">
                <a:tc>
                  <a:txBody>
                    <a:bodyPr wrap="square"/>
                    <a:lstStyle/>
                    <a:p>
                      <a:r>
                        <a:rPr sz="1400" b="1">
                          <a:solidFill>
                            <a:schemeClr val="tx1"/>
                          </a:solidFill>
                          <a:latin typeface="Courier New"/>
                        </a:rPr>
                        <a:t>bayes</a:t>
                      </a:r>
                    </a:p>
                  </a:txBody>
                  <a:tcPr marL="91440" marR="91440" marT="36576" marB="36576" anchor="ctr">
                    <a:solidFill>
                      <a:schemeClr val="bg2"/>
                    </a:solidFill>
                  </a:tcPr>
                </a:tc>
                <a:tc>
                  <a:txBody>
                    <a:bodyPr wrap="square"/>
                    <a:lstStyle/>
                    <a:p>
                      <a:r>
                        <a:rPr sz="1400" b="0">
                          <a:solidFill>
                            <a:schemeClr val="tx1"/>
                          </a:solidFill>
                        </a:rPr>
                        <a:t>GP surrogate</a:t>
                      </a:r>
                    </a:p>
                  </a:txBody>
                  <a:tcPr marL="91440" marR="91440" marT="36576" marB="36576" anchor="ctr">
                    <a:solidFill>
                      <a:schemeClr val="bg2"/>
                    </a:solidFill>
                  </a:tcPr>
                </a:tc>
                <a:tc>
                  <a:txBody>
                    <a:bodyPr wrap="square"/>
                    <a:lstStyle/>
                    <a:p>
                      <a:r>
                        <a:rPr sz="1400" b="0">
                          <a:solidFill>
                            <a:schemeClr val="tx1"/>
                          </a:solidFill>
                        </a:rPr>
                        <a:t>slow decks: the basin in 10–20 runs</a:t>
                      </a:r>
                    </a:p>
                  </a:txBody>
                  <a:tcPr marL="91440" marR="91440" marT="36576" marB="36576" anchor="ctr">
                    <a:solidFill>
                      <a:schemeClr val="bg2"/>
                    </a:solidFill>
                  </a:tcPr>
                </a:tc>
              </a:tr>
              <a:tr h="530352">
                <a:tc>
                  <a:txBody>
                    <a:bodyPr wrap="square"/>
                    <a:lstStyle/>
                    <a:p>
                      <a:r>
                        <a:rPr sz="1400" b="1">
                          <a:solidFill>
                            <a:schemeClr val="tx1"/>
                          </a:solidFill>
                          <a:latin typeface="Courier New"/>
                        </a:rPr>
                        <a:t>nsga2</a:t>
                      </a:r>
                    </a:p>
                  </a:txBody>
                  <a:tcPr marL="91440" marR="91440" marT="36576" marB="36576" anchor="ctr">
                    <a:solidFill>
                      <a:schemeClr val="bg1"/>
                    </a:solidFill>
                  </a:tcPr>
                </a:tc>
                <a:tc>
                  <a:txBody>
                    <a:bodyPr wrap="square"/>
                    <a:lstStyle/>
                    <a:p>
                      <a:r>
                        <a:rPr sz="1400" b="0">
                          <a:solidFill>
                            <a:schemeClr val="tx1"/>
                          </a:solidFill>
                        </a:rPr>
                        <a:t>multi-objective</a:t>
                      </a:r>
                    </a:p>
                  </a:txBody>
                  <a:tcPr marL="91440" marR="91440" marT="36576" marB="36576" anchor="ctr">
                    <a:solidFill>
                      <a:schemeClr val="bg1"/>
                    </a:solidFill>
                  </a:tcPr>
                </a:tc>
                <a:tc>
                  <a:txBody>
                    <a:bodyPr wrap="square"/>
                    <a:lstStyle/>
                    <a:p>
                      <a:r>
                        <a:rPr sz="1400" b="0">
                          <a:solidFill>
                            <a:schemeClr val="tx1"/>
                          </a:solidFill>
                        </a:rPr>
                        <a:t>a Pareto front of several objectives</a:t>
                      </a:r>
                    </a:p>
                  </a:txBody>
                  <a:tcPr marL="91440" marR="91440" marT="36576" marB="36576" anchor="ctr">
                    <a:solidFill>
                      <a:schemeClr val="bg1"/>
                    </a:solidFill>
                  </a:tcPr>
                </a:tc>
              </a:tr>
            </a:tbl>
          </a:graphicData>
        </a:graphic>
      </p:graphicFrame>
      <p:sp>
        <p:nvSpPr>
          <p:cNvPr id="5" name="Outcome note"/>
          <p:cNvSpPr txBox="1"/>
          <p:nvPr/>
        </p:nvSpPr>
        <p:spPr>
          <a:xfrm>
            <a:off x="548640" y="5852159"/>
            <a:ext cx="6903720" cy="411480"/>
          </a:xfrm>
          <a:prstGeom prst="rect">
            <a:avLst/>
          </a:prstGeom>
          <a:noFill/>
        </p:spPr>
        <p:txBody>
          <a:bodyPr wrap="square" lIns="0" rIns="0" tIns="0" bIns="0" anchor="t">
            <a:spAutoFit/>
          </a:bodyPr>
          <a:lstStyle/>
          <a:p>
            <a:pPr algn="l"/>
            <a:r>
              <a:rPr sz="1400" b="1" i="0">
                <a:solidFill>
                  <a:schemeClr val="tx1"/>
                </a:solidFill>
              </a:rPr>
              <a:t>Scripts read the outcome: </a:t>
            </a:r>
            <a:r>
              <a:rPr sz="1200" b="0" i="0">
                <a:solidFill>
                  <a:schemeClr val="tx1"/>
                </a:solidFill>
                <a:latin typeface="Courier New"/>
              </a:rPr>
              <a:t>optimize_status, optimize_converged, optimize_cost, optimize_evals</a:t>
            </a:r>
          </a:p>
        </p:txBody>
      </p:sp>
      <p:sp>
        <p:nvSpPr>
          <p:cNvPr id="6" name="Card Knobs &amp; constraints"/>
          <p:cNvSpPr/>
          <p:nvPr/>
        </p:nvSpPr>
        <p:spPr>
          <a:xfrm>
            <a:off x="7726679" y="1417320"/>
            <a:ext cx="3916375" cy="1493519"/>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Card title Knobs &amp; constraints"/>
          <p:cNvSpPr txBox="1"/>
          <p:nvPr/>
        </p:nvSpPr>
        <p:spPr>
          <a:xfrm>
            <a:off x="7891271" y="1536192"/>
            <a:ext cx="3587191" cy="292608"/>
          </a:xfrm>
          <a:prstGeom prst="rect">
            <a:avLst/>
          </a:prstGeom>
          <a:noFill/>
        </p:spPr>
        <p:txBody>
          <a:bodyPr wrap="square" lIns="0" rIns="0" tIns="0" bIns="0" anchor="ctr">
            <a:spAutoFit/>
          </a:bodyPr>
          <a:lstStyle/>
          <a:p>
            <a:pPr algn="l"/>
            <a:r>
              <a:rPr sz="1500" b="1" i="0">
                <a:solidFill>
                  <a:schemeClr val="tx2"/>
                </a:solidFill>
              </a:rPr>
              <a:t>Knobs &amp; constraints</a:t>
            </a:r>
          </a:p>
        </p:txBody>
      </p:sp>
      <p:sp>
        <p:nvSpPr>
          <p:cNvPr id="8" name="Card body Knobs &amp; constraints"/>
          <p:cNvSpPr txBox="1"/>
          <p:nvPr/>
        </p:nvSpPr>
        <p:spPr>
          <a:xfrm>
            <a:off x="7891271" y="1874519"/>
            <a:ext cx="3587191" cy="652271"/>
          </a:xfrm>
          <a:prstGeom prst="rect">
            <a:avLst/>
          </a:prstGeom>
          <a:noFill/>
        </p:spPr>
        <p:txBody>
          <a:bodyPr wrap="square" lIns="0" rIns="0" tIns="0" bIns="0" anchor="t">
            <a:spAutoFit/>
          </a:bodyPr>
          <a:lstStyle/>
          <a:p>
            <a:pPr algn="l"/>
            <a:r>
              <a:rPr sz="1400" b="0" i="0">
                <a:solidFill>
                  <a:schemeClr val="tx1"/>
                </a:solidFill>
              </a:rPr>
              <a:t>-param, -mparam, -dparam; -constrain; -polish and -starts</a:t>
            </a:r>
          </a:p>
        </p:txBody>
      </p:sp>
      <p:sp>
        <p:nvSpPr>
          <p:cNvPr id="9" name="Chip E-766">
            <a:hlinkClick r:id="rId3"/>
          </p:cNvPr>
          <p:cNvSpPr/>
          <p:nvPr/>
        </p:nvSpPr>
        <p:spPr>
          <a:xfrm>
            <a:off x="7891271" y="2581656"/>
            <a:ext cx="662940" cy="219456"/>
          </a:xfrm>
          <a:prstGeom prst="roundRect">
            <a:avLst>
              <a:gd name="adj" fmla="val 50000"/>
            </a:avLst>
          </a:prstGeom>
          <a:solidFill>
            <a:schemeClr val="accent2">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2">
                    <a:lumMod val="65000"/>
                  </a:schemeClr>
                </a:solidFill>
              </a:rPr>
              <a:t>E-766</a:t>
            </a:r>
          </a:p>
        </p:txBody>
      </p:sp>
      <p:sp>
        <p:nvSpPr>
          <p:cNvPr id="10" name="Chip E-764">
            <a:hlinkClick r:id="rId4"/>
          </p:cNvPr>
          <p:cNvSpPr/>
          <p:nvPr/>
        </p:nvSpPr>
        <p:spPr>
          <a:xfrm>
            <a:off x="8609076" y="2581656"/>
            <a:ext cx="662940" cy="219456"/>
          </a:xfrm>
          <a:prstGeom prst="roundRect">
            <a:avLst>
              <a:gd name="adj" fmla="val 50000"/>
            </a:avLst>
          </a:prstGeom>
          <a:solidFill>
            <a:schemeClr val="accent2">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2">
                    <a:lumMod val="65000"/>
                  </a:schemeClr>
                </a:solidFill>
              </a:rPr>
              <a:t>E-764</a:t>
            </a:r>
          </a:p>
        </p:txBody>
      </p:sp>
      <p:sp>
        <p:nvSpPr>
          <p:cNvPr id="11" name="Card sweep"/>
          <p:cNvSpPr/>
          <p:nvPr/>
        </p:nvSpPr>
        <p:spPr>
          <a:xfrm>
            <a:off x="7726679" y="3093719"/>
            <a:ext cx="3916375" cy="1493519"/>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Card title sweep"/>
          <p:cNvSpPr txBox="1"/>
          <p:nvPr/>
        </p:nvSpPr>
        <p:spPr>
          <a:xfrm>
            <a:off x="7891271" y="3212591"/>
            <a:ext cx="3587191" cy="292608"/>
          </a:xfrm>
          <a:prstGeom prst="rect">
            <a:avLst/>
          </a:prstGeom>
          <a:noFill/>
        </p:spPr>
        <p:txBody>
          <a:bodyPr wrap="square" lIns="0" rIns="0" tIns="0" bIns="0" anchor="ctr">
            <a:spAutoFit/>
          </a:bodyPr>
          <a:lstStyle/>
          <a:p>
            <a:pPr algn="l"/>
            <a:r>
              <a:rPr sz="1500" b="1" i="0">
                <a:solidFill>
                  <a:schemeClr val="tx2"/>
                </a:solidFill>
              </a:rPr>
              <a:t>sweep</a:t>
            </a:r>
          </a:p>
        </p:txBody>
      </p:sp>
      <p:sp>
        <p:nvSpPr>
          <p:cNvPr id="13" name="Card body sweep"/>
          <p:cNvSpPr txBox="1"/>
          <p:nvPr/>
        </p:nvSpPr>
        <p:spPr>
          <a:xfrm>
            <a:off x="7891271" y="3550919"/>
            <a:ext cx="3587191" cy="652271"/>
          </a:xfrm>
          <a:prstGeom prst="rect">
            <a:avLst/>
          </a:prstGeom>
          <a:noFill/>
        </p:spPr>
        <p:txBody>
          <a:bodyPr wrap="square" lIns="0" rIns="0" tIns="0" bIns="0" anchor="t">
            <a:spAutoFit/>
          </a:bodyPr>
          <a:lstStyle/>
          <a:p>
            <a:pPr algn="l"/>
            <a:r>
              <a:rPr sz="1400" b="0" i="0">
                <a:solidFill>
                  <a:schemeClr val="tx1"/>
                </a:solidFill>
              </a:rPr>
              <a:t>One sweep command and .sweep card for every knob kind; -overlay, -vs</a:t>
            </a:r>
          </a:p>
        </p:txBody>
      </p:sp>
      <p:sp>
        <p:nvSpPr>
          <p:cNvPr id="14" name="Chip E-146">
            <a:hlinkClick r:id="rId5"/>
          </p:cNvPr>
          <p:cNvSpPr/>
          <p:nvPr/>
        </p:nvSpPr>
        <p:spPr>
          <a:xfrm>
            <a:off x="7891271" y="4258055"/>
            <a:ext cx="662940" cy="219456"/>
          </a:xfrm>
          <a:prstGeom prst="roundRect">
            <a:avLst>
              <a:gd name="adj" fmla="val 50000"/>
            </a:avLst>
          </a:prstGeom>
          <a:solidFill>
            <a:schemeClr val="accent2">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2">
                    <a:lumMod val="65000"/>
                  </a:schemeClr>
                </a:solidFill>
              </a:rPr>
              <a:t>E-146</a:t>
            </a:r>
          </a:p>
        </p:txBody>
      </p:sp>
      <p:sp>
        <p:nvSpPr>
          <p:cNvPr id="15" name="Chip E-190">
            <a:hlinkClick r:id="rId6"/>
          </p:cNvPr>
          <p:cNvSpPr/>
          <p:nvPr/>
        </p:nvSpPr>
        <p:spPr>
          <a:xfrm>
            <a:off x="8609076" y="4258055"/>
            <a:ext cx="662940" cy="219456"/>
          </a:xfrm>
          <a:prstGeom prst="roundRect">
            <a:avLst>
              <a:gd name="adj" fmla="val 50000"/>
            </a:avLst>
          </a:prstGeom>
          <a:solidFill>
            <a:schemeClr val="accent2">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2">
                    <a:lumMod val="65000"/>
                  </a:schemeClr>
                </a:solidFill>
              </a:rPr>
              <a:t>E-190</a:t>
            </a:r>
          </a:p>
        </p:txBody>
      </p:sp>
      <p:sp>
        <p:nvSpPr>
          <p:cNvPr id="16" name="Card Fast paths"/>
          <p:cNvSpPr/>
          <p:nvPr/>
        </p:nvSpPr>
        <p:spPr>
          <a:xfrm>
            <a:off x="7726679" y="4770119"/>
            <a:ext cx="3916375" cy="1493519"/>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Card title Fast paths"/>
          <p:cNvSpPr txBox="1"/>
          <p:nvPr/>
        </p:nvSpPr>
        <p:spPr>
          <a:xfrm>
            <a:off x="7891271" y="4888991"/>
            <a:ext cx="3587191" cy="292608"/>
          </a:xfrm>
          <a:prstGeom prst="rect">
            <a:avLst/>
          </a:prstGeom>
          <a:noFill/>
        </p:spPr>
        <p:txBody>
          <a:bodyPr wrap="square" lIns="0" rIns="0" tIns="0" bIns="0" anchor="ctr">
            <a:spAutoFit/>
          </a:bodyPr>
          <a:lstStyle/>
          <a:p>
            <a:pPr algn="l"/>
            <a:r>
              <a:rPr sz="1500" b="1" i="0">
                <a:solidFill>
                  <a:schemeClr val="tx2"/>
                </a:solidFill>
              </a:rPr>
              <a:t>Fast paths</a:t>
            </a:r>
          </a:p>
        </p:txBody>
      </p:sp>
      <p:sp>
        <p:nvSpPr>
          <p:cNvPr id="18" name="Card body Fast paths"/>
          <p:cNvSpPr txBox="1"/>
          <p:nvPr/>
        </p:nvSpPr>
        <p:spPr>
          <a:xfrm>
            <a:off x="7891271" y="5227319"/>
            <a:ext cx="3587191" cy="652271"/>
          </a:xfrm>
          <a:prstGeom prst="rect">
            <a:avLst/>
          </a:prstGeom>
          <a:noFill/>
        </p:spPr>
        <p:txBody>
          <a:bodyPr wrap="square" lIns="0" rIns="0" tIns="0" bIns="0" anchor="t">
            <a:spAutoFit/>
          </a:bodyPr>
          <a:lstStyle/>
          <a:p>
            <a:pPr algn="l"/>
            <a:r>
              <a:rPr sz="1400" b="0" i="0">
                <a:solidFill>
                  <a:schemeClr val="tx1"/>
                </a:solidFill>
              </a:rPr>
              <a:t>Sweeps in linear time, 87x at 64k points; .param changed in place</a:t>
            </a:r>
          </a:p>
        </p:txBody>
      </p:sp>
      <p:sp>
        <p:nvSpPr>
          <p:cNvPr id="19" name="Chip E-345">
            <a:hlinkClick r:id="rId7"/>
          </p:cNvPr>
          <p:cNvSpPr/>
          <p:nvPr/>
        </p:nvSpPr>
        <p:spPr>
          <a:xfrm>
            <a:off x="7891271" y="5934455"/>
            <a:ext cx="662940" cy="219456"/>
          </a:xfrm>
          <a:prstGeom prst="roundRect">
            <a:avLst>
              <a:gd name="adj" fmla="val 50000"/>
            </a:avLst>
          </a:prstGeom>
          <a:solidFill>
            <a:schemeClr val="accent2">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2">
                    <a:lumMod val="65000"/>
                  </a:schemeClr>
                </a:solidFill>
              </a:rPr>
              <a:t>E-345</a:t>
            </a:r>
          </a:p>
        </p:txBody>
      </p:sp>
      <p:sp>
        <p:nvSpPr>
          <p:cNvPr id="20" name="Chip E-320">
            <a:hlinkClick r:id="rId8"/>
          </p:cNvPr>
          <p:cNvSpPr/>
          <p:nvPr/>
        </p:nvSpPr>
        <p:spPr>
          <a:xfrm>
            <a:off x="8609076" y="5934455"/>
            <a:ext cx="662940" cy="219456"/>
          </a:xfrm>
          <a:prstGeom prst="roundRect">
            <a:avLst>
              <a:gd name="adj" fmla="val 50000"/>
            </a:avLst>
          </a:prstGeom>
          <a:solidFill>
            <a:schemeClr val="accent2">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2">
                    <a:lumMod val="65000"/>
                  </a:schemeClr>
                </a:solidFill>
              </a:rPr>
              <a:t>E-320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Post-layout parasitics and reliability</a:t>
            </a:r>
          </a:p>
        </p:txBody>
      </p:sp>
      <p:sp>
        <p:nvSpPr>
          <p:cNvPr id="3" name="Kicker"/>
          <p:cNvSpPr txBox="1"/>
          <p:nvPr/>
        </p:nvSpPr>
        <p:spPr>
          <a:xfrm>
            <a:off x="548640" y="274320"/>
            <a:ext cx="11094415" cy="274320"/>
          </a:xfrm>
          <a:prstGeom prst="rect">
            <a:avLst/>
          </a:prstGeom>
          <a:noFill/>
        </p:spPr>
        <p:txBody>
          <a:bodyPr wrap="square" lIns="0" rIns="0" tIns="0" bIns="0" anchor="t">
            <a:spAutoFit/>
          </a:bodyPr>
          <a:lstStyle/>
          <a:p>
            <a:pPr algn="l"/>
            <a:r>
              <a:rPr sz="1100" b="1" i="0" spc="120">
                <a:solidFill>
                  <a:schemeClr val="accent2">
                    <a:lumMod val="75000"/>
                  </a:schemeClr>
                </a:solidFill>
              </a:rPr>
              <a:t>SIMULATOR · 5 ENHANCEMENTS</a:t>
            </a:r>
          </a:p>
        </p:txBody>
      </p:sp>
      <p:sp>
        <p:nvSpPr>
          <p:cNvPr id="4" name="Column reduce · TICER"/>
          <p:cNvSpPr/>
          <p:nvPr/>
        </p:nvSpPr>
        <p:spPr>
          <a:xfrm>
            <a:off x="548640" y="1417320"/>
            <a:ext cx="3515258" cy="484632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Column title reduce · TICER"/>
          <p:cNvSpPr txBox="1"/>
          <p:nvPr/>
        </p:nvSpPr>
        <p:spPr>
          <a:xfrm>
            <a:off x="749808" y="1581912"/>
            <a:ext cx="2103120" cy="320040"/>
          </a:xfrm>
          <a:prstGeom prst="rect">
            <a:avLst/>
          </a:prstGeom>
          <a:noFill/>
        </p:spPr>
        <p:txBody>
          <a:bodyPr wrap="square" lIns="0" rIns="0" tIns="0" bIns="0" anchor="t">
            <a:spAutoFit/>
          </a:bodyPr>
          <a:lstStyle/>
          <a:p>
            <a:pPr algn="l"/>
            <a:r>
              <a:rPr sz="1800" b="1" i="0">
                <a:solidFill>
                  <a:schemeClr val="tx2"/>
                </a:solidFill>
              </a:rPr>
              <a:t>reduce · TICER</a:t>
            </a:r>
          </a:p>
        </p:txBody>
      </p:sp>
      <p:sp>
        <p:nvSpPr>
          <p:cNvPr id="6" name="Chip E-155">
            <a:hlinkClick r:id="rId3"/>
          </p:cNvPr>
          <p:cNvSpPr/>
          <p:nvPr/>
        </p:nvSpPr>
        <p:spPr>
          <a:xfrm>
            <a:off x="2481986" y="1618488"/>
            <a:ext cx="662940" cy="237744"/>
          </a:xfrm>
          <a:prstGeom prst="roundRect">
            <a:avLst>
              <a:gd name="adj" fmla="val 50000"/>
            </a:avLst>
          </a:prstGeom>
          <a:solidFill>
            <a:schemeClr val="accent2">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2">
                    <a:lumMod val="65000"/>
                  </a:schemeClr>
                </a:solidFill>
              </a:rPr>
              <a:t>E-155</a:t>
            </a:r>
          </a:p>
        </p:txBody>
      </p:sp>
      <p:sp>
        <p:nvSpPr>
          <p:cNvPr id="7" name="Chip E-156">
            <a:hlinkClick r:id="rId4"/>
          </p:cNvPr>
          <p:cNvSpPr/>
          <p:nvPr/>
        </p:nvSpPr>
        <p:spPr>
          <a:xfrm>
            <a:off x="3199790" y="1618488"/>
            <a:ext cx="662940" cy="237744"/>
          </a:xfrm>
          <a:prstGeom prst="roundRect">
            <a:avLst>
              <a:gd name="adj" fmla="val 50000"/>
            </a:avLst>
          </a:prstGeom>
          <a:solidFill>
            <a:schemeClr val="accent2">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2">
                    <a:lumMod val="65000"/>
                  </a:schemeClr>
                </a:solidFill>
              </a:rPr>
              <a:t>E-156</a:t>
            </a:r>
          </a:p>
        </p:txBody>
      </p:sp>
      <p:sp>
        <p:nvSpPr>
          <p:cNvPr id="8" name="Column text reduce · TICER"/>
          <p:cNvSpPr txBox="1"/>
          <p:nvPr/>
        </p:nvSpPr>
        <p:spPr>
          <a:xfrm>
            <a:off x="749808" y="2057400"/>
            <a:ext cx="3112922" cy="914400"/>
          </a:xfrm>
          <a:prstGeom prst="rect">
            <a:avLst/>
          </a:prstGeom>
          <a:noFill/>
        </p:spPr>
        <p:txBody>
          <a:bodyPr wrap="square" lIns="0" rIns="0" tIns="0" bIns="0" anchor="t">
            <a:spAutoFit/>
          </a:bodyPr>
          <a:lstStyle/>
          <a:p>
            <a:pPr algn="l"/>
            <a:r>
              <a:rPr sz="1400" b="0" i="0">
                <a:solidFill>
                  <a:schemeClr val="tx1"/>
                </a:solidFill>
              </a:rPr>
              <a:t>Extracted RC networks reduced to small equivalents; the sparse version scales to millions of nodes</a:t>
            </a:r>
          </a:p>
        </p:txBody>
      </p:sp>
      <p:pic>
        <p:nvPicPr>
          <p:cNvPr id="9" name="Plot reduce_ac.png" descr="reduce_ac.png"/>
          <p:cNvPicPr>
            <a:picLocks noChangeAspect="1"/>
          </p:cNvPicPr>
          <p:nvPr/>
        </p:nvPicPr>
        <p:blipFill>
          <a:blip r:embed="rId5"/>
          <a:stretch>
            <a:fillRect/>
          </a:stretch>
        </p:blipFill>
        <p:spPr>
          <a:xfrm>
            <a:off x="749808" y="2971800"/>
            <a:ext cx="3112922" cy="1720299"/>
          </a:xfrm>
          <a:prstGeom prst="rect">
            <a:avLst/>
          </a:prstGeom>
          <a:ln w="9525">
            <a:solidFill>
              <a:schemeClr val="bg2">
                <a:lumMod val="90000"/>
              </a:schemeClr>
            </a:solidFill>
          </a:ln>
        </p:spPr>
      </p:pic>
      <p:sp>
        <p:nvSpPr>
          <p:cNvPr id="10" name="Caption reduce_ac.png"/>
          <p:cNvSpPr txBox="1"/>
          <p:nvPr/>
        </p:nvSpPr>
        <p:spPr>
          <a:xfrm>
            <a:off x="749808" y="4783539"/>
            <a:ext cx="3112922" cy="502920"/>
          </a:xfrm>
          <a:prstGeom prst="rect">
            <a:avLst/>
          </a:prstGeom>
          <a:noFill/>
        </p:spPr>
        <p:txBody>
          <a:bodyPr wrap="square" lIns="0" rIns="0" tIns="0" bIns="0" anchor="t">
            <a:spAutoFit/>
          </a:bodyPr>
          <a:lstStyle/>
          <a:p>
            <a:pPr algn="l"/>
            <a:r>
              <a:rPr sz="1100" b="0" i="1">
                <a:solidFill>
                  <a:schemeClr val="accent3"/>
                </a:solidFill>
              </a:rPr>
              <a:t>A 25-node network and its 3- and 6-node reductions agree in band</a:t>
            </a:r>
          </a:p>
        </p:txBody>
      </p:sp>
      <p:sp>
        <p:nvSpPr>
          <p:cNvPr id="11" name="Command reduce · TICER"/>
          <p:cNvSpPr/>
          <p:nvPr/>
        </p:nvSpPr>
        <p:spPr>
          <a:xfrm>
            <a:off x="749808" y="5394959"/>
            <a:ext cx="3112922" cy="685800"/>
          </a:xfrm>
          <a:prstGeom prst="roundRect">
            <a:avLst>
              <a:gd name="adj" fmla="val 8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Command text reduce · TICER"/>
          <p:cNvSpPr txBox="1"/>
          <p:nvPr/>
        </p:nvSpPr>
        <p:spPr>
          <a:xfrm>
            <a:off x="886968" y="5477255"/>
            <a:ext cx="2838602" cy="548640"/>
          </a:xfrm>
          <a:prstGeom prst="rect">
            <a:avLst/>
          </a:prstGeom>
          <a:noFill/>
        </p:spPr>
        <p:txBody>
          <a:bodyPr wrap="square" lIns="0" rIns="0" tIns="0" bIns="0" anchor="t">
            <a:spAutoFit/>
          </a:bodyPr>
          <a:lstStyle/>
          <a:p>
            <a:pPr algn="l">
              <a:lnSpc>
                <a:spcPct val="100000"/>
              </a:lnSpc>
            </a:pPr>
            <a:r>
              <a:rPr sz="1100" b="0" i="0">
                <a:solidFill>
                  <a:schemeClr val="bg1"/>
                </a:solidFill>
                <a:latin typeface="Courier New"/>
              </a:rPr>
              <a:t>reduce &lt;fmax&gt; [factor &lt;f&gt;]</a:t>
            </a:r>
          </a:p>
          <a:p>
            <a:pPr algn="l">
              <a:lnSpc>
                <a:spcPct val="100000"/>
              </a:lnSpc>
            </a:pPr>
            <a:r>
              <a:rPr sz="1100" b="0" i="0">
                <a:solidFill>
                  <a:schemeClr val="bg1"/>
                </a:solidFill>
                <a:latin typeface="Courier New"/>
              </a:rPr>
              <a:t>  [keep &lt;node&gt; ...]</a:t>
            </a:r>
          </a:p>
        </p:txBody>
      </p:sp>
      <p:sp>
        <p:nvSpPr>
          <p:cNvPr id="13" name="Column aging"/>
          <p:cNvSpPr/>
          <p:nvPr/>
        </p:nvSpPr>
        <p:spPr>
          <a:xfrm>
            <a:off x="4338218" y="1417320"/>
            <a:ext cx="3515258" cy="484632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Column title aging"/>
          <p:cNvSpPr txBox="1"/>
          <p:nvPr/>
        </p:nvSpPr>
        <p:spPr>
          <a:xfrm>
            <a:off x="4539386" y="1581912"/>
            <a:ext cx="2103120" cy="320040"/>
          </a:xfrm>
          <a:prstGeom prst="rect">
            <a:avLst/>
          </a:prstGeom>
          <a:noFill/>
        </p:spPr>
        <p:txBody>
          <a:bodyPr wrap="square" lIns="0" rIns="0" tIns="0" bIns="0" anchor="t">
            <a:spAutoFit/>
          </a:bodyPr>
          <a:lstStyle/>
          <a:p>
            <a:pPr algn="l"/>
            <a:r>
              <a:rPr sz="1800" b="1" i="0">
                <a:solidFill>
                  <a:schemeClr val="tx2"/>
                </a:solidFill>
              </a:rPr>
              <a:t>aging</a:t>
            </a:r>
          </a:p>
        </p:txBody>
      </p:sp>
      <p:sp>
        <p:nvSpPr>
          <p:cNvPr id="15" name="Chip E-157">
            <a:hlinkClick r:id="rId6"/>
          </p:cNvPr>
          <p:cNvSpPr/>
          <p:nvPr/>
        </p:nvSpPr>
        <p:spPr>
          <a:xfrm>
            <a:off x="6989368" y="1618488"/>
            <a:ext cx="662940" cy="237744"/>
          </a:xfrm>
          <a:prstGeom prst="roundRect">
            <a:avLst>
              <a:gd name="adj" fmla="val 50000"/>
            </a:avLst>
          </a:prstGeom>
          <a:solidFill>
            <a:schemeClr val="accent2">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2">
                    <a:lumMod val="65000"/>
                  </a:schemeClr>
                </a:solidFill>
              </a:rPr>
              <a:t>E-157</a:t>
            </a:r>
          </a:p>
        </p:txBody>
      </p:sp>
      <p:sp>
        <p:nvSpPr>
          <p:cNvPr id="16" name="Column text aging"/>
          <p:cNvSpPr txBox="1"/>
          <p:nvPr/>
        </p:nvSpPr>
        <p:spPr>
          <a:xfrm>
            <a:off x="4539386" y="2057400"/>
            <a:ext cx="3112922" cy="914400"/>
          </a:xfrm>
          <a:prstGeom prst="rect">
            <a:avLst/>
          </a:prstGeom>
          <a:noFill/>
        </p:spPr>
        <p:txBody>
          <a:bodyPr wrap="square" lIns="0" rIns="0" tIns="0" bIns="0" anchor="t">
            <a:spAutoFit/>
          </a:bodyPr>
          <a:lstStyle/>
          <a:p>
            <a:pPr algn="l"/>
            <a:r>
              <a:rPr sz="1400" b="0" i="0">
                <a:solidFill>
                  <a:schemeClr val="tx1"/>
                </a:solidFill>
              </a:rPr>
              <a:t>Stress, degrade, re-simulate: HCI, NBTI and TDDB aging to a target lifetime</a:t>
            </a:r>
          </a:p>
        </p:txBody>
      </p:sp>
      <p:pic>
        <p:nvPicPr>
          <p:cNvPr id="17" name="Plot aging_iv.png" descr="aging_iv.png"/>
          <p:cNvPicPr>
            <a:picLocks noChangeAspect="1"/>
          </p:cNvPicPr>
          <p:nvPr/>
        </p:nvPicPr>
        <p:blipFill>
          <a:blip r:embed="rId7"/>
          <a:stretch>
            <a:fillRect/>
          </a:stretch>
        </p:blipFill>
        <p:spPr>
          <a:xfrm>
            <a:off x="4539386" y="2971800"/>
            <a:ext cx="3112922" cy="1216869"/>
          </a:xfrm>
          <a:prstGeom prst="rect">
            <a:avLst/>
          </a:prstGeom>
          <a:ln w="9525">
            <a:solidFill>
              <a:schemeClr val="bg2">
                <a:lumMod val="90000"/>
              </a:schemeClr>
            </a:solidFill>
          </a:ln>
        </p:spPr>
      </p:pic>
      <p:sp>
        <p:nvSpPr>
          <p:cNvPr id="18" name="Caption aging_iv.png"/>
          <p:cNvSpPr txBox="1"/>
          <p:nvPr/>
        </p:nvSpPr>
        <p:spPr>
          <a:xfrm>
            <a:off x="4539386" y="4280109"/>
            <a:ext cx="3112922" cy="502920"/>
          </a:xfrm>
          <a:prstGeom prst="rect">
            <a:avLst/>
          </a:prstGeom>
          <a:noFill/>
        </p:spPr>
        <p:txBody>
          <a:bodyPr wrap="square" lIns="0" rIns="0" tIns="0" bIns="0" anchor="t">
            <a:spAutoFit/>
          </a:bodyPr>
          <a:lstStyle/>
          <a:p>
            <a:pPr algn="l"/>
            <a:r>
              <a:rPr sz="1100" b="0" i="1">
                <a:solidFill>
                  <a:schemeClr val="accent3"/>
                </a:solidFill>
              </a:rPr>
              <a:t>NBTI shifts the transfer curve over 40 years; ΔVth ∝ t^0.25</a:t>
            </a:r>
          </a:p>
        </p:txBody>
      </p:sp>
      <p:sp>
        <p:nvSpPr>
          <p:cNvPr id="19" name="Command aging"/>
          <p:cNvSpPr/>
          <p:nvPr/>
        </p:nvSpPr>
        <p:spPr>
          <a:xfrm>
            <a:off x="4539386" y="5394959"/>
            <a:ext cx="3112922" cy="685800"/>
          </a:xfrm>
          <a:prstGeom prst="roundRect">
            <a:avLst>
              <a:gd name="adj" fmla="val 8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Command text aging"/>
          <p:cNvSpPr txBox="1"/>
          <p:nvPr/>
        </p:nvSpPr>
        <p:spPr>
          <a:xfrm>
            <a:off x="4676546" y="5477255"/>
            <a:ext cx="2838602" cy="548640"/>
          </a:xfrm>
          <a:prstGeom prst="rect">
            <a:avLst/>
          </a:prstGeom>
          <a:noFill/>
        </p:spPr>
        <p:txBody>
          <a:bodyPr wrap="square" lIns="0" rIns="0" tIns="0" bIns="0" anchor="t">
            <a:spAutoFit/>
          </a:bodyPr>
          <a:lstStyle/>
          <a:p>
            <a:pPr algn="l">
              <a:lnSpc>
                <a:spcPct val="100000"/>
              </a:lnSpc>
            </a:pPr>
            <a:r>
              <a:rPr sz="1100" b="0" i="0">
                <a:solidFill>
                  <a:schemeClr val="bg1"/>
                </a:solidFill>
                <a:latin typeface="Courier New"/>
              </a:rPr>
              <a:t>aging &lt;t_target&gt; [rate &lt;opvar&gt;]</a:t>
            </a:r>
          </a:p>
          <a:p>
            <a:pPr algn="l">
              <a:lnSpc>
                <a:spcPct val="100000"/>
              </a:lnSpc>
            </a:pPr>
            <a:r>
              <a:rPr sz="1100" b="0" i="0">
                <a:solidFill>
                  <a:schemeClr val="bg1"/>
                </a:solidFill>
                <a:latin typeface="Courier New"/>
              </a:rPr>
              <a:t>  [dynamic &lt;tstop&gt;]</a:t>
            </a:r>
          </a:p>
        </p:txBody>
      </p:sp>
      <p:sp>
        <p:nvSpPr>
          <p:cNvPr id="21" name="Column emir"/>
          <p:cNvSpPr/>
          <p:nvPr/>
        </p:nvSpPr>
        <p:spPr>
          <a:xfrm>
            <a:off x="8127796" y="1417320"/>
            <a:ext cx="3515258" cy="484632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Column title emir"/>
          <p:cNvSpPr txBox="1"/>
          <p:nvPr/>
        </p:nvSpPr>
        <p:spPr>
          <a:xfrm>
            <a:off x="8328964" y="1581912"/>
            <a:ext cx="2103120" cy="320040"/>
          </a:xfrm>
          <a:prstGeom prst="rect">
            <a:avLst/>
          </a:prstGeom>
          <a:noFill/>
        </p:spPr>
        <p:txBody>
          <a:bodyPr wrap="square" lIns="0" rIns="0" tIns="0" bIns="0" anchor="t">
            <a:spAutoFit/>
          </a:bodyPr>
          <a:lstStyle/>
          <a:p>
            <a:pPr algn="l"/>
            <a:r>
              <a:rPr sz="1800" b="1" i="0">
                <a:solidFill>
                  <a:schemeClr val="tx2"/>
                </a:solidFill>
              </a:rPr>
              <a:t>emir</a:t>
            </a:r>
          </a:p>
        </p:txBody>
      </p:sp>
      <p:sp>
        <p:nvSpPr>
          <p:cNvPr id="23" name="Chip E-158">
            <a:hlinkClick r:id="rId8"/>
          </p:cNvPr>
          <p:cNvSpPr/>
          <p:nvPr/>
        </p:nvSpPr>
        <p:spPr>
          <a:xfrm>
            <a:off x="10778947" y="1618488"/>
            <a:ext cx="662940" cy="237744"/>
          </a:xfrm>
          <a:prstGeom prst="roundRect">
            <a:avLst>
              <a:gd name="adj" fmla="val 50000"/>
            </a:avLst>
          </a:prstGeom>
          <a:solidFill>
            <a:schemeClr val="accent2">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2">
                    <a:lumMod val="65000"/>
                  </a:schemeClr>
                </a:solidFill>
              </a:rPr>
              <a:t>E-158</a:t>
            </a:r>
          </a:p>
        </p:txBody>
      </p:sp>
      <p:sp>
        <p:nvSpPr>
          <p:cNvPr id="24" name="Column text emir"/>
          <p:cNvSpPr txBox="1"/>
          <p:nvPr/>
        </p:nvSpPr>
        <p:spPr>
          <a:xfrm>
            <a:off x="8328964" y="2057400"/>
            <a:ext cx="3112922" cy="914400"/>
          </a:xfrm>
          <a:prstGeom prst="rect">
            <a:avLst/>
          </a:prstGeom>
          <a:noFill/>
        </p:spPr>
        <p:txBody>
          <a:bodyPr wrap="square" lIns="0" rIns="0" tIns="0" bIns="0" anchor="t">
            <a:spAutoFit/>
          </a:bodyPr>
          <a:lstStyle/>
          <a:p>
            <a:pPr algn="l"/>
            <a:r>
              <a:rPr sz="1400" b="0" i="0">
                <a:solidFill>
                  <a:schemeClr val="tx1"/>
                </a:solidFill>
              </a:rPr>
              <a:t>Power-grid IR drop and electromigration sign-off on the rail's segments</a:t>
            </a:r>
          </a:p>
        </p:txBody>
      </p:sp>
      <p:pic>
        <p:nvPicPr>
          <p:cNvPr id="25" name="Plot emir_grid.png" descr="emir_grid.png"/>
          <p:cNvPicPr>
            <a:picLocks noChangeAspect="1"/>
          </p:cNvPicPr>
          <p:nvPr/>
        </p:nvPicPr>
        <p:blipFill>
          <a:blip r:embed="rId9"/>
          <a:stretch>
            <a:fillRect/>
          </a:stretch>
        </p:blipFill>
        <p:spPr>
          <a:xfrm>
            <a:off x="8328964" y="2971800"/>
            <a:ext cx="3112922" cy="1216869"/>
          </a:xfrm>
          <a:prstGeom prst="rect">
            <a:avLst/>
          </a:prstGeom>
          <a:ln w="9525">
            <a:solidFill>
              <a:schemeClr val="bg2">
                <a:lumMod val="90000"/>
              </a:schemeClr>
            </a:solidFill>
          </a:ln>
        </p:spPr>
      </p:pic>
      <p:sp>
        <p:nvSpPr>
          <p:cNvPr id="26" name="Caption emir_grid.png"/>
          <p:cNvSpPr txBox="1"/>
          <p:nvPr/>
        </p:nvSpPr>
        <p:spPr>
          <a:xfrm>
            <a:off x="8328964" y="4280109"/>
            <a:ext cx="3112922" cy="502920"/>
          </a:xfrm>
          <a:prstGeom prst="rect">
            <a:avLst/>
          </a:prstGeom>
          <a:noFill/>
        </p:spPr>
        <p:txBody>
          <a:bodyPr wrap="square" lIns="0" rIns="0" tIns="0" bIns="0" anchor="t">
            <a:spAutoFit/>
          </a:bodyPr>
          <a:lstStyle/>
          <a:p>
            <a:pPr algn="l"/>
            <a:r>
              <a:rPr sz="1100" b="0" i="1">
                <a:solidFill>
                  <a:schemeClr val="accent3"/>
                </a:solidFill>
              </a:rPr>
              <a:t>The rail sags to 0.780 V at the far tap; current density sets EM risk</a:t>
            </a:r>
          </a:p>
        </p:txBody>
      </p:sp>
      <p:sp>
        <p:nvSpPr>
          <p:cNvPr id="27" name="Command emir"/>
          <p:cNvSpPr/>
          <p:nvPr/>
        </p:nvSpPr>
        <p:spPr>
          <a:xfrm>
            <a:off x="8328964" y="5394959"/>
            <a:ext cx="3112922" cy="685800"/>
          </a:xfrm>
          <a:prstGeom prst="roundRect">
            <a:avLst>
              <a:gd name="adj" fmla="val 8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Command text emir"/>
          <p:cNvSpPr txBox="1"/>
          <p:nvPr/>
        </p:nvSpPr>
        <p:spPr>
          <a:xfrm>
            <a:off x="8466124" y="5477255"/>
            <a:ext cx="2838602" cy="548640"/>
          </a:xfrm>
          <a:prstGeom prst="rect">
            <a:avLst/>
          </a:prstGeom>
          <a:noFill/>
        </p:spPr>
        <p:txBody>
          <a:bodyPr wrap="square" lIns="0" rIns="0" tIns="0" bIns="0" anchor="t">
            <a:spAutoFit/>
          </a:bodyPr>
          <a:lstStyle/>
          <a:p>
            <a:pPr algn="l">
              <a:lnSpc>
                <a:spcPct val="100000"/>
              </a:lnSpc>
            </a:pPr>
            <a:r>
              <a:rPr sz="1100" b="0" i="0">
                <a:solidFill>
                  <a:schemeClr val="bg1"/>
                </a:solidFill>
                <a:latin typeface="Courier New"/>
              </a:rPr>
              <a:t>emir [rail &lt;V&gt;] [jmax &lt;A/m2&gt;]</a:t>
            </a:r>
          </a:p>
          <a:p>
            <a:pPr algn="l">
              <a:lnSpc>
                <a:spcPct val="100000"/>
              </a:lnSpc>
            </a:pPr>
            <a:r>
              <a:rPr sz="1100" b="0" i="0">
                <a:solidFill>
                  <a:schemeClr val="bg1"/>
                </a:solidFill>
                <a:latin typeface="Courier New"/>
              </a:rPr>
              <a:t>  [top &lt;k&gt;]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Workflow and usability</a:t>
            </a:r>
          </a:p>
        </p:txBody>
      </p:sp>
      <p:sp>
        <p:nvSpPr>
          <p:cNvPr id="3" name="Kicker"/>
          <p:cNvSpPr txBox="1"/>
          <p:nvPr/>
        </p:nvSpPr>
        <p:spPr>
          <a:xfrm>
            <a:off x="548640" y="274320"/>
            <a:ext cx="11094415" cy="274320"/>
          </a:xfrm>
          <a:prstGeom prst="rect">
            <a:avLst/>
          </a:prstGeom>
          <a:noFill/>
        </p:spPr>
        <p:txBody>
          <a:bodyPr wrap="square" lIns="0" rIns="0" tIns="0" bIns="0" anchor="t">
            <a:spAutoFit/>
          </a:bodyPr>
          <a:lstStyle/>
          <a:p>
            <a:pPr algn="l"/>
            <a:r>
              <a:rPr sz="1100" b="1" i="0" spc="120">
                <a:solidFill>
                  <a:schemeClr val="accent2">
                    <a:lumMod val="75000"/>
                  </a:schemeClr>
                </a:solidFill>
              </a:rPr>
              <a:t>SIMULATOR · 91 ENHANCEMENTS</a:t>
            </a:r>
          </a:p>
        </p:txBody>
      </p:sp>
      <p:sp>
        <p:nvSpPr>
          <p:cNvPr id="4" name="Card Checkpoint &amp; restart"/>
          <p:cNvSpPr/>
          <p:nvPr/>
        </p:nvSpPr>
        <p:spPr>
          <a:xfrm>
            <a:off x="548640" y="1417320"/>
            <a:ext cx="3360420" cy="1493519"/>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Card title Checkpoint &amp; restart"/>
          <p:cNvSpPr txBox="1"/>
          <p:nvPr/>
        </p:nvSpPr>
        <p:spPr>
          <a:xfrm>
            <a:off x="713232" y="1536192"/>
            <a:ext cx="3031236" cy="292608"/>
          </a:xfrm>
          <a:prstGeom prst="rect">
            <a:avLst/>
          </a:prstGeom>
          <a:noFill/>
        </p:spPr>
        <p:txBody>
          <a:bodyPr wrap="square" lIns="0" rIns="0" tIns="0" bIns="0" anchor="ctr">
            <a:spAutoFit/>
          </a:bodyPr>
          <a:lstStyle/>
          <a:p>
            <a:pPr algn="l"/>
            <a:r>
              <a:rPr sz="1500" b="1" i="0">
                <a:solidFill>
                  <a:schemeClr val="tx2"/>
                </a:solidFill>
              </a:rPr>
              <a:t>Checkpoint &amp; restart</a:t>
            </a:r>
          </a:p>
        </p:txBody>
      </p:sp>
      <p:sp>
        <p:nvSpPr>
          <p:cNvPr id="6" name="Card body Checkpoint &amp; restart"/>
          <p:cNvSpPr txBox="1"/>
          <p:nvPr/>
        </p:nvSpPr>
        <p:spPr>
          <a:xfrm>
            <a:off x="713232" y="1874519"/>
            <a:ext cx="3031236" cy="652271"/>
          </a:xfrm>
          <a:prstGeom prst="rect">
            <a:avLst/>
          </a:prstGeom>
          <a:noFill/>
        </p:spPr>
        <p:txBody>
          <a:bodyPr wrap="square" lIns="0" rIns="0" tIns="0" bIns="0" anchor="t">
            <a:spAutoFit/>
          </a:bodyPr>
          <a:lstStyle/>
          <a:p>
            <a:pPr algn="l"/>
            <a:r>
              <a:rPr sz="1400" b="0" i="0">
                <a:solidFill>
                  <a:schemeClr val="tx1"/>
                </a:solidFill>
              </a:rPr>
              <a:t>savestate and loadstate resume a transient in a new process; autosave on Ctrl-C</a:t>
            </a:r>
          </a:p>
        </p:txBody>
      </p:sp>
      <p:sp>
        <p:nvSpPr>
          <p:cNvPr id="7" name="Chip E-131">
            <a:hlinkClick r:id="rId3"/>
          </p:cNvPr>
          <p:cNvSpPr/>
          <p:nvPr/>
        </p:nvSpPr>
        <p:spPr>
          <a:xfrm>
            <a:off x="713232" y="2581656"/>
            <a:ext cx="662940" cy="219456"/>
          </a:xfrm>
          <a:prstGeom prst="roundRect">
            <a:avLst>
              <a:gd name="adj" fmla="val 50000"/>
            </a:avLst>
          </a:prstGeom>
          <a:solidFill>
            <a:schemeClr val="accent2">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2">
                    <a:lumMod val="65000"/>
                  </a:schemeClr>
                </a:solidFill>
              </a:rPr>
              <a:t>E-131</a:t>
            </a:r>
          </a:p>
        </p:txBody>
      </p:sp>
      <p:sp>
        <p:nvSpPr>
          <p:cNvPr id="8" name="Chip E-192">
            <a:hlinkClick r:id="rId4"/>
          </p:cNvPr>
          <p:cNvSpPr/>
          <p:nvPr/>
        </p:nvSpPr>
        <p:spPr>
          <a:xfrm>
            <a:off x="1431036" y="2581656"/>
            <a:ext cx="662940" cy="219456"/>
          </a:xfrm>
          <a:prstGeom prst="roundRect">
            <a:avLst>
              <a:gd name="adj" fmla="val 50000"/>
            </a:avLst>
          </a:prstGeom>
          <a:solidFill>
            <a:schemeClr val="accent2">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2">
                    <a:lumMod val="65000"/>
                  </a:schemeClr>
                </a:solidFill>
              </a:rPr>
              <a:t>E-192</a:t>
            </a:r>
          </a:p>
        </p:txBody>
      </p:sp>
      <p:sp>
        <p:nvSpPr>
          <p:cNvPr id="9" name="Card pyplot"/>
          <p:cNvSpPr/>
          <p:nvPr/>
        </p:nvSpPr>
        <p:spPr>
          <a:xfrm>
            <a:off x="4091939" y="1417320"/>
            <a:ext cx="3360420" cy="1493519"/>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Card title pyplot"/>
          <p:cNvSpPr txBox="1"/>
          <p:nvPr/>
        </p:nvSpPr>
        <p:spPr>
          <a:xfrm>
            <a:off x="4256531" y="1536192"/>
            <a:ext cx="3031236" cy="292608"/>
          </a:xfrm>
          <a:prstGeom prst="rect">
            <a:avLst/>
          </a:prstGeom>
          <a:noFill/>
        </p:spPr>
        <p:txBody>
          <a:bodyPr wrap="square" lIns="0" rIns="0" tIns="0" bIns="0" anchor="ctr">
            <a:spAutoFit/>
          </a:bodyPr>
          <a:lstStyle/>
          <a:p>
            <a:pPr algn="l"/>
            <a:r>
              <a:rPr sz="1500" b="1" i="0">
                <a:solidFill>
                  <a:schemeClr val="tx2"/>
                </a:solidFill>
              </a:rPr>
              <a:t>pyplot</a:t>
            </a:r>
          </a:p>
        </p:txBody>
      </p:sp>
      <p:sp>
        <p:nvSpPr>
          <p:cNvPr id="11" name="Card body pyplot"/>
          <p:cNvSpPr txBox="1"/>
          <p:nvPr/>
        </p:nvSpPr>
        <p:spPr>
          <a:xfrm>
            <a:off x="4256531" y="1874519"/>
            <a:ext cx="3031236" cy="652271"/>
          </a:xfrm>
          <a:prstGeom prst="rect">
            <a:avLst/>
          </a:prstGeom>
          <a:noFill/>
        </p:spPr>
        <p:txBody>
          <a:bodyPr wrap="square" lIns="0" rIns="0" tIns="0" bIns="0" anchor="t">
            <a:spAutoFit/>
          </a:bodyPr>
          <a:lstStyle/>
          <a:p>
            <a:pPr algn="l"/>
            <a:r>
              <a:rPr sz="1400" b="0" i="0">
                <a:solidFill>
                  <a:schemeClr val="tx1"/>
                </a:solidFill>
              </a:rPr>
              <a:t>matplotlib from the prompt: subplots, bode, smith, eye, hist, contour, fft</a:t>
            </a:r>
          </a:p>
        </p:txBody>
      </p:sp>
      <p:sp>
        <p:nvSpPr>
          <p:cNvPr id="12" name="Chip E-94">
            <a:hlinkClick r:id="rId5"/>
          </p:cNvPr>
          <p:cNvSpPr/>
          <p:nvPr/>
        </p:nvSpPr>
        <p:spPr>
          <a:xfrm>
            <a:off x="4256531" y="2581656"/>
            <a:ext cx="594360" cy="219456"/>
          </a:xfrm>
          <a:prstGeom prst="roundRect">
            <a:avLst>
              <a:gd name="adj" fmla="val 50000"/>
            </a:avLst>
          </a:prstGeom>
          <a:solidFill>
            <a:schemeClr val="accent2">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2">
                    <a:lumMod val="65000"/>
                  </a:schemeClr>
                </a:solidFill>
              </a:rPr>
              <a:t>E-94</a:t>
            </a:r>
          </a:p>
        </p:txBody>
      </p:sp>
      <p:sp>
        <p:nvSpPr>
          <p:cNvPr id="13" name="Chip E-298">
            <a:hlinkClick r:id="rId6"/>
          </p:cNvPr>
          <p:cNvSpPr/>
          <p:nvPr/>
        </p:nvSpPr>
        <p:spPr>
          <a:xfrm>
            <a:off x="4905755" y="2581656"/>
            <a:ext cx="662940" cy="219456"/>
          </a:xfrm>
          <a:prstGeom prst="roundRect">
            <a:avLst>
              <a:gd name="adj" fmla="val 50000"/>
            </a:avLst>
          </a:prstGeom>
          <a:solidFill>
            <a:schemeClr val="accent2">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2">
                    <a:lumMod val="65000"/>
                  </a:schemeClr>
                </a:solidFill>
              </a:rPr>
              <a:t>E-298</a:t>
            </a:r>
          </a:p>
        </p:txBody>
      </p:sp>
      <p:sp>
        <p:nvSpPr>
          <p:cNvPr id="14" name="Card Control language"/>
          <p:cNvSpPr/>
          <p:nvPr/>
        </p:nvSpPr>
        <p:spPr>
          <a:xfrm>
            <a:off x="548640" y="3093719"/>
            <a:ext cx="3360420" cy="1493519"/>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Card title Control language"/>
          <p:cNvSpPr txBox="1"/>
          <p:nvPr/>
        </p:nvSpPr>
        <p:spPr>
          <a:xfrm>
            <a:off x="713232" y="3212591"/>
            <a:ext cx="3031236" cy="292608"/>
          </a:xfrm>
          <a:prstGeom prst="rect">
            <a:avLst/>
          </a:prstGeom>
          <a:noFill/>
        </p:spPr>
        <p:txBody>
          <a:bodyPr wrap="square" lIns="0" rIns="0" tIns="0" bIns="0" anchor="ctr">
            <a:spAutoFit/>
          </a:bodyPr>
          <a:lstStyle/>
          <a:p>
            <a:pPr algn="l"/>
            <a:r>
              <a:rPr sz="1500" b="1" i="0">
                <a:solidFill>
                  <a:schemeClr val="tx2"/>
                </a:solidFill>
              </a:rPr>
              <a:t>Control language</a:t>
            </a:r>
          </a:p>
        </p:txBody>
      </p:sp>
      <p:sp>
        <p:nvSpPr>
          <p:cNvPr id="16" name="Card body Control language"/>
          <p:cNvSpPr txBox="1"/>
          <p:nvPr/>
        </p:nvSpPr>
        <p:spPr>
          <a:xfrm>
            <a:off x="713232" y="3550919"/>
            <a:ext cx="3031236" cy="652271"/>
          </a:xfrm>
          <a:prstGeom prst="rect">
            <a:avLst/>
          </a:prstGeom>
          <a:noFill/>
        </p:spPr>
        <p:txBody>
          <a:bodyPr wrap="square" lIns="0" rIns="0" tIns="0" bIns="0" anchor="t">
            <a:spAutoFit/>
          </a:bodyPr>
          <a:lstStyle/>
          <a:p>
            <a:pPr algn="l"/>
            <a:r>
              <a:rPr sz="1400" b="0" i="0">
                <a:solidFill>
                  <a:schemeClr val="tx1"/>
                </a:solidFill>
              </a:rPr>
              <a:t>Raw strings, f-strings; help all and a full help optimize</a:t>
            </a:r>
          </a:p>
        </p:txBody>
      </p:sp>
      <p:sp>
        <p:nvSpPr>
          <p:cNvPr id="17" name="Chip E-553">
            <a:hlinkClick r:id="rId7"/>
          </p:cNvPr>
          <p:cNvSpPr/>
          <p:nvPr/>
        </p:nvSpPr>
        <p:spPr>
          <a:xfrm>
            <a:off x="713232" y="4258055"/>
            <a:ext cx="662940" cy="219456"/>
          </a:xfrm>
          <a:prstGeom prst="roundRect">
            <a:avLst>
              <a:gd name="adj" fmla="val 50000"/>
            </a:avLst>
          </a:prstGeom>
          <a:solidFill>
            <a:schemeClr val="accent2">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2">
                    <a:lumMod val="65000"/>
                  </a:schemeClr>
                </a:solidFill>
              </a:rPr>
              <a:t>E-553</a:t>
            </a:r>
          </a:p>
        </p:txBody>
      </p:sp>
      <p:sp>
        <p:nvSpPr>
          <p:cNvPr id="18" name="Chip E-753">
            <a:hlinkClick r:id="rId8"/>
          </p:cNvPr>
          <p:cNvSpPr/>
          <p:nvPr/>
        </p:nvSpPr>
        <p:spPr>
          <a:xfrm>
            <a:off x="1431036" y="4258055"/>
            <a:ext cx="662940" cy="219456"/>
          </a:xfrm>
          <a:prstGeom prst="roundRect">
            <a:avLst>
              <a:gd name="adj" fmla="val 50000"/>
            </a:avLst>
          </a:prstGeom>
          <a:solidFill>
            <a:schemeClr val="accent2">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2">
                    <a:lumMod val="65000"/>
                  </a:schemeClr>
                </a:solidFill>
              </a:rPr>
              <a:t>E-753</a:t>
            </a:r>
          </a:p>
        </p:txBody>
      </p:sp>
      <p:sp>
        <p:nvSpPr>
          <p:cNvPr id="19" name="Card Large decks"/>
          <p:cNvSpPr/>
          <p:nvPr/>
        </p:nvSpPr>
        <p:spPr>
          <a:xfrm>
            <a:off x="4091939" y="3093719"/>
            <a:ext cx="3360420" cy="1493519"/>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Card title Large decks"/>
          <p:cNvSpPr txBox="1"/>
          <p:nvPr/>
        </p:nvSpPr>
        <p:spPr>
          <a:xfrm>
            <a:off x="4256531" y="3212591"/>
            <a:ext cx="3031236" cy="292608"/>
          </a:xfrm>
          <a:prstGeom prst="rect">
            <a:avLst/>
          </a:prstGeom>
          <a:noFill/>
        </p:spPr>
        <p:txBody>
          <a:bodyPr wrap="square" lIns="0" rIns="0" tIns="0" bIns="0" anchor="ctr">
            <a:spAutoFit/>
          </a:bodyPr>
          <a:lstStyle/>
          <a:p>
            <a:pPr algn="l"/>
            <a:r>
              <a:rPr sz="1500" b="1" i="0">
                <a:solidFill>
                  <a:schemeClr val="tx2"/>
                </a:solidFill>
              </a:rPr>
              <a:t>Large decks</a:t>
            </a:r>
          </a:p>
        </p:txBody>
      </p:sp>
      <p:sp>
        <p:nvSpPr>
          <p:cNvPr id="21" name="Card body Large decks"/>
          <p:cNvSpPr txBox="1"/>
          <p:nvPr/>
        </p:nvSpPr>
        <p:spPr>
          <a:xfrm>
            <a:off x="4256531" y="3550919"/>
            <a:ext cx="3031236" cy="652271"/>
          </a:xfrm>
          <a:prstGeom prst="rect">
            <a:avLst/>
          </a:prstGeom>
          <a:noFill/>
        </p:spPr>
        <p:txBody>
          <a:bodyPr wrap="square" lIns="0" rIns="0" tIns="0" bIns="0" anchor="t">
            <a:spAutoFit/>
          </a:bodyPr>
          <a:lstStyle/>
          <a:p>
            <a:pPr algn="l"/>
            <a:r>
              <a:rPr sz="1400" b="0" i="0">
                <a:solidFill>
                  <a:schemeClr val="tx1"/>
                </a:solidFill>
              </a:rPr>
              <a:t>.option saveused keeps only what is read; autobus, autoadapt wire buses</a:t>
            </a:r>
          </a:p>
        </p:txBody>
      </p:sp>
      <p:sp>
        <p:nvSpPr>
          <p:cNvPr id="22" name="Chip E-469">
            <a:hlinkClick r:id="rId9"/>
          </p:cNvPr>
          <p:cNvSpPr/>
          <p:nvPr/>
        </p:nvSpPr>
        <p:spPr>
          <a:xfrm>
            <a:off x="4256531" y="4258055"/>
            <a:ext cx="662940" cy="219456"/>
          </a:xfrm>
          <a:prstGeom prst="roundRect">
            <a:avLst>
              <a:gd name="adj" fmla="val 50000"/>
            </a:avLst>
          </a:prstGeom>
          <a:solidFill>
            <a:schemeClr val="accent2">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2">
                    <a:lumMod val="65000"/>
                  </a:schemeClr>
                </a:solidFill>
              </a:rPr>
              <a:t>E-469</a:t>
            </a:r>
          </a:p>
        </p:txBody>
      </p:sp>
      <p:sp>
        <p:nvSpPr>
          <p:cNvPr id="23" name="Chip E-444">
            <a:hlinkClick r:id="rId10"/>
          </p:cNvPr>
          <p:cNvSpPr/>
          <p:nvPr/>
        </p:nvSpPr>
        <p:spPr>
          <a:xfrm>
            <a:off x="4974336" y="4258055"/>
            <a:ext cx="662940" cy="219456"/>
          </a:xfrm>
          <a:prstGeom prst="roundRect">
            <a:avLst>
              <a:gd name="adj" fmla="val 50000"/>
            </a:avLst>
          </a:prstGeom>
          <a:solidFill>
            <a:schemeClr val="accent2">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2">
                    <a:lumMod val="65000"/>
                  </a:schemeClr>
                </a:solidFill>
              </a:rPr>
              <a:t>E-444</a:t>
            </a:r>
          </a:p>
        </p:txBody>
      </p:sp>
      <p:sp>
        <p:nvSpPr>
          <p:cNvPr id="24" name="Card Output"/>
          <p:cNvSpPr/>
          <p:nvPr/>
        </p:nvSpPr>
        <p:spPr>
          <a:xfrm>
            <a:off x="548640" y="4770119"/>
            <a:ext cx="3360420" cy="1493519"/>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Card title Output"/>
          <p:cNvSpPr txBox="1"/>
          <p:nvPr/>
        </p:nvSpPr>
        <p:spPr>
          <a:xfrm>
            <a:off x="713232" y="4888991"/>
            <a:ext cx="3031236" cy="292608"/>
          </a:xfrm>
          <a:prstGeom prst="rect">
            <a:avLst/>
          </a:prstGeom>
          <a:noFill/>
        </p:spPr>
        <p:txBody>
          <a:bodyPr wrap="square" lIns="0" rIns="0" tIns="0" bIns="0" anchor="ctr">
            <a:spAutoFit/>
          </a:bodyPr>
          <a:lstStyle/>
          <a:p>
            <a:pPr algn="l"/>
            <a:r>
              <a:rPr sz="1500" b="1" i="0">
                <a:solidFill>
                  <a:schemeClr val="tx2"/>
                </a:solidFill>
              </a:rPr>
              <a:t>Output</a:t>
            </a:r>
          </a:p>
        </p:txBody>
      </p:sp>
      <p:sp>
        <p:nvSpPr>
          <p:cNvPr id="26" name="Card body Output"/>
          <p:cNvSpPr txBox="1"/>
          <p:nvPr/>
        </p:nvSpPr>
        <p:spPr>
          <a:xfrm>
            <a:off x="713232" y="5227319"/>
            <a:ext cx="3031236" cy="652271"/>
          </a:xfrm>
          <a:prstGeom prst="rect">
            <a:avLst/>
          </a:prstGeom>
          <a:noFill/>
        </p:spPr>
        <p:txBody>
          <a:bodyPr wrap="square" lIns="0" rIns="0" tIns="0" bIns="0" anchor="t">
            <a:spAutoFit/>
          </a:bodyPr>
          <a:lstStyle/>
          <a:p>
            <a:pPr algn="l"/>
            <a:r>
              <a:rPr sz="1400" b="0" i="0">
                <a:solidFill>
                  <a:schemeClr val="tx1"/>
                </a:solidFill>
              </a:rPr>
              <a:t>wrdata CSV, clean rawfile round trips, a sweep progress bar</a:t>
            </a:r>
          </a:p>
        </p:txBody>
      </p:sp>
      <p:sp>
        <p:nvSpPr>
          <p:cNvPr id="27" name="Chip E-231">
            <a:hlinkClick r:id="rId11"/>
          </p:cNvPr>
          <p:cNvSpPr/>
          <p:nvPr/>
        </p:nvSpPr>
        <p:spPr>
          <a:xfrm>
            <a:off x="713232" y="5934455"/>
            <a:ext cx="662940" cy="219456"/>
          </a:xfrm>
          <a:prstGeom prst="roundRect">
            <a:avLst>
              <a:gd name="adj" fmla="val 50000"/>
            </a:avLst>
          </a:prstGeom>
          <a:solidFill>
            <a:schemeClr val="accent2">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2">
                    <a:lumMod val="65000"/>
                  </a:schemeClr>
                </a:solidFill>
              </a:rPr>
              <a:t>E-231</a:t>
            </a:r>
          </a:p>
        </p:txBody>
      </p:sp>
      <p:sp>
        <p:nvSpPr>
          <p:cNvPr id="28" name="Chip E-129">
            <a:hlinkClick r:id="rId12"/>
          </p:cNvPr>
          <p:cNvSpPr/>
          <p:nvPr/>
        </p:nvSpPr>
        <p:spPr>
          <a:xfrm>
            <a:off x="1431036" y="5934455"/>
            <a:ext cx="662940" cy="219456"/>
          </a:xfrm>
          <a:prstGeom prst="roundRect">
            <a:avLst>
              <a:gd name="adj" fmla="val 50000"/>
            </a:avLst>
          </a:prstGeom>
          <a:solidFill>
            <a:schemeClr val="accent2">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2">
                    <a:lumMod val="65000"/>
                  </a:schemeClr>
                </a:solidFill>
              </a:rPr>
              <a:t>E-129</a:t>
            </a:r>
          </a:p>
        </p:txBody>
      </p:sp>
      <p:sp>
        <p:nvSpPr>
          <p:cNvPr id="29" name="Card XSPICE"/>
          <p:cNvSpPr/>
          <p:nvPr/>
        </p:nvSpPr>
        <p:spPr>
          <a:xfrm>
            <a:off x="4091939" y="4770119"/>
            <a:ext cx="3360420" cy="1493519"/>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Card title XSPICE"/>
          <p:cNvSpPr txBox="1"/>
          <p:nvPr/>
        </p:nvSpPr>
        <p:spPr>
          <a:xfrm>
            <a:off x="4256531" y="4888991"/>
            <a:ext cx="3031236" cy="292608"/>
          </a:xfrm>
          <a:prstGeom prst="rect">
            <a:avLst/>
          </a:prstGeom>
          <a:noFill/>
        </p:spPr>
        <p:txBody>
          <a:bodyPr wrap="square" lIns="0" rIns="0" tIns="0" bIns="0" anchor="ctr">
            <a:spAutoFit/>
          </a:bodyPr>
          <a:lstStyle/>
          <a:p>
            <a:pPr algn="l"/>
            <a:r>
              <a:rPr sz="1500" b="1" i="0">
                <a:solidFill>
                  <a:schemeClr val="tx2"/>
                </a:solidFill>
              </a:rPr>
              <a:t>XSPICE</a:t>
            </a:r>
          </a:p>
        </p:txBody>
      </p:sp>
      <p:sp>
        <p:nvSpPr>
          <p:cNvPr id="31" name="Card body XSPICE"/>
          <p:cNvSpPr txBox="1"/>
          <p:nvPr/>
        </p:nvSpPr>
        <p:spPr>
          <a:xfrm>
            <a:off x="4256531" y="5227319"/>
            <a:ext cx="3031236" cy="652271"/>
          </a:xfrm>
          <a:prstGeom prst="rect">
            <a:avLst/>
          </a:prstGeom>
          <a:noFill/>
        </p:spPr>
        <p:txBody>
          <a:bodyPr wrap="square" lIns="0" rIns="0" tIns="0" bIns="0" anchor="t">
            <a:spAutoFit/>
          </a:bodyPr>
          <a:lstStyle/>
          <a:p>
            <a:pPr algn="l"/>
            <a:r>
              <a:rPr sz="1400" b="0" i="0">
                <a:solidFill>
                  <a:schemeClr val="tx1"/>
                </a:solidFill>
              </a:rPr>
              <a:t>Code models bundled per platform: gain, summer, oscillators, ADC/DAC bridges</a:t>
            </a:r>
          </a:p>
        </p:txBody>
      </p:sp>
      <p:sp>
        <p:nvSpPr>
          <p:cNvPr id="32" name="Chip E-223">
            <a:hlinkClick r:id="rId13"/>
          </p:cNvPr>
          <p:cNvSpPr/>
          <p:nvPr/>
        </p:nvSpPr>
        <p:spPr>
          <a:xfrm>
            <a:off x="4256531" y="5934455"/>
            <a:ext cx="662940" cy="219456"/>
          </a:xfrm>
          <a:prstGeom prst="roundRect">
            <a:avLst>
              <a:gd name="adj" fmla="val 50000"/>
            </a:avLst>
          </a:prstGeom>
          <a:solidFill>
            <a:schemeClr val="accent2">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2">
                    <a:lumMod val="65000"/>
                  </a:schemeClr>
                </a:solidFill>
              </a:rPr>
              <a:t>E-223</a:t>
            </a:r>
          </a:p>
        </p:txBody>
      </p:sp>
      <p:pic>
        <p:nvPicPr>
          <p:cNvPr id="33" name="Plot syntaxhl.png" descr="syntaxhl.png"/>
          <p:cNvPicPr>
            <a:picLocks noChangeAspect="1"/>
          </p:cNvPicPr>
          <p:nvPr/>
        </p:nvPicPr>
        <p:blipFill>
          <a:blip r:embed="rId14"/>
          <a:stretch>
            <a:fillRect/>
          </a:stretch>
        </p:blipFill>
        <p:spPr>
          <a:xfrm>
            <a:off x="7726679" y="1417320"/>
            <a:ext cx="3913632" cy="2277022"/>
          </a:xfrm>
          <a:prstGeom prst="rect">
            <a:avLst/>
          </a:prstGeom>
          <a:ln w="9525">
            <a:solidFill>
              <a:schemeClr val="bg2">
                <a:lumMod val="90000"/>
              </a:schemeClr>
            </a:solidFill>
          </a:ln>
        </p:spPr>
      </p:pic>
      <p:sp>
        <p:nvSpPr>
          <p:cNvPr id="34" name="Caption syntaxhl.png"/>
          <p:cNvSpPr txBox="1"/>
          <p:nvPr/>
        </p:nvSpPr>
        <p:spPr>
          <a:xfrm>
            <a:off x="7726679" y="3785782"/>
            <a:ext cx="3913632" cy="457200"/>
          </a:xfrm>
          <a:prstGeom prst="rect">
            <a:avLst/>
          </a:prstGeom>
          <a:noFill/>
        </p:spPr>
        <p:txBody>
          <a:bodyPr wrap="square" lIns="0" rIns="0" tIns="0" bIns="0" anchor="t">
            <a:spAutoFit/>
          </a:bodyPr>
          <a:lstStyle/>
          <a:p>
            <a:pPr algn="l"/>
            <a:r>
              <a:rPr sz="1100" b="0" i="1">
                <a:solidFill>
                  <a:schemeClr val="accent3"/>
                </a:solidFill>
              </a:rPr>
              <a:t>Syntax highlighting at the ngspice prompt, re-colored on every keystroke (E-169, E-170)</a:t>
            </a:r>
          </a:p>
        </p:txBody>
      </p:sp>
      <p:sp>
        <p:nvSpPr>
          <p:cNvPr id="35" name="Code panel"/>
          <p:cNvSpPr/>
          <p:nvPr/>
        </p:nvSpPr>
        <p:spPr>
          <a:xfrm>
            <a:off x="7726679" y="4434840"/>
            <a:ext cx="3913632" cy="1828800"/>
          </a:xfrm>
          <a:prstGeom prst="roundRect">
            <a:avLst>
              <a:gd name="adj" fmla="val 4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Code title"/>
          <p:cNvSpPr txBox="1"/>
          <p:nvPr/>
        </p:nvSpPr>
        <p:spPr>
          <a:xfrm>
            <a:off x="7955279" y="4599431"/>
            <a:ext cx="3456432" cy="274320"/>
          </a:xfrm>
          <a:prstGeom prst="rect">
            <a:avLst/>
          </a:prstGeom>
          <a:noFill/>
        </p:spPr>
        <p:txBody>
          <a:bodyPr wrap="square" lIns="0" rIns="0" tIns="0" bIns="0" anchor="t">
            <a:spAutoFit/>
          </a:bodyPr>
          <a:lstStyle/>
          <a:p>
            <a:pPr algn="l"/>
            <a:r>
              <a:rPr sz="1200" b="1" i="0">
                <a:solidFill>
                  <a:schemeClr val="accent6"/>
                </a:solidFill>
              </a:rPr>
              <a:t>A checkpoint and an f-string</a:t>
            </a:r>
          </a:p>
        </p:txBody>
      </p:sp>
      <p:sp>
        <p:nvSpPr>
          <p:cNvPr id="37" name="Code"/>
          <p:cNvSpPr txBox="1"/>
          <p:nvPr/>
        </p:nvSpPr>
        <p:spPr>
          <a:xfrm>
            <a:off x="7955279" y="4965192"/>
            <a:ext cx="3456432" cy="1161288"/>
          </a:xfrm>
          <a:prstGeom prst="rect">
            <a:avLst/>
          </a:prstGeom>
          <a:noFill/>
        </p:spPr>
        <p:txBody>
          <a:bodyPr wrap="square" lIns="0" rIns="0" tIns="0" bIns="0" anchor="t">
            <a:spAutoFit/>
          </a:bodyPr>
          <a:lstStyle/>
          <a:p>
            <a:pPr algn="l">
              <a:lnSpc>
                <a:spcPct val="100000"/>
              </a:lnSpc>
            </a:pPr>
            <a:r>
              <a:rPr sz="1200" b="0" i="0">
                <a:solidFill>
                  <a:schemeClr val="bg1"/>
                </a:solidFill>
                <a:latin typeface="Courier New"/>
              </a:rPr>
              <a:t>run</a:t>
            </a:r>
          </a:p>
          <a:p>
            <a:pPr algn="l">
              <a:lnSpc>
                <a:spcPct val="100000"/>
              </a:lnSpc>
            </a:pPr>
            <a:r>
              <a:rPr sz="1200" b="0" i="0">
                <a:solidFill>
                  <a:schemeClr val="bg1"/>
                </a:solidFill>
                <a:latin typeface="Courier New"/>
              </a:rPr>
              <a:t>savestate run.ckpt</a:t>
            </a:r>
          </a:p>
          <a:p>
            <a:pPr algn="l">
              <a:lnSpc>
                <a:spcPct val="100000"/>
              </a:lnSpc>
            </a:pPr>
            <a:r>
              <a:rPr sz="1200" b="0" i="0">
                <a:solidFill>
                  <a:schemeClr val="bg1"/>
                </a:solidFill>
                <a:latin typeface="Courier New"/>
              </a:rPr>
              <a:t>* later, in a fresh process:</a:t>
            </a:r>
          </a:p>
          <a:p>
            <a:pPr algn="l">
              <a:lnSpc>
                <a:spcPct val="100000"/>
              </a:lnSpc>
            </a:pPr>
            <a:r>
              <a:rPr sz="1200" b="0" i="0">
                <a:solidFill>
                  <a:schemeClr val="bg1"/>
                </a:solidFill>
                <a:latin typeface="Courier New"/>
              </a:rPr>
              <a:t>loadstate run.ckpt</a:t>
            </a:r>
          </a:p>
          <a:p>
            <a:pPr algn="l">
              <a:lnSpc>
                <a:spcPct val="100000"/>
              </a:lnSpc>
            </a:pPr>
            <a:r>
              <a:rPr sz="1200" b="0" i="0">
                <a:solidFill>
                  <a:schemeClr val="bg1"/>
                </a:solidFill>
                <a:latin typeface="Courier New"/>
              </a:rPr>
              <a:t>echo f"fc {mean(fc):.4g} Hz"</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How it is verified</a:t>
            </a:r>
          </a:p>
        </p:txBody>
      </p:sp>
      <p:sp>
        <p:nvSpPr>
          <p:cNvPr id="3" name="Text Placeholder 2"/>
          <p:cNvSpPr>
            <a:spLocks noGrp="1"/>
          </p:cNvSpPr>
          <p:nvPr>
            <p:ph type="body" idx="1"/>
          </p:nvPr>
        </p:nvSpPr>
        <p:spPr/>
        <p:txBody>
          <a:bodyPr/>
          <a:lstStyle/>
          <a:p>
            <a:r>
              <a:t>Part 3 · Every claim has a script that computes its own expected number, on both linear solvers, on five platforms.</a:t>
            </a:r>
          </a:p>
        </p:txBody>
      </p:sp>
      <p:sp>
        <p:nvSpPr>
          <p:cNvPr id="4" name="Stat 596/596"/>
          <p:cNvSpPr/>
          <p:nvPr/>
        </p:nvSpPr>
        <p:spPr>
          <a:xfrm>
            <a:off x="8229600" y="2377440"/>
            <a:ext cx="3383280" cy="2103120"/>
          </a:xfrm>
          <a:prstGeom prst="roundRect">
            <a:avLst>
              <a:gd name="adj" fmla="val 6000"/>
            </a:avLst>
          </a:prstGeom>
          <a:solidFill>
            <a:schemeClr val="tx2">
              <a:lumMod val="88000"/>
              <a:lumOff val="1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Stat number 596/596"/>
          <p:cNvSpPr txBox="1"/>
          <p:nvPr/>
        </p:nvSpPr>
        <p:spPr>
          <a:xfrm>
            <a:off x="8458200" y="2560320"/>
            <a:ext cx="2926080" cy="868680"/>
          </a:xfrm>
          <a:prstGeom prst="rect">
            <a:avLst/>
          </a:prstGeom>
          <a:noFill/>
        </p:spPr>
        <p:txBody>
          <a:bodyPr wrap="square" lIns="0" rIns="0" tIns="0" bIns="0" anchor="t">
            <a:spAutoFit/>
          </a:bodyPr>
          <a:lstStyle/>
          <a:p>
            <a:pPr algn="l"/>
            <a:r>
              <a:rPr sz="5000" b="1" i="0">
                <a:solidFill>
                  <a:schemeClr val="accent4"/>
                </a:solidFill>
                <a:latin typeface="+mj-lt"/>
              </a:rPr>
              <a:t>596/596</a:t>
            </a:r>
          </a:p>
        </p:txBody>
      </p:sp>
      <p:sp>
        <p:nvSpPr>
          <p:cNvPr id="6" name="Stat label 596/596"/>
          <p:cNvSpPr txBox="1"/>
          <p:nvPr/>
        </p:nvSpPr>
        <p:spPr>
          <a:xfrm>
            <a:off x="8458200" y="3354070"/>
            <a:ext cx="2926080" cy="943609"/>
          </a:xfrm>
          <a:prstGeom prst="rect">
            <a:avLst/>
          </a:prstGeom>
          <a:noFill/>
        </p:spPr>
        <p:txBody>
          <a:bodyPr wrap="square" lIns="0" rIns="0" tIns="0" bIns="0" anchor="t">
            <a:spAutoFit/>
          </a:bodyPr>
          <a:lstStyle/>
          <a:p>
            <a:pPr algn="l"/>
            <a:r>
              <a:rPr sz="1600" b="0" i="0">
                <a:solidFill>
                  <a:schemeClr val="bg1"/>
                </a:solidFill>
              </a:rPr>
              <a:t>verify suites passing in the regression sweep at E-908</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From a change to a release</a:t>
            </a:r>
          </a:p>
        </p:txBody>
      </p:sp>
      <p:sp>
        <p:nvSpPr>
          <p:cNvPr id="3" name="Kicker"/>
          <p:cNvSpPr txBox="1"/>
          <p:nvPr/>
        </p:nvSpPr>
        <p:spPr>
          <a:xfrm>
            <a:off x="548640" y="274320"/>
            <a:ext cx="11094415" cy="274320"/>
          </a:xfrm>
          <a:prstGeom prst="rect">
            <a:avLst/>
          </a:prstGeom>
          <a:noFill/>
        </p:spPr>
        <p:txBody>
          <a:bodyPr wrap="square" lIns="0" rIns="0" tIns="0" bIns="0" anchor="t">
            <a:spAutoFit/>
          </a:bodyPr>
          <a:lstStyle/>
          <a:p>
            <a:pPr algn="l"/>
            <a:r>
              <a:rPr sz="1100" b="1" i="0" spc="120">
                <a:solidFill>
                  <a:schemeClr val="accent4">
                    <a:lumMod val="75000"/>
                  </a:schemeClr>
                </a:solidFill>
              </a:rPr>
              <a:t>THE VERIFICATION PIPELINE</a:t>
            </a:r>
          </a:p>
        </p:txBody>
      </p:sp>
      <p:sp>
        <p:nvSpPr>
          <p:cNvPr id="4" name="Pipeline Fold"/>
          <p:cNvSpPr/>
          <p:nvPr/>
        </p:nvSpPr>
        <p:spPr>
          <a:xfrm>
            <a:off x="548640" y="1828800"/>
            <a:ext cx="1696669" cy="301752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Pipeline number 1"/>
          <p:cNvSpPr/>
          <p:nvPr/>
        </p:nvSpPr>
        <p:spPr>
          <a:xfrm>
            <a:off x="1031214" y="1417320"/>
            <a:ext cx="731520" cy="731520"/>
          </a:xfrm>
          <a:prstGeom prst="ellipse">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2400" b="1">
                <a:solidFill>
                  <a:schemeClr val="bg1"/>
                </a:solidFill>
              </a:rPr>
              <a:t>1</a:t>
            </a:r>
          </a:p>
        </p:txBody>
      </p:sp>
      <p:sp>
        <p:nvSpPr>
          <p:cNvPr id="6" name="Pipeline title Fold"/>
          <p:cNvSpPr txBox="1"/>
          <p:nvPr/>
        </p:nvSpPr>
        <p:spPr>
          <a:xfrm>
            <a:off x="685800" y="2331720"/>
            <a:ext cx="1422349" cy="365760"/>
          </a:xfrm>
          <a:prstGeom prst="rect">
            <a:avLst/>
          </a:prstGeom>
          <a:noFill/>
        </p:spPr>
        <p:txBody>
          <a:bodyPr wrap="square" lIns="0" rIns="0" tIns="0" bIns="0" anchor="t">
            <a:spAutoFit/>
          </a:bodyPr>
          <a:lstStyle/>
          <a:p>
            <a:pPr algn="ctr"/>
            <a:r>
              <a:rPr sz="1700" b="1" i="0">
                <a:solidFill>
                  <a:schemeClr val="tx2"/>
                </a:solidFill>
              </a:rPr>
              <a:t>Fold</a:t>
            </a:r>
          </a:p>
        </p:txBody>
      </p:sp>
      <p:sp>
        <p:nvSpPr>
          <p:cNvPr id="7" name="Pipeline text Fold"/>
          <p:cNvSpPr txBox="1"/>
          <p:nvPr/>
        </p:nvSpPr>
        <p:spPr>
          <a:xfrm>
            <a:off x="685800" y="2788920"/>
            <a:ext cx="1422349" cy="1920240"/>
          </a:xfrm>
          <a:prstGeom prst="rect">
            <a:avLst/>
          </a:prstGeom>
          <a:noFill/>
        </p:spPr>
        <p:txBody>
          <a:bodyPr wrap="square" lIns="0" rIns="0" tIns="0" bIns="0" anchor="t">
            <a:spAutoFit/>
          </a:bodyPr>
          <a:lstStyle/>
          <a:p>
            <a:pPr algn="l"/>
            <a:r>
              <a:rPr sz="1600" b="0" i="0">
                <a:solidFill>
                  <a:schemeClr val="tx1"/>
                </a:solidFill>
              </a:rPr>
              <a:t>the change, its write-up and the change logs, together</a:t>
            </a:r>
          </a:p>
        </p:txBody>
      </p:sp>
      <p:sp>
        <p:nvSpPr>
          <p:cNvPr id="8" name="Pipeline Verify"/>
          <p:cNvSpPr/>
          <p:nvPr/>
        </p:nvSpPr>
        <p:spPr>
          <a:xfrm>
            <a:off x="2428189" y="1828800"/>
            <a:ext cx="1696669" cy="301752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Pipeline number 2"/>
          <p:cNvSpPr/>
          <p:nvPr/>
        </p:nvSpPr>
        <p:spPr>
          <a:xfrm>
            <a:off x="2910763" y="1417320"/>
            <a:ext cx="731520" cy="731520"/>
          </a:xfrm>
          <a:prstGeom prst="ellipse">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2400" b="1">
                <a:solidFill>
                  <a:schemeClr val="bg1"/>
                </a:solidFill>
              </a:rPr>
              <a:t>2</a:t>
            </a:r>
          </a:p>
        </p:txBody>
      </p:sp>
      <p:sp>
        <p:nvSpPr>
          <p:cNvPr id="10" name="Pipeline title Verify"/>
          <p:cNvSpPr txBox="1"/>
          <p:nvPr/>
        </p:nvSpPr>
        <p:spPr>
          <a:xfrm>
            <a:off x="2565349" y="2331720"/>
            <a:ext cx="1422349" cy="365760"/>
          </a:xfrm>
          <a:prstGeom prst="rect">
            <a:avLst/>
          </a:prstGeom>
          <a:noFill/>
        </p:spPr>
        <p:txBody>
          <a:bodyPr wrap="square" lIns="0" rIns="0" tIns="0" bIns="0" anchor="t">
            <a:spAutoFit/>
          </a:bodyPr>
          <a:lstStyle/>
          <a:p>
            <a:pPr algn="ctr"/>
            <a:r>
              <a:rPr sz="1700" b="1" i="0">
                <a:solidFill>
                  <a:schemeClr val="tx2"/>
                </a:solidFill>
              </a:rPr>
              <a:t>Verify</a:t>
            </a:r>
          </a:p>
        </p:txBody>
      </p:sp>
      <p:sp>
        <p:nvSpPr>
          <p:cNvPr id="11" name="Pipeline text Verify"/>
          <p:cNvSpPr txBox="1"/>
          <p:nvPr/>
        </p:nvSpPr>
        <p:spPr>
          <a:xfrm>
            <a:off x="2565349" y="2788920"/>
            <a:ext cx="1422349" cy="1920240"/>
          </a:xfrm>
          <a:prstGeom prst="rect">
            <a:avLst/>
          </a:prstGeom>
          <a:noFill/>
        </p:spPr>
        <p:txBody>
          <a:bodyPr wrap="square" lIns="0" rIns="0" tIns="0" bIns="0" anchor="t">
            <a:spAutoFit/>
          </a:bodyPr>
          <a:lstStyle/>
          <a:p>
            <a:pPr algn="l"/>
            <a:r>
              <a:rPr sz="1600" b="0" i="0">
                <a:solidFill>
                  <a:schemeClr val="tx1"/>
                </a:solidFill>
              </a:rPr>
              <a:t>a verify_*.py checks closed-form or independent references</a:t>
            </a:r>
          </a:p>
        </p:txBody>
      </p:sp>
      <p:sp>
        <p:nvSpPr>
          <p:cNvPr id="12" name="Pipeline Both solvers"/>
          <p:cNvSpPr/>
          <p:nvPr/>
        </p:nvSpPr>
        <p:spPr>
          <a:xfrm>
            <a:off x="4307738" y="1828800"/>
            <a:ext cx="1696669" cy="301752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Pipeline number 3"/>
          <p:cNvSpPr/>
          <p:nvPr/>
        </p:nvSpPr>
        <p:spPr>
          <a:xfrm>
            <a:off x="4790313" y="1417320"/>
            <a:ext cx="731520" cy="731520"/>
          </a:xfrm>
          <a:prstGeom prst="ellipse">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2400" b="1">
                <a:solidFill>
                  <a:schemeClr val="bg1"/>
                </a:solidFill>
              </a:rPr>
              <a:t>3</a:t>
            </a:r>
          </a:p>
        </p:txBody>
      </p:sp>
      <p:sp>
        <p:nvSpPr>
          <p:cNvPr id="14" name="Pipeline title Both solvers"/>
          <p:cNvSpPr txBox="1"/>
          <p:nvPr/>
        </p:nvSpPr>
        <p:spPr>
          <a:xfrm>
            <a:off x="4444898" y="2331720"/>
            <a:ext cx="1422349" cy="365760"/>
          </a:xfrm>
          <a:prstGeom prst="rect">
            <a:avLst/>
          </a:prstGeom>
          <a:noFill/>
        </p:spPr>
        <p:txBody>
          <a:bodyPr wrap="square" lIns="0" rIns="0" tIns="0" bIns="0" anchor="t">
            <a:spAutoFit/>
          </a:bodyPr>
          <a:lstStyle/>
          <a:p>
            <a:pPr algn="ctr"/>
            <a:r>
              <a:rPr sz="1700" b="1" i="0">
                <a:solidFill>
                  <a:schemeClr val="tx2"/>
                </a:solidFill>
              </a:rPr>
              <a:t>Both solvers</a:t>
            </a:r>
          </a:p>
        </p:txBody>
      </p:sp>
      <p:sp>
        <p:nvSpPr>
          <p:cNvPr id="15" name="Pipeline text Both solvers"/>
          <p:cNvSpPr txBox="1"/>
          <p:nvPr/>
        </p:nvSpPr>
        <p:spPr>
          <a:xfrm>
            <a:off x="4444898" y="2788920"/>
            <a:ext cx="1422349" cy="1920240"/>
          </a:xfrm>
          <a:prstGeom prst="rect">
            <a:avLst/>
          </a:prstGeom>
          <a:noFill/>
        </p:spPr>
        <p:txBody>
          <a:bodyPr wrap="square" lIns="0" rIns="0" tIns="0" bIns="0" anchor="t">
            <a:spAutoFit/>
          </a:bodyPr>
          <a:lstStyle/>
          <a:p>
            <a:pPr algn="l"/>
            <a:r>
              <a:rPr sz="1600" b="0" i="0">
                <a:solidFill>
                  <a:schemeClr val="tx1"/>
                </a:solidFill>
              </a:rPr>
              <a:t>each suite runs under Sparse 1.3 and under KLU</a:t>
            </a:r>
          </a:p>
        </p:txBody>
      </p:sp>
      <p:sp>
        <p:nvSpPr>
          <p:cNvPr id="16" name="Pipeline Full sweep"/>
          <p:cNvSpPr/>
          <p:nvPr/>
        </p:nvSpPr>
        <p:spPr>
          <a:xfrm>
            <a:off x="6187287" y="1828800"/>
            <a:ext cx="1696669" cy="301752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Pipeline number 4"/>
          <p:cNvSpPr/>
          <p:nvPr/>
        </p:nvSpPr>
        <p:spPr>
          <a:xfrm>
            <a:off x="6669862" y="1417320"/>
            <a:ext cx="731520" cy="731520"/>
          </a:xfrm>
          <a:prstGeom prst="ellipse">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2400" b="1">
                <a:solidFill>
                  <a:schemeClr val="bg1"/>
                </a:solidFill>
              </a:rPr>
              <a:t>4</a:t>
            </a:r>
          </a:p>
        </p:txBody>
      </p:sp>
      <p:sp>
        <p:nvSpPr>
          <p:cNvPr id="18" name="Pipeline title Full sweep"/>
          <p:cNvSpPr txBox="1"/>
          <p:nvPr/>
        </p:nvSpPr>
        <p:spPr>
          <a:xfrm>
            <a:off x="6324447" y="2331720"/>
            <a:ext cx="1422349" cy="365760"/>
          </a:xfrm>
          <a:prstGeom prst="rect">
            <a:avLst/>
          </a:prstGeom>
          <a:noFill/>
        </p:spPr>
        <p:txBody>
          <a:bodyPr wrap="square" lIns="0" rIns="0" tIns="0" bIns="0" anchor="t">
            <a:spAutoFit/>
          </a:bodyPr>
          <a:lstStyle/>
          <a:p>
            <a:pPr algn="ctr"/>
            <a:r>
              <a:rPr sz="1700" b="1" i="0">
                <a:solidFill>
                  <a:schemeClr val="tx2"/>
                </a:solidFill>
              </a:rPr>
              <a:t>Full sweep</a:t>
            </a:r>
          </a:p>
        </p:txBody>
      </p:sp>
      <p:sp>
        <p:nvSpPr>
          <p:cNvPr id="19" name="Pipeline text Full sweep"/>
          <p:cNvSpPr txBox="1"/>
          <p:nvPr/>
        </p:nvSpPr>
        <p:spPr>
          <a:xfrm>
            <a:off x="6324447" y="2788920"/>
            <a:ext cx="1422349" cy="1920240"/>
          </a:xfrm>
          <a:prstGeom prst="rect">
            <a:avLst/>
          </a:prstGeom>
          <a:noFill/>
        </p:spPr>
        <p:txBody>
          <a:bodyPr wrap="square" lIns="0" rIns="0" tIns="0" bIns="0" anchor="t">
            <a:spAutoFit/>
          </a:bodyPr>
          <a:lstStyle/>
          <a:p>
            <a:pPr algn="l"/>
            <a:r>
              <a:rPr sz="1600" b="0" i="0">
                <a:solidFill>
                  <a:schemeClr val="tx1"/>
                </a:solidFill>
              </a:rPr>
              <a:t>596 suites, eight at a time, all passing</a:t>
            </a:r>
          </a:p>
        </p:txBody>
      </p:sp>
      <p:sp>
        <p:nvSpPr>
          <p:cNvPr id="20" name="Pipeline CI"/>
          <p:cNvSpPr/>
          <p:nvPr/>
        </p:nvSpPr>
        <p:spPr>
          <a:xfrm>
            <a:off x="8066836" y="1828800"/>
            <a:ext cx="1696669" cy="301752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Pipeline number 5"/>
          <p:cNvSpPr/>
          <p:nvPr/>
        </p:nvSpPr>
        <p:spPr>
          <a:xfrm>
            <a:off x="8549411" y="1417320"/>
            <a:ext cx="731520" cy="731520"/>
          </a:xfrm>
          <a:prstGeom prst="ellipse">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2400" b="1">
                <a:solidFill>
                  <a:schemeClr val="bg1"/>
                </a:solidFill>
              </a:rPr>
              <a:t>5</a:t>
            </a:r>
          </a:p>
        </p:txBody>
      </p:sp>
      <p:sp>
        <p:nvSpPr>
          <p:cNvPr id="22" name="Pipeline title CI"/>
          <p:cNvSpPr txBox="1"/>
          <p:nvPr/>
        </p:nvSpPr>
        <p:spPr>
          <a:xfrm>
            <a:off x="8203996" y="2331720"/>
            <a:ext cx="1422349" cy="365760"/>
          </a:xfrm>
          <a:prstGeom prst="rect">
            <a:avLst/>
          </a:prstGeom>
          <a:noFill/>
        </p:spPr>
        <p:txBody>
          <a:bodyPr wrap="square" lIns="0" rIns="0" tIns="0" bIns="0" anchor="t">
            <a:spAutoFit/>
          </a:bodyPr>
          <a:lstStyle/>
          <a:p>
            <a:pPr algn="ctr"/>
            <a:r>
              <a:rPr sz="1700" b="1" i="0">
                <a:solidFill>
                  <a:schemeClr val="tx2"/>
                </a:solidFill>
              </a:rPr>
              <a:t>CI</a:t>
            </a:r>
          </a:p>
        </p:txBody>
      </p:sp>
      <p:sp>
        <p:nvSpPr>
          <p:cNvPr id="23" name="Pipeline text CI"/>
          <p:cNvSpPr txBox="1"/>
          <p:nvPr/>
        </p:nvSpPr>
        <p:spPr>
          <a:xfrm>
            <a:off x="8203996" y="2788920"/>
            <a:ext cx="1422349" cy="1920240"/>
          </a:xfrm>
          <a:prstGeom prst="rect">
            <a:avLst/>
          </a:prstGeom>
          <a:noFill/>
        </p:spPr>
        <p:txBody>
          <a:bodyPr wrap="square" lIns="0" rIns="0" tIns="0" bIns="0" anchor="t">
            <a:spAutoFit/>
          </a:bodyPr>
          <a:lstStyle/>
          <a:p>
            <a:pPr algn="l"/>
            <a:r>
              <a:rPr sz="1600" b="0" i="0">
                <a:solidFill>
                  <a:schemeClr val="tx1"/>
                </a:solidFill>
              </a:rPr>
              <a:t>five platforms build and test, and the binaries are committed</a:t>
            </a:r>
          </a:p>
        </p:txBody>
      </p:sp>
      <p:sp>
        <p:nvSpPr>
          <p:cNvPr id="24" name="Pipeline Release"/>
          <p:cNvSpPr/>
          <p:nvPr/>
        </p:nvSpPr>
        <p:spPr>
          <a:xfrm>
            <a:off x="9946386" y="1828800"/>
            <a:ext cx="1696669" cy="301752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Pipeline number 6"/>
          <p:cNvSpPr/>
          <p:nvPr/>
        </p:nvSpPr>
        <p:spPr>
          <a:xfrm>
            <a:off x="10428960" y="1417320"/>
            <a:ext cx="731520" cy="731520"/>
          </a:xfrm>
          <a:prstGeom prst="ellipse">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2400" b="1">
                <a:solidFill>
                  <a:schemeClr val="bg1"/>
                </a:solidFill>
              </a:rPr>
              <a:t>6</a:t>
            </a:r>
          </a:p>
        </p:txBody>
      </p:sp>
      <p:sp>
        <p:nvSpPr>
          <p:cNvPr id="26" name="Pipeline title Release"/>
          <p:cNvSpPr txBox="1"/>
          <p:nvPr/>
        </p:nvSpPr>
        <p:spPr>
          <a:xfrm>
            <a:off x="10083546" y="2331720"/>
            <a:ext cx="1422349" cy="365760"/>
          </a:xfrm>
          <a:prstGeom prst="rect">
            <a:avLst/>
          </a:prstGeom>
          <a:noFill/>
        </p:spPr>
        <p:txBody>
          <a:bodyPr wrap="square" lIns="0" rIns="0" tIns="0" bIns="0" anchor="t">
            <a:spAutoFit/>
          </a:bodyPr>
          <a:lstStyle/>
          <a:p>
            <a:pPr algn="ctr"/>
            <a:r>
              <a:rPr sz="1700" b="1" i="0">
                <a:solidFill>
                  <a:schemeClr val="tx2"/>
                </a:solidFill>
              </a:rPr>
              <a:t>Release</a:t>
            </a:r>
          </a:p>
        </p:txBody>
      </p:sp>
      <p:sp>
        <p:nvSpPr>
          <p:cNvPr id="27" name="Pipeline text Release"/>
          <p:cNvSpPr txBox="1"/>
          <p:nvPr/>
        </p:nvSpPr>
        <p:spPr>
          <a:xfrm>
            <a:off x="10083546" y="2788920"/>
            <a:ext cx="1422349" cy="1920240"/>
          </a:xfrm>
          <a:prstGeom prst="rect">
            <a:avLst/>
          </a:prstGeom>
          <a:noFill/>
        </p:spPr>
        <p:txBody>
          <a:bodyPr wrap="square" lIns="0" rIns="0" tIns="0" bIns="0" anchor="t">
            <a:spAutoFit/>
          </a:bodyPr>
          <a:lstStyle/>
          <a:p>
            <a:pPr algn="l"/>
            <a:r>
              <a:rPr sz="1600" b="0" i="0">
                <a:solidFill>
                  <a:schemeClr val="tx1"/>
                </a:solidFill>
              </a:rPr>
              <a:t>a tagged GitHub release with the write-up as its notes</a:t>
            </a:r>
          </a:p>
        </p:txBody>
      </p:sp>
      <p:sp>
        <p:nvSpPr>
          <p:cNvPr id="28" name="Quote panel"/>
          <p:cNvSpPr/>
          <p:nvPr/>
        </p:nvSpPr>
        <p:spPr>
          <a:xfrm>
            <a:off x="548640" y="5212080"/>
            <a:ext cx="11094415" cy="1051560"/>
          </a:xfrm>
          <a:prstGeom prst="roundRect">
            <a:avLst>
              <a:gd name="adj" fmla="val 6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Quote"/>
          <p:cNvSpPr txBox="1"/>
          <p:nvPr/>
        </p:nvSpPr>
        <p:spPr>
          <a:xfrm>
            <a:off x="914400" y="5212080"/>
            <a:ext cx="10362895" cy="1051560"/>
          </a:xfrm>
          <a:prstGeom prst="rect">
            <a:avLst/>
          </a:prstGeom>
          <a:noFill/>
        </p:spPr>
        <p:txBody>
          <a:bodyPr wrap="square" lIns="0" rIns="0" tIns="0" bIns="0" anchor="ctr">
            <a:spAutoFit/>
          </a:bodyPr>
          <a:lstStyle/>
          <a:p>
            <a:pPr algn="ctr"/>
            <a:r>
              <a:rPr sz="2200" b="0" i="1">
                <a:solidFill>
                  <a:schemeClr val="bg1"/>
                </a:solidFill>
              </a:rPr>
              <a:t>“A pass means the number is right, not that a run finished.”</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Physics validation</a:t>
            </a:r>
          </a:p>
        </p:txBody>
      </p:sp>
      <p:sp>
        <p:nvSpPr>
          <p:cNvPr id="3" name="Kicker"/>
          <p:cNvSpPr txBox="1"/>
          <p:nvPr/>
        </p:nvSpPr>
        <p:spPr>
          <a:xfrm>
            <a:off x="548640" y="274320"/>
            <a:ext cx="11094415" cy="274320"/>
          </a:xfrm>
          <a:prstGeom prst="rect">
            <a:avLst/>
          </a:prstGeom>
          <a:noFill/>
        </p:spPr>
        <p:txBody>
          <a:bodyPr wrap="square" lIns="0" rIns="0" tIns="0" bIns="0" anchor="t">
            <a:spAutoFit/>
          </a:bodyPr>
          <a:lstStyle/>
          <a:p>
            <a:pPr algn="l"/>
            <a:r>
              <a:rPr sz="1100" b="1" i="0" spc="120">
                <a:solidFill>
                  <a:schemeClr val="accent4">
                    <a:lumMod val="75000"/>
                  </a:schemeClr>
                </a:solidFill>
              </a:rPr>
              <a:t>SIMULATOR · 11 ENHANCEMENTS</a:t>
            </a:r>
          </a:p>
        </p:txBody>
      </p:sp>
      <p:sp>
        <p:nvSpPr>
          <p:cNvPr id="4" name="Card Junction law"/>
          <p:cNvSpPr/>
          <p:nvPr/>
        </p:nvSpPr>
        <p:spPr>
          <a:xfrm>
            <a:off x="548640" y="1417320"/>
            <a:ext cx="3360420" cy="1493519"/>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Card title Junction law"/>
          <p:cNvSpPr txBox="1"/>
          <p:nvPr/>
        </p:nvSpPr>
        <p:spPr>
          <a:xfrm>
            <a:off x="713232" y="1536192"/>
            <a:ext cx="3031236" cy="292608"/>
          </a:xfrm>
          <a:prstGeom prst="rect">
            <a:avLst/>
          </a:prstGeom>
          <a:noFill/>
        </p:spPr>
        <p:txBody>
          <a:bodyPr wrap="square" lIns="0" rIns="0" tIns="0" bIns="0" anchor="ctr">
            <a:spAutoFit/>
          </a:bodyPr>
          <a:lstStyle/>
          <a:p>
            <a:pPr algn="l"/>
            <a:r>
              <a:rPr sz="1500" b="1" i="0">
                <a:solidFill>
                  <a:schemeClr val="tx2"/>
                </a:solidFill>
              </a:rPr>
              <a:t>Junction law</a:t>
            </a:r>
          </a:p>
        </p:txBody>
      </p:sp>
      <p:sp>
        <p:nvSpPr>
          <p:cNvPr id="6" name="Card body Junction law"/>
          <p:cNvSpPr txBox="1"/>
          <p:nvPr/>
        </p:nvSpPr>
        <p:spPr>
          <a:xfrm>
            <a:off x="713232" y="1874519"/>
            <a:ext cx="3031236" cy="652271"/>
          </a:xfrm>
          <a:prstGeom prst="rect">
            <a:avLst/>
          </a:prstGeom>
          <a:noFill/>
        </p:spPr>
        <p:txBody>
          <a:bodyPr wrap="square" lIns="0" rIns="0" tIns="0" bIns="0" anchor="t">
            <a:spAutoFit/>
          </a:bodyPr>
          <a:lstStyle/>
          <a:p>
            <a:pPr algn="l"/>
            <a:r>
              <a:rPr sz="1400" b="0" i="0">
                <a:solidFill>
                  <a:schemeClr val="tx1"/>
                </a:solidFill>
              </a:rPr>
              <a:t>60 mV/decade slopes recovered through the full pipeline</a:t>
            </a:r>
          </a:p>
        </p:txBody>
      </p:sp>
      <p:sp>
        <p:nvSpPr>
          <p:cNvPr id="7" name="Chip E-57">
            <a:hlinkClick r:id="rId3"/>
          </p:cNvPr>
          <p:cNvSpPr/>
          <p:nvPr/>
        </p:nvSpPr>
        <p:spPr>
          <a:xfrm>
            <a:off x="713232" y="2581656"/>
            <a:ext cx="594360" cy="219456"/>
          </a:xfrm>
          <a:prstGeom prst="roundRect">
            <a:avLst>
              <a:gd name="adj" fmla="val 50000"/>
            </a:avLst>
          </a:prstGeom>
          <a:solidFill>
            <a:schemeClr val="accent4">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4">
                    <a:lumMod val="65000"/>
                  </a:schemeClr>
                </a:solidFill>
              </a:rPr>
              <a:t>E-57</a:t>
            </a:r>
          </a:p>
        </p:txBody>
      </p:sp>
      <p:sp>
        <p:nvSpPr>
          <p:cNvPr id="8" name="Card Noise identity"/>
          <p:cNvSpPr/>
          <p:nvPr/>
        </p:nvSpPr>
        <p:spPr>
          <a:xfrm>
            <a:off x="4091939" y="1417320"/>
            <a:ext cx="3360420" cy="1493519"/>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Card title Noise identity"/>
          <p:cNvSpPr txBox="1"/>
          <p:nvPr/>
        </p:nvSpPr>
        <p:spPr>
          <a:xfrm>
            <a:off x="4256531" y="1536192"/>
            <a:ext cx="3031236" cy="292608"/>
          </a:xfrm>
          <a:prstGeom prst="rect">
            <a:avLst/>
          </a:prstGeom>
          <a:noFill/>
        </p:spPr>
        <p:txBody>
          <a:bodyPr wrap="square" lIns="0" rIns="0" tIns="0" bIns="0" anchor="ctr">
            <a:spAutoFit/>
          </a:bodyPr>
          <a:lstStyle/>
          <a:p>
            <a:pPr algn="l"/>
            <a:r>
              <a:rPr sz="1500" b="1" i="0">
                <a:solidFill>
                  <a:schemeClr val="tx2"/>
                </a:solidFill>
              </a:rPr>
              <a:t>Noise identity</a:t>
            </a:r>
          </a:p>
        </p:txBody>
      </p:sp>
      <p:sp>
        <p:nvSpPr>
          <p:cNvPr id="10" name="Card body Noise identity"/>
          <p:cNvSpPr txBox="1"/>
          <p:nvPr/>
        </p:nvSpPr>
        <p:spPr>
          <a:xfrm>
            <a:off x="4256531" y="1874519"/>
            <a:ext cx="3031236" cy="652271"/>
          </a:xfrm>
          <a:prstGeom prst="rect">
            <a:avLst/>
          </a:prstGeom>
          <a:noFill/>
        </p:spPr>
        <p:txBody>
          <a:bodyPr wrap="square" lIns="0" rIns="0" tIns="0" bIns="0" anchor="t">
            <a:spAutoFit/>
          </a:bodyPr>
          <a:lstStyle/>
          <a:p>
            <a:pPr algn="l"/>
            <a:r>
              <a:rPr sz="1400" b="0" i="0">
                <a:solidFill>
                  <a:schemeClr val="tx1"/>
                </a:solidFill>
              </a:rPr>
              <a:t>Thermal noise matches 4kT/R</a:t>
            </a:r>
          </a:p>
        </p:txBody>
      </p:sp>
      <p:sp>
        <p:nvSpPr>
          <p:cNvPr id="11" name="Chip E-57">
            <a:hlinkClick r:id="rId3"/>
          </p:cNvPr>
          <p:cNvSpPr/>
          <p:nvPr/>
        </p:nvSpPr>
        <p:spPr>
          <a:xfrm>
            <a:off x="4256531" y="2581656"/>
            <a:ext cx="594360" cy="219456"/>
          </a:xfrm>
          <a:prstGeom prst="roundRect">
            <a:avLst>
              <a:gd name="adj" fmla="val 50000"/>
            </a:avLst>
          </a:prstGeom>
          <a:solidFill>
            <a:schemeClr val="accent4">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4">
                    <a:lumMod val="65000"/>
                  </a:schemeClr>
                </a:solidFill>
              </a:rPr>
              <a:t>E-57</a:t>
            </a:r>
          </a:p>
        </p:txBody>
      </p:sp>
      <p:sp>
        <p:nvSpPr>
          <p:cNvPr id="12" name="Card Jacobians"/>
          <p:cNvSpPr/>
          <p:nvPr/>
        </p:nvSpPr>
        <p:spPr>
          <a:xfrm>
            <a:off x="548640" y="3093719"/>
            <a:ext cx="3360420" cy="1493519"/>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Card title Jacobians"/>
          <p:cNvSpPr txBox="1"/>
          <p:nvPr/>
        </p:nvSpPr>
        <p:spPr>
          <a:xfrm>
            <a:off x="713232" y="3212591"/>
            <a:ext cx="3031236" cy="292608"/>
          </a:xfrm>
          <a:prstGeom prst="rect">
            <a:avLst/>
          </a:prstGeom>
          <a:noFill/>
        </p:spPr>
        <p:txBody>
          <a:bodyPr wrap="square" lIns="0" rIns="0" tIns="0" bIns="0" anchor="ctr">
            <a:spAutoFit/>
          </a:bodyPr>
          <a:lstStyle/>
          <a:p>
            <a:pPr algn="l"/>
            <a:r>
              <a:rPr sz="1500" b="1" i="0">
                <a:solidFill>
                  <a:schemeClr val="tx2"/>
                </a:solidFill>
              </a:rPr>
              <a:t>Jacobians</a:t>
            </a:r>
          </a:p>
        </p:txBody>
      </p:sp>
      <p:sp>
        <p:nvSpPr>
          <p:cNvPr id="14" name="Card body Jacobians"/>
          <p:cNvSpPr txBox="1"/>
          <p:nvPr/>
        </p:nvSpPr>
        <p:spPr>
          <a:xfrm>
            <a:off x="713232" y="3550919"/>
            <a:ext cx="3031236" cy="652271"/>
          </a:xfrm>
          <a:prstGeom prst="rect">
            <a:avLst/>
          </a:prstGeom>
          <a:noFill/>
        </p:spPr>
        <p:txBody>
          <a:bodyPr wrap="square" lIns="0" rIns="0" tIns="0" bIns="0" anchor="t">
            <a:spAutoFit/>
          </a:bodyPr>
          <a:lstStyle/>
          <a:p>
            <a:pPr algn="l"/>
            <a:r>
              <a:rPr sz="1400" b="0" i="0">
                <a:solidFill>
                  <a:schemeClr val="tx1"/>
                </a:solidFill>
              </a:rPr>
              <a:t>AC against numeric derivatives on PSP103 to ~1e-5</a:t>
            </a:r>
          </a:p>
        </p:txBody>
      </p:sp>
      <p:sp>
        <p:nvSpPr>
          <p:cNvPr id="15" name="Chip E-57">
            <a:hlinkClick r:id="rId3"/>
          </p:cNvPr>
          <p:cNvSpPr/>
          <p:nvPr/>
        </p:nvSpPr>
        <p:spPr>
          <a:xfrm>
            <a:off x="713232" y="4258055"/>
            <a:ext cx="594360" cy="219456"/>
          </a:xfrm>
          <a:prstGeom prst="roundRect">
            <a:avLst>
              <a:gd name="adj" fmla="val 50000"/>
            </a:avLst>
          </a:prstGeom>
          <a:solidFill>
            <a:schemeClr val="accent4">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4">
                    <a:lumMod val="65000"/>
                  </a:schemeClr>
                </a:solidFill>
              </a:rPr>
              <a:t>E-57</a:t>
            </a:r>
          </a:p>
        </p:txBody>
      </p:sp>
      <p:sp>
        <p:nvSpPr>
          <p:cNvPr id="16" name="Card Dynamic charge"/>
          <p:cNvSpPr/>
          <p:nvPr/>
        </p:nvSpPr>
        <p:spPr>
          <a:xfrm>
            <a:off x="4091939" y="3093719"/>
            <a:ext cx="3360420" cy="1493519"/>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Card title Dynamic charge"/>
          <p:cNvSpPr txBox="1"/>
          <p:nvPr/>
        </p:nvSpPr>
        <p:spPr>
          <a:xfrm>
            <a:off x="4256531" y="3212591"/>
            <a:ext cx="3031236" cy="292608"/>
          </a:xfrm>
          <a:prstGeom prst="rect">
            <a:avLst/>
          </a:prstGeom>
          <a:noFill/>
        </p:spPr>
        <p:txBody>
          <a:bodyPr wrap="square" lIns="0" rIns="0" tIns="0" bIns="0" anchor="ctr">
            <a:spAutoFit/>
          </a:bodyPr>
          <a:lstStyle/>
          <a:p>
            <a:pPr algn="l"/>
            <a:r>
              <a:rPr sz="1500" b="1" i="0">
                <a:solidFill>
                  <a:schemeClr val="tx2"/>
                </a:solidFill>
              </a:rPr>
              <a:t>Dynamic charge</a:t>
            </a:r>
          </a:p>
        </p:txBody>
      </p:sp>
      <p:sp>
        <p:nvSpPr>
          <p:cNvPr id="18" name="Card body Dynamic charge"/>
          <p:cNvSpPr txBox="1"/>
          <p:nvPr/>
        </p:nvSpPr>
        <p:spPr>
          <a:xfrm>
            <a:off x="4256531" y="3550919"/>
            <a:ext cx="3031236" cy="652271"/>
          </a:xfrm>
          <a:prstGeom prst="rect">
            <a:avLst/>
          </a:prstGeom>
          <a:noFill/>
        </p:spPr>
        <p:txBody>
          <a:bodyPr wrap="square" lIns="0" rIns="0" tIns="0" bIns="0" anchor="t">
            <a:spAutoFit/>
          </a:bodyPr>
          <a:lstStyle/>
          <a:p>
            <a:pPr algn="l"/>
            <a:r>
              <a:rPr sz="1400" b="0" i="0">
                <a:solidFill>
                  <a:schemeClr val="tx1"/>
                </a:solidFill>
              </a:rPr>
              <a:t>Cgg from AC equals Cgg from the transient</a:t>
            </a:r>
          </a:p>
        </p:txBody>
      </p:sp>
      <p:sp>
        <p:nvSpPr>
          <p:cNvPr id="19" name="Chip E-75">
            <a:hlinkClick r:id="rId4"/>
          </p:cNvPr>
          <p:cNvSpPr/>
          <p:nvPr/>
        </p:nvSpPr>
        <p:spPr>
          <a:xfrm>
            <a:off x="4256531" y="4258055"/>
            <a:ext cx="594360" cy="219456"/>
          </a:xfrm>
          <a:prstGeom prst="roundRect">
            <a:avLst>
              <a:gd name="adj" fmla="val 50000"/>
            </a:avLst>
          </a:prstGeom>
          <a:solidFill>
            <a:schemeClr val="accent4">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4">
                    <a:lumMod val="65000"/>
                  </a:schemeClr>
                </a:solidFill>
              </a:rPr>
              <a:t>E-75</a:t>
            </a:r>
          </a:p>
        </p:txBody>
      </p:sp>
      <p:sp>
        <p:nvSpPr>
          <p:cNvPr id="20" name="Card Temperature"/>
          <p:cNvSpPr/>
          <p:nvPr/>
        </p:nvSpPr>
        <p:spPr>
          <a:xfrm>
            <a:off x="548640" y="4770119"/>
            <a:ext cx="3360420" cy="1493519"/>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Card title Temperature"/>
          <p:cNvSpPr txBox="1"/>
          <p:nvPr/>
        </p:nvSpPr>
        <p:spPr>
          <a:xfrm>
            <a:off x="713232" y="4888991"/>
            <a:ext cx="3031236" cy="292608"/>
          </a:xfrm>
          <a:prstGeom prst="rect">
            <a:avLst/>
          </a:prstGeom>
          <a:noFill/>
        </p:spPr>
        <p:txBody>
          <a:bodyPr wrap="square" lIns="0" rIns="0" tIns="0" bIns="0" anchor="ctr">
            <a:spAutoFit/>
          </a:bodyPr>
          <a:lstStyle/>
          <a:p>
            <a:pPr algn="l"/>
            <a:r>
              <a:rPr sz="1500" b="1" i="0">
                <a:solidFill>
                  <a:schemeClr val="tx2"/>
                </a:solidFill>
              </a:rPr>
              <a:t>Temperature</a:t>
            </a:r>
          </a:p>
        </p:txBody>
      </p:sp>
      <p:sp>
        <p:nvSpPr>
          <p:cNvPr id="22" name="Card body Temperature"/>
          <p:cNvSpPr txBox="1"/>
          <p:nvPr/>
        </p:nvSpPr>
        <p:spPr>
          <a:xfrm>
            <a:off x="713232" y="5227319"/>
            <a:ext cx="3031236" cy="652271"/>
          </a:xfrm>
          <a:prstGeom prst="rect">
            <a:avLst/>
          </a:prstGeom>
          <a:noFill/>
        </p:spPr>
        <p:txBody>
          <a:bodyPr wrap="square" lIns="0" rIns="0" tIns="0" bIns="0" anchor="t">
            <a:spAutoFit/>
          </a:bodyPr>
          <a:lstStyle/>
          <a:p>
            <a:pPr algn="l"/>
            <a:r>
              <a:rPr sz="1400" b="0" i="0">
                <a:solidFill>
                  <a:schemeClr val="tx1"/>
                </a:solidFill>
              </a:rPr>
              <a:t>A band gap of ≈1.25 eV extracted from a compiled MEXTRAM</a:t>
            </a:r>
          </a:p>
        </p:txBody>
      </p:sp>
      <p:sp>
        <p:nvSpPr>
          <p:cNvPr id="23" name="Chip E-80">
            <a:hlinkClick r:id="rId5"/>
          </p:cNvPr>
          <p:cNvSpPr/>
          <p:nvPr/>
        </p:nvSpPr>
        <p:spPr>
          <a:xfrm>
            <a:off x="713232" y="5934455"/>
            <a:ext cx="594360" cy="219456"/>
          </a:xfrm>
          <a:prstGeom prst="roundRect">
            <a:avLst>
              <a:gd name="adj" fmla="val 50000"/>
            </a:avLst>
          </a:prstGeom>
          <a:solidFill>
            <a:schemeClr val="accent4">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4">
                    <a:lumMod val="65000"/>
                  </a:schemeClr>
                </a:solidFill>
              </a:rPr>
              <a:t>E-80</a:t>
            </a:r>
          </a:p>
        </p:txBody>
      </p:sp>
      <p:sp>
        <p:nvSpPr>
          <p:cNvPr id="24" name="Card CMC suite"/>
          <p:cNvSpPr/>
          <p:nvPr/>
        </p:nvSpPr>
        <p:spPr>
          <a:xfrm>
            <a:off x="4091939" y="4770119"/>
            <a:ext cx="3360420" cy="1493519"/>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Card title CMC suite"/>
          <p:cNvSpPr txBox="1"/>
          <p:nvPr/>
        </p:nvSpPr>
        <p:spPr>
          <a:xfrm>
            <a:off x="4256531" y="4888991"/>
            <a:ext cx="3031236" cy="292608"/>
          </a:xfrm>
          <a:prstGeom prst="rect">
            <a:avLst/>
          </a:prstGeom>
          <a:noFill/>
        </p:spPr>
        <p:txBody>
          <a:bodyPr wrap="square" lIns="0" rIns="0" tIns="0" bIns="0" anchor="ctr">
            <a:spAutoFit/>
          </a:bodyPr>
          <a:lstStyle/>
          <a:p>
            <a:pPr algn="l"/>
            <a:r>
              <a:rPr sz="1500" b="1" i="0">
                <a:solidFill>
                  <a:schemeClr val="tx2"/>
                </a:solidFill>
              </a:rPr>
              <a:t>CMC suite</a:t>
            </a:r>
          </a:p>
        </p:txBody>
      </p:sp>
      <p:sp>
        <p:nvSpPr>
          <p:cNvPr id="26" name="Card body CMC suite"/>
          <p:cNvSpPr txBox="1"/>
          <p:nvPr/>
        </p:nvSpPr>
        <p:spPr>
          <a:xfrm>
            <a:off x="4256531" y="5227319"/>
            <a:ext cx="3031236" cy="652271"/>
          </a:xfrm>
          <a:prstGeom prst="rect">
            <a:avLst/>
          </a:prstGeom>
          <a:noFill/>
        </p:spPr>
        <p:txBody>
          <a:bodyPr wrap="square" lIns="0" rIns="0" tIns="0" bIns="0" anchor="t">
            <a:spAutoFit/>
          </a:bodyPr>
          <a:lstStyle/>
          <a:p>
            <a:pPr algn="l"/>
            <a:r>
              <a:rPr sz="1400" b="0" i="0">
                <a:solidFill>
                  <a:schemeClr val="tx1"/>
                </a:solidFill>
              </a:rPr>
              <a:t>19 of 19 models compile and load; C-V and fT against built-in twins</a:t>
            </a:r>
          </a:p>
        </p:txBody>
      </p:sp>
      <p:sp>
        <p:nvSpPr>
          <p:cNvPr id="27" name="Chip E-160">
            <a:hlinkClick r:id="rId6"/>
          </p:cNvPr>
          <p:cNvSpPr/>
          <p:nvPr/>
        </p:nvSpPr>
        <p:spPr>
          <a:xfrm>
            <a:off x="4256531" y="5934455"/>
            <a:ext cx="662940" cy="219456"/>
          </a:xfrm>
          <a:prstGeom prst="roundRect">
            <a:avLst>
              <a:gd name="adj" fmla="val 50000"/>
            </a:avLst>
          </a:prstGeom>
          <a:solidFill>
            <a:schemeClr val="accent4">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4">
                    <a:lumMod val="65000"/>
                  </a:schemeClr>
                </a:solidFill>
              </a:rPr>
              <a:t>E-160</a:t>
            </a:r>
          </a:p>
        </p:txBody>
      </p:sp>
      <p:sp>
        <p:nvSpPr>
          <p:cNvPr id="28" name="Chip E-161">
            <a:hlinkClick r:id="rId7"/>
          </p:cNvPr>
          <p:cNvSpPr/>
          <p:nvPr/>
        </p:nvSpPr>
        <p:spPr>
          <a:xfrm>
            <a:off x="4974336" y="5934455"/>
            <a:ext cx="662940" cy="219456"/>
          </a:xfrm>
          <a:prstGeom prst="roundRect">
            <a:avLst>
              <a:gd name="adj" fmla="val 50000"/>
            </a:avLst>
          </a:prstGeom>
          <a:solidFill>
            <a:schemeClr val="accent4">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4">
                    <a:lumMod val="65000"/>
                  </a:schemeClr>
                </a:solidFill>
              </a:rPr>
              <a:t>E-161</a:t>
            </a:r>
          </a:p>
        </p:txBody>
      </p:sp>
      <p:pic>
        <p:nvPicPr>
          <p:cNvPr id="29" name="Plot gummel.png" descr="gummel.png"/>
          <p:cNvPicPr>
            <a:picLocks noChangeAspect="1"/>
          </p:cNvPicPr>
          <p:nvPr/>
        </p:nvPicPr>
        <p:blipFill>
          <a:blip r:embed="rId8"/>
          <a:stretch>
            <a:fillRect/>
          </a:stretch>
        </p:blipFill>
        <p:spPr>
          <a:xfrm>
            <a:off x="8198347" y="1417320"/>
            <a:ext cx="2970296" cy="2103120"/>
          </a:xfrm>
          <a:prstGeom prst="rect">
            <a:avLst/>
          </a:prstGeom>
          <a:ln w="9525">
            <a:solidFill>
              <a:schemeClr val="bg2">
                <a:lumMod val="90000"/>
              </a:schemeClr>
            </a:solidFill>
          </a:ln>
        </p:spPr>
      </p:pic>
      <p:sp>
        <p:nvSpPr>
          <p:cNvPr id="30" name="Caption gummel.png"/>
          <p:cNvSpPr txBox="1"/>
          <p:nvPr/>
        </p:nvSpPr>
        <p:spPr>
          <a:xfrm>
            <a:off x="7726679" y="3611879"/>
            <a:ext cx="3913632" cy="411480"/>
          </a:xfrm>
          <a:prstGeom prst="rect">
            <a:avLst/>
          </a:prstGeom>
          <a:noFill/>
        </p:spPr>
        <p:txBody>
          <a:bodyPr wrap="square" lIns="0" rIns="0" tIns="0" bIns="0" anchor="t">
            <a:spAutoFit/>
          </a:bodyPr>
          <a:lstStyle/>
          <a:p>
            <a:pPr algn="l"/>
            <a:r>
              <a:rPr sz="1100" b="0" i="1">
                <a:solidFill>
                  <a:schemeClr val="accent3"/>
                </a:solidFill>
              </a:rPr>
              <a:t>MEXTRAM 505 Gummel plot: the ideal 60 mV/decade slope (examples/physcheck_examples)</a:t>
            </a:r>
          </a:p>
        </p:txBody>
      </p:sp>
      <p:pic>
        <p:nvPicPr>
          <p:cNvPr id="31" name="Plot cmcsweep_coverage.png" descr="cmcsweep_coverage.png"/>
          <p:cNvPicPr>
            <a:picLocks noChangeAspect="1"/>
          </p:cNvPicPr>
          <p:nvPr/>
        </p:nvPicPr>
        <p:blipFill>
          <a:blip r:embed="rId9"/>
          <a:stretch>
            <a:fillRect/>
          </a:stretch>
        </p:blipFill>
        <p:spPr>
          <a:xfrm>
            <a:off x="7731603" y="4160520"/>
            <a:ext cx="3903784" cy="1691639"/>
          </a:xfrm>
          <a:prstGeom prst="rect">
            <a:avLst/>
          </a:prstGeom>
          <a:ln w="9525">
            <a:solidFill>
              <a:schemeClr val="bg2">
                <a:lumMod val="90000"/>
              </a:schemeClr>
            </a:solidFill>
          </a:ln>
        </p:spPr>
      </p:pic>
      <p:sp>
        <p:nvSpPr>
          <p:cNvPr id="32" name="Caption cmcsweep_coverage.png"/>
          <p:cNvSpPr txBox="1"/>
          <p:nvPr/>
        </p:nvSpPr>
        <p:spPr>
          <a:xfrm>
            <a:off x="7726679" y="5943599"/>
            <a:ext cx="3913632" cy="365760"/>
          </a:xfrm>
          <a:prstGeom prst="rect">
            <a:avLst/>
          </a:prstGeom>
          <a:noFill/>
        </p:spPr>
        <p:txBody>
          <a:bodyPr wrap="square" lIns="0" rIns="0" tIns="0" bIns="0" anchor="t">
            <a:spAutoFit/>
          </a:bodyPr>
          <a:lstStyle/>
          <a:p>
            <a:pPr algn="l"/>
            <a:r>
              <a:rPr sz="1100" b="0" i="1">
                <a:solidFill>
                  <a:schemeClr val="accent3"/>
                </a:solidFill>
              </a:rPr>
              <a:t>CMC coverage: 19 of 19 compile and load (examples/cmcsweep_examples)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Campaigns beyond the suite</a:t>
            </a:r>
          </a:p>
        </p:txBody>
      </p:sp>
      <p:sp>
        <p:nvSpPr>
          <p:cNvPr id="3" name="Kicker"/>
          <p:cNvSpPr txBox="1"/>
          <p:nvPr/>
        </p:nvSpPr>
        <p:spPr>
          <a:xfrm>
            <a:off x="548640" y="274320"/>
            <a:ext cx="11094415" cy="274320"/>
          </a:xfrm>
          <a:prstGeom prst="rect">
            <a:avLst/>
          </a:prstGeom>
          <a:noFill/>
        </p:spPr>
        <p:txBody>
          <a:bodyPr wrap="square" lIns="0" rIns="0" tIns="0" bIns="0" anchor="t">
            <a:spAutoFit/>
          </a:bodyPr>
          <a:lstStyle/>
          <a:p>
            <a:pPr algn="l"/>
            <a:r>
              <a:rPr sz="1100" b="1" i="0" spc="120">
                <a:solidFill>
                  <a:schemeClr val="accent4">
                    <a:lumMod val="75000"/>
                  </a:schemeClr>
                </a:solidFill>
              </a:rPr>
              <a:t>INDEPENDENT REFERENCES</a:t>
            </a:r>
          </a:p>
        </p:txBody>
      </p:sp>
      <p:graphicFrame>
        <p:nvGraphicFramePr>
          <p:cNvPr id="4" name="Campaign table"/>
          <p:cNvGraphicFramePr>
            <a:graphicFrameLocks noGrp="1"/>
          </p:cNvGraphicFramePr>
          <p:nvPr/>
        </p:nvGraphicFramePr>
        <p:xfrm>
          <a:off x="548640" y="1417320"/>
          <a:ext cx="11091672" cy="3950208"/>
        </p:xfrm>
        <a:graphic>
          <a:graphicData uri="http://schemas.openxmlformats.org/drawingml/2006/table">
            <a:tbl>
              <a:tblPr firstRow="1">
                <a:tableStyleId>{5C22544A-7EE6-4342-B048-85BDC9FD1C3A}</a:tableStyleId>
              </a:tblPr>
              <a:tblGrid>
                <a:gridCol w="2651760"/>
                <a:gridCol w="5971032"/>
                <a:gridCol w="2468880"/>
              </a:tblGrid>
              <a:tr h="658368">
                <a:tc>
                  <a:txBody>
                    <a:bodyPr wrap="square"/>
                    <a:lstStyle/>
                    <a:p>
                      <a:r>
                        <a:rPr sz="1400" b="1">
                          <a:solidFill>
                            <a:schemeClr val="bg1"/>
                          </a:solidFill>
                        </a:rPr>
                        <a:t>Campaign</a:t>
                      </a:r>
                    </a:p>
                  </a:txBody>
                  <a:tcPr marL="91440" marR="91440" marT="36576" marB="36576" anchor="ctr">
                    <a:solidFill>
                      <a:schemeClr val="tx2"/>
                    </a:solidFill>
                  </a:tcPr>
                </a:tc>
                <a:tc>
                  <a:txBody>
                    <a:bodyPr wrap="square"/>
                    <a:lstStyle/>
                    <a:p>
                      <a:r>
                        <a:rPr sz="1400" b="1">
                          <a:solidFill>
                            <a:schemeClr val="bg1"/>
                          </a:solidFill>
                        </a:rPr>
                        <a:t>Instrument</a:t>
                      </a:r>
                    </a:p>
                  </a:txBody>
                  <a:tcPr marL="91440" marR="91440" marT="36576" marB="36576" anchor="ctr">
                    <a:solidFill>
                      <a:schemeClr val="tx2"/>
                    </a:solidFill>
                  </a:tcPr>
                </a:tc>
                <a:tc>
                  <a:txBody>
                    <a:bodyPr wrap="square"/>
                    <a:lstStyle/>
                    <a:p>
                      <a:r>
                        <a:rPr sz="1400" b="1">
                          <a:solidFill>
                            <a:schemeClr val="bg1"/>
                          </a:solidFill>
                        </a:rPr>
                        <a:t>Result</a:t>
                      </a:r>
                    </a:p>
                  </a:txBody>
                  <a:tcPr marL="91440" marR="91440" marT="36576" marB="36576" anchor="ctr">
                    <a:solidFill>
                      <a:schemeClr val="tx2"/>
                    </a:solidFill>
                  </a:tcPr>
                </a:tc>
              </a:tr>
              <a:tr h="658368">
                <a:tc>
                  <a:txBody>
                    <a:bodyPr wrap="square"/>
                    <a:lstStyle/>
                    <a:p>
                      <a:r>
                        <a:rPr sz="1500" b="0">
                          <a:solidFill>
                            <a:schemeClr val="tx1"/>
                          </a:solidFill>
                        </a:rPr>
                        <a:t>OSDI correctness</a:t>
                      </a:r>
                    </a:p>
                  </a:txBody>
                  <a:tcPr marL="91440" marR="91440" marT="36576" marB="36576" anchor="ctr">
                    <a:solidFill>
                      <a:schemeClr val="bg1"/>
                    </a:solidFill>
                  </a:tcPr>
                </a:tc>
                <a:tc>
                  <a:txBody>
                    <a:bodyPr wrap="square"/>
                    <a:lstStyle/>
                    <a:p>
                      <a:r>
                        <a:rPr sz="1500" b="0">
                          <a:solidFill>
                            <a:schemeClr val="tx1"/>
                          </a:solidFill>
                        </a:rPr>
                        <a:t>83 oracle checks: analyses, sweeps, optimizers, Monte Carlo, RF</a:t>
                      </a:r>
                    </a:p>
                  </a:txBody>
                  <a:tcPr marL="91440" marR="91440" marT="36576" marB="36576" anchor="ctr">
                    <a:solidFill>
                      <a:schemeClr val="bg1"/>
                    </a:solidFill>
                  </a:tcPr>
                </a:tc>
                <a:tc>
                  <a:txBody>
                    <a:bodyPr wrap="square"/>
                    <a:lstStyle/>
                    <a:p>
                      <a:r>
                        <a:rPr sz="1500" b="0">
                          <a:solidFill>
                            <a:schemeClr val="tx1"/>
                          </a:solidFill>
                        </a:rPr>
                        <a:t>83 / 83</a:t>
                      </a:r>
                    </a:p>
                  </a:txBody>
                  <a:tcPr marL="91440" marR="91440" marT="36576" marB="36576" anchor="ctr">
                    <a:solidFill>
                      <a:schemeClr val="bg1"/>
                    </a:solidFill>
                  </a:tcPr>
                </a:tc>
              </a:tr>
              <a:tr h="658368">
                <a:tc>
                  <a:txBody>
                    <a:bodyPr wrap="square"/>
                    <a:lstStyle/>
                    <a:p>
                      <a:r>
                        <a:rPr sz="1500" b="0">
                          <a:solidFill>
                            <a:schemeClr val="tx1"/>
                          </a:solidFill>
                        </a:rPr>
                        <a:t>Sparse vs KLU</a:t>
                      </a:r>
                    </a:p>
                  </a:txBody>
                  <a:tcPr marL="91440" marR="91440" marT="36576" marB="36576" anchor="ctr">
                    <a:solidFill>
                      <a:schemeClr val="bg2"/>
                    </a:solidFill>
                  </a:tcPr>
                </a:tc>
                <a:tc>
                  <a:txBody>
                    <a:bodyPr wrap="square"/>
                    <a:lstStyle/>
                    <a:p>
                      <a:r>
                        <a:rPr sz="1500" b="0">
                          <a:solidFill>
                            <a:schemeClr val="tx1"/>
                          </a:solidFill>
                        </a:rPr>
                        <a:t>numpy as a third opinion; assert within eps · cond</a:t>
                      </a:r>
                    </a:p>
                  </a:txBody>
                  <a:tcPr marL="91440" marR="91440" marT="36576" marB="36576" anchor="ctr">
                    <a:solidFill>
                      <a:schemeClr val="bg2"/>
                    </a:solidFill>
                  </a:tcPr>
                </a:tc>
                <a:tc>
                  <a:txBody>
                    <a:bodyPr wrap="square"/>
                    <a:lstStyle/>
                    <a:p>
                      <a:r>
                        <a:rPr sz="1500" b="0">
                          <a:solidFill>
                            <a:schemeClr val="tx1"/>
                          </a:solidFill>
                        </a:rPr>
                        <a:t>37 / 37</a:t>
                      </a:r>
                    </a:p>
                  </a:txBody>
                  <a:tcPr marL="91440" marR="91440" marT="36576" marB="36576" anchor="ctr">
                    <a:solidFill>
                      <a:schemeClr val="bg2"/>
                    </a:solidFill>
                  </a:tcPr>
                </a:tc>
              </a:tr>
              <a:tr h="658368">
                <a:tc>
                  <a:txBody>
                    <a:bodyPr wrap="square"/>
                    <a:lstStyle/>
                    <a:p>
                      <a:r>
                        <a:rPr sz="1500" b="0">
                          <a:solidFill>
                            <a:schemeClr val="tx1"/>
                          </a:solidFill>
                        </a:rPr>
                        <a:t>Compiler robustness</a:t>
                      </a:r>
                    </a:p>
                  </a:txBody>
                  <a:tcPr marL="91440" marR="91440" marT="36576" marB="36576" anchor="ctr">
                    <a:solidFill>
                      <a:schemeClr val="bg1"/>
                    </a:solidFill>
                  </a:tcPr>
                </a:tc>
                <a:tc>
                  <a:txBody>
                    <a:bodyPr wrap="square"/>
                    <a:lstStyle/>
                    <a:p>
                      <a:r>
                        <a:rPr sz="1500" b="0">
                          <a:solidFill>
                            <a:schemeClr val="tx1"/>
                          </a:solidFill>
                        </a:rPr>
                        <a:t>production corpus, ~50 adversarial inputs, 4,000 mutants</a:t>
                      </a:r>
                    </a:p>
                  </a:txBody>
                  <a:tcPr marL="91440" marR="91440" marT="36576" marB="36576" anchor="ctr">
                    <a:solidFill>
                      <a:schemeClr val="bg1"/>
                    </a:solidFill>
                  </a:tcPr>
                </a:tc>
                <a:tc>
                  <a:txBody>
                    <a:bodyPr wrap="square"/>
                    <a:lstStyle/>
                    <a:p>
                      <a:r>
                        <a:rPr sz="1500" b="0">
                          <a:solidFill>
                            <a:schemeClr val="tx1"/>
                          </a:solidFill>
                        </a:rPr>
                        <a:t>4 crash paths fixed</a:t>
                      </a:r>
                    </a:p>
                  </a:txBody>
                  <a:tcPr marL="91440" marR="91440" marT="36576" marB="36576" anchor="ctr">
                    <a:solidFill>
                      <a:schemeClr val="bg1"/>
                    </a:solidFill>
                  </a:tcPr>
                </a:tc>
              </a:tr>
              <a:tr h="658368">
                <a:tc>
                  <a:txBody>
                    <a:bodyPr wrap="square"/>
                    <a:lstStyle/>
                    <a:p>
                      <a:r>
                        <a:rPr sz="1500" b="0">
                          <a:solidFill>
                            <a:schemeClr val="tx1"/>
                          </a:solidFill>
                        </a:rPr>
                        <a:t>LRM 2023 examples</a:t>
                      </a:r>
                    </a:p>
                  </a:txBody>
                  <a:tcPr marL="91440" marR="91440" marT="36576" marB="36576" anchor="ctr">
                    <a:solidFill>
                      <a:schemeClr val="bg2"/>
                    </a:solidFill>
                  </a:tcPr>
                </a:tc>
                <a:tc>
                  <a:txBody>
                    <a:bodyPr wrap="square"/>
                    <a:lstStyle/>
                    <a:p>
                      <a:r>
                        <a:rPr sz="1500" b="0">
                          <a:solidFill>
                            <a:schemeClr val="tx1"/>
                          </a:solidFill>
                        </a:rPr>
                        <a:t>every code example in the standard, compiled</a:t>
                      </a:r>
                    </a:p>
                  </a:txBody>
                  <a:tcPr marL="91440" marR="91440" marT="36576" marB="36576" anchor="ctr">
                    <a:solidFill>
                      <a:schemeClr val="bg2"/>
                    </a:solidFill>
                  </a:tcPr>
                </a:tc>
                <a:tc>
                  <a:txBody>
                    <a:bodyPr wrap="square"/>
                    <a:lstStyle/>
                    <a:p>
                      <a:r>
                        <a:rPr sz="1500" b="0">
                          <a:solidFill>
                            <a:schemeClr val="tx1"/>
                          </a:solidFill>
                        </a:rPr>
                        <a:t>a compliance suite</a:t>
                      </a:r>
                    </a:p>
                  </a:txBody>
                  <a:tcPr marL="91440" marR="91440" marT="36576" marB="36576" anchor="ctr">
                    <a:solidFill>
                      <a:schemeClr val="bg2"/>
                    </a:solidFill>
                  </a:tcPr>
                </a:tc>
              </a:tr>
              <a:tr h="658368">
                <a:tc>
                  <a:txBody>
                    <a:bodyPr wrap="square"/>
                    <a:lstStyle/>
                    <a:p>
                      <a:r>
                        <a:rPr sz="1500" b="0">
                          <a:solidFill>
                            <a:schemeClr val="tx1"/>
                          </a:solidFill>
                        </a:rPr>
                        <a:t>Correctness hunts</a:t>
                      </a:r>
                    </a:p>
                  </a:txBody>
                  <a:tcPr marL="91440" marR="91440" marT="36576" marB="36576" anchor="ctr">
                    <a:solidFill>
                      <a:schemeClr val="bg1"/>
                    </a:solidFill>
                  </a:tcPr>
                </a:tc>
                <a:tc>
                  <a:txBody>
                    <a:bodyPr wrap="square"/>
                    <a:lstStyle/>
                    <a:p>
                      <a:r>
                        <a:rPr sz="1500" b="0">
                          <a:solidFill>
                            <a:schemeClr val="tx1"/>
                          </a:solidFill>
                        </a:rPr>
                        <a:t>49 pages: OSDI, solvers, transient, nonlinear, analyses</a:t>
                      </a:r>
                    </a:p>
                  </a:txBody>
                  <a:tcPr marL="91440" marR="91440" marT="36576" marB="36576" anchor="ctr">
                    <a:solidFill>
                      <a:schemeClr val="bg1"/>
                    </a:solidFill>
                  </a:tcPr>
                </a:tc>
                <a:tc>
                  <a:txBody>
                    <a:bodyPr wrap="square"/>
                    <a:lstStyle/>
                    <a:p>
                      <a:r>
                        <a:rPr sz="1500" b="0">
                          <a:solidFill>
                            <a:schemeClr val="tx1"/>
                          </a:solidFill>
                        </a:rPr>
                        <a:t>each fix an enhancement</a:t>
                      </a:r>
                    </a:p>
                  </a:txBody>
                  <a:tcPr marL="91440" marR="91440" marT="36576" marB="36576" anchor="ctr">
                    <a:solidFill>
                      <a:schemeClr val="bg1"/>
                    </a:solidFill>
                  </a:tcPr>
                </a:tc>
              </a:tr>
            </a:tbl>
          </a:graphicData>
        </a:graphic>
      </p:graphicFrame>
      <p:sp>
        <p:nvSpPr>
          <p:cNvPr id="5" name="Campaign note"/>
          <p:cNvSpPr txBox="1"/>
          <p:nvPr/>
        </p:nvSpPr>
        <p:spPr>
          <a:xfrm>
            <a:off x="548640" y="5577840"/>
            <a:ext cx="11094415" cy="640080"/>
          </a:xfrm>
          <a:prstGeom prst="rect">
            <a:avLst/>
          </a:prstGeom>
          <a:noFill/>
        </p:spPr>
        <p:txBody>
          <a:bodyPr wrap="square" lIns="0" rIns="0" tIns="0" bIns="0" anchor="t">
            <a:spAutoFit/>
          </a:bodyPr>
          <a:lstStyle/>
          <a:p>
            <a:pPr algn="l"/>
            <a:r>
              <a:rPr sz="1500" b="0" i="1">
                <a:solidFill>
                  <a:schemeClr val="accent3"/>
                </a:solidFill>
              </a:rPr>
              <a:t>OSDI devices come out bit-identical to ngspice's built-in R, C, L and G through op, ac, tran, tf, pz and sens.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Milestones by enhancement number</a:t>
            </a:r>
          </a:p>
        </p:txBody>
      </p:sp>
      <p:sp>
        <p:nvSpPr>
          <p:cNvPr id="3" name="Kicker"/>
          <p:cNvSpPr txBox="1"/>
          <p:nvPr/>
        </p:nvSpPr>
        <p:spPr>
          <a:xfrm>
            <a:off x="548640" y="274320"/>
            <a:ext cx="11094415" cy="274320"/>
          </a:xfrm>
          <a:prstGeom prst="rect">
            <a:avLst/>
          </a:prstGeom>
          <a:noFill/>
        </p:spPr>
        <p:txBody>
          <a:bodyPr wrap="square" lIns="0" rIns="0" tIns="0" bIns="0" anchor="t">
            <a:spAutoFit/>
          </a:bodyPr>
          <a:lstStyle/>
          <a:p>
            <a:pPr algn="l"/>
            <a:r>
              <a:rPr sz="1100" b="1" i="0" spc="120">
                <a:solidFill>
                  <a:schemeClr val="accent4">
                    <a:lumMod val="75000"/>
                  </a:schemeClr>
                </a:solidFill>
              </a:rPr>
              <a:t>TIMELINE</a:t>
            </a:r>
          </a:p>
        </p:txBody>
      </p:sp>
      <p:sp>
        <p:nvSpPr>
          <p:cNvPr id="4" name="Timeline axis"/>
          <p:cNvSpPr/>
          <p:nvPr/>
        </p:nvSpPr>
        <p:spPr>
          <a:xfrm>
            <a:off x="548640" y="3813048"/>
            <a:ext cx="11094415" cy="54864"/>
          </a:xfrm>
          <a:prstGeom prst="rect">
            <a:avLst/>
          </a:prstGeom>
          <a:solidFill>
            <a:schemeClr val="accent3">
              <a:lumMod val="50000"/>
              <a:lumOff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Milestone E-1">
            <a:hlinkClick r:id="rId3"/>
          </p:cNvPr>
          <p:cNvSpPr/>
          <p:nvPr/>
        </p:nvSpPr>
        <p:spPr>
          <a:xfrm>
            <a:off x="1252728" y="3721608"/>
            <a:ext cx="237744" cy="23774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Milestone number E-1"/>
          <p:cNvSpPr txBox="1"/>
          <p:nvPr/>
        </p:nvSpPr>
        <p:spPr>
          <a:xfrm>
            <a:off x="566928" y="1874520"/>
            <a:ext cx="1609344" cy="347472"/>
          </a:xfrm>
          <a:prstGeom prst="rect">
            <a:avLst/>
          </a:prstGeom>
          <a:noFill/>
        </p:spPr>
        <p:txBody>
          <a:bodyPr wrap="square" lIns="0" rIns="0" tIns="0" bIns="0" anchor="t">
            <a:spAutoFit/>
          </a:bodyPr>
          <a:lstStyle/>
          <a:p>
            <a:pPr algn="ctr"/>
            <a:r>
              <a:rPr sz="1600" b="1" i="0">
                <a:solidFill>
                  <a:schemeClr val="accent1">
                    <a:lumMod val="80000"/>
                  </a:schemeClr>
                </a:solidFill>
                <a:latin typeface="+mj-lt"/>
              </a:rPr>
              <a:t>E-1</a:t>
            </a:r>
          </a:p>
        </p:txBody>
      </p:sp>
      <p:sp>
        <p:nvSpPr>
          <p:cNvPr id="7" name="Milestone text E-1"/>
          <p:cNvSpPr txBox="1"/>
          <p:nvPr/>
        </p:nvSpPr>
        <p:spPr>
          <a:xfrm>
            <a:off x="566928" y="2258568"/>
            <a:ext cx="1609344" cy="1051560"/>
          </a:xfrm>
          <a:prstGeom prst="rect">
            <a:avLst/>
          </a:prstGeom>
          <a:noFill/>
        </p:spPr>
        <p:txBody>
          <a:bodyPr wrap="square" lIns="0" rIns="0" tIns="0" bIns="0" anchor="t">
            <a:spAutoFit/>
          </a:bodyPr>
          <a:lstStyle/>
          <a:p>
            <a:pPr algn="ctr"/>
            <a:r>
              <a:rPr sz="1400" b="0" i="0">
                <a:solidFill>
                  <a:schemeClr val="tx1"/>
                </a:solidFill>
              </a:rPr>
              <a:t>absdelay, the first operator</a:t>
            </a:r>
          </a:p>
        </p:txBody>
      </p:sp>
      <p:sp>
        <p:nvSpPr>
          <p:cNvPr id="8" name="Milestone E-62">
            <a:hlinkClick r:id="rId4"/>
          </p:cNvPr>
          <p:cNvSpPr/>
          <p:nvPr/>
        </p:nvSpPr>
        <p:spPr>
          <a:xfrm>
            <a:off x="2111682" y="3721608"/>
            <a:ext cx="237744" cy="237744"/>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Milestone number E-62"/>
          <p:cNvSpPr txBox="1"/>
          <p:nvPr/>
        </p:nvSpPr>
        <p:spPr>
          <a:xfrm>
            <a:off x="1425882" y="4206240"/>
            <a:ext cx="1609344" cy="347472"/>
          </a:xfrm>
          <a:prstGeom prst="rect">
            <a:avLst/>
          </a:prstGeom>
          <a:noFill/>
        </p:spPr>
        <p:txBody>
          <a:bodyPr wrap="square" lIns="0" rIns="0" tIns="0" bIns="0" anchor="t">
            <a:spAutoFit/>
          </a:bodyPr>
          <a:lstStyle/>
          <a:p>
            <a:pPr algn="ctr"/>
            <a:r>
              <a:rPr sz="1600" b="1" i="0">
                <a:solidFill>
                  <a:schemeClr val="accent2">
                    <a:lumMod val="80000"/>
                  </a:schemeClr>
                </a:solidFill>
                <a:latin typeface="+mj-lt"/>
              </a:rPr>
              <a:t>E-62</a:t>
            </a:r>
          </a:p>
        </p:txBody>
      </p:sp>
      <p:sp>
        <p:nvSpPr>
          <p:cNvPr id="10" name="Milestone text E-62"/>
          <p:cNvSpPr txBox="1"/>
          <p:nvPr/>
        </p:nvSpPr>
        <p:spPr>
          <a:xfrm>
            <a:off x="1425882" y="4590288"/>
            <a:ext cx="1609344" cy="1051560"/>
          </a:xfrm>
          <a:prstGeom prst="rect">
            <a:avLst/>
          </a:prstGeom>
          <a:noFill/>
        </p:spPr>
        <p:txBody>
          <a:bodyPr wrap="square" lIns="0" rIns="0" tIns="0" bIns="0" anchor="t">
            <a:spAutoFit/>
          </a:bodyPr>
          <a:lstStyle/>
          <a:p>
            <a:pPr algn="ctr"/>
            <a:r>
              <a:rPr sz="1400" b="0" i="0">
                <a:solidFill>
                  <a:schemeClr val="tx1"/>
                </a:solidFill>
              </a:rPr>
              <a:t>.dc @inst sweeps</a:t>
            </a:r>
          </a:p>
        </p:txBody>
      </p:sp>
      <p:sp>
        <p:nvSpPr>
          <p:cNvPr id="11" name="Milestone E-110">
            <a:hlinkClick r:id="rId5"/>
          </p:cNvPr>
          <p:cNvSpPr/>
          <p:nvPr/>
        </p:nvSpPr>
        <p:spPr>
          <a:xfrm>
            <a:off x="2970636" y="3721608"/>
            <a:ext cx="237744" cy="237744"/>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Milestone number E-110"/>
          <p:cNvSpPr txBox="1"/>
          <p:nvPr/>
        </p:nvSpPr>
        <p:spPr>
          <a:xfrm>
            <a:off x="2284836" y="1874520"/>
            <a:ext cx="1609344" cy="347472"/>
          </a:xfrm>
          <a:prstGeom prst="rect">
            <a:avLst/>
          </a:prstGeom>
          <a:noFill/>
        </p:spPr>
        <p:txBody>
          <a:bodyPr wrap="square" lIns="0" rIns="0" tIns="0" bIns="0" anchor="t">
            <a:spAutoFit/>
          </a:bodyPr>
          <a:lstStyle/>
          <a:p>
            <a:pPr algn="ctr"/>
            <a:r>
              <a:rPr sz="1600" b="1" i="0">
                <a:solidFill>
                  <a:schemeClr val="accent2">
                    <a:lumMod val="80000"/>
                  </a:schemeClr>
                </a:solidFill>
                <a:latin typeface="+mj-lt"/>
              </a:rPr>
              <a:t>E-110</a:t>
            </a:r>
          </a:p>
        </p:txBody>
      </p:sp>
      <p:sp>
        <p:nvSpPr>
          <p:cNvPr id="13" name="Milestone text E-110"/>
          <p:cNvSpPr txBox="1"/>
          <p:nvPr/>
        </p:nvSpPr>
        <p:spPr>
          <a:xfrm>
            <a:off x="2284836" y="2258568"/>
            <a:ext cx="1609344" cy="1051560"/>
          </a:xfrm>
          <a:prstGeom prst="rect">
            <a:avLst/>
          </a:prstGeom>
          <a:noFill/>
        </p:spPr>
        <p:txBody>
          <a:bodyPr wrap="square" lIns="0" rIns="0" tIns="0" bIns="0" anchor="t">
            <a:spAutoFit/>
          </a:bodyPr>
          <a:lstStyle/>
          <a:p>
            <a:pPr algn="ctr"/>
            <a:r>
              <a:rPr sz="1400" b="0" i="0">
                <a:solidFill>
                  <a:schemeClr val="tx1"/>
                </a:solidFill>
              </a:rPr>
              <a:t>accuracy presets, line search</a:t>
            </a:r>
          </a:p>
        </p:txBody>
      </p:sp>
      <p:sp>
        <p:nvSpPr>
          <p:cNvPr id="14" name="Milestone E-134">
            <a:hlinkClick r:id="rId6"/>
          </p:cNvPr>
          <p:cNvSpPr/>
          <p:nvPr/>
        </p:nvSpPr>
        <p:spPr>
          <a:xfrm>
            <a:off x="3829590" y="3721608"/>
            <a:ext cx="237744" cy="237744"/>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Milestone number E-134"/>
          <p:cNvSpPr txBox="1"/>
          <p:nvPr/>
        </p:nvSpPr>
        <p:spPr>
          <a:xfrm>
            <a:off x="3143790" y="4206240"/>
            <a:ext cx="1609344" cy="347472"/>
          </a:xfrm>
          <a:prstGeom prst="rect">
            <a:avLst/>
          </a:prstGeom>
          <a:noFill/>
        </p:spPr>
        <p:txBody>
          <a:bodyPr wrap="square" lIns="0" rIns="0" tIns="0" bIns="0" anchor="t">
            <a:spAutoFit/>
          </a:bodyPr>
          <a:lstStyle/>
          <a:p>
            <a:pPr algn="ctr"/>
            <a:r>
              <a:rPr sz="1600" b="1" i="0">
                <a:solidFill>
                  <a:schemeClr val="accent2">
                    <a:lumMod val="80000"/>
                  </a:schemeClr>
                </a:solidFill>
                <a:latin typeface="+mj-lt"/>
              </a:rPr>
              <a:t>E-134</a:t>
            </a:r>
          </a:p>
        </p:txBody>
      </p:sp>
      <p:sp>
        <p:nvSpPr>
          <p:cNvPr id="16" name="Milestone text E-134"/>
          <p:cNvSpPr txBox="1"/>
          <p:nvPr/>
        </p:nvSpPr>
        <p:spPr>
          <a:xfrm>
            <a:off x="3143790" y="4590288"/>
            <a:ext cx="1609344" cy="1051560"/>
          </a:xfrm>
          <a:prstGeom prst="rect">
            <a:avLst/>
          </a:prstGeom>
          <a:noFill/>
        </p:spPr>
        <p:txBody>
          <a:bodyPr wrap="square" lIns="0" rIns="0" tIns="0" bIns="0" anchor="t">
            <a:spAutoFit/>
          </a:bodyPr>
          <a:lstStyle/>
          <a:p>
            <a:pPr algn="ctr"/>
            <a:r>
              <a:rPr sz="1400" b="0" i="0">
                <a:solidFill>
                  <a:schemeClr val="tx1"/>
                </a:solidFill>
              </a:rPr>
              <a:t>harmonic balance</a:t>
            </a:r>
          </a:p>
        </p:txBody>
      </p:sp>
      <p:sp>
        <p:nvSpPr>
          <p:cNvPr id="17" name="Milestone E-154">
            <a:hlinkClick r:id="rId7"/>
          </p:cNvPr>
          <p:cNvSpPr/>
          <p:nvPr/>
        </p:nvSpPr>
        <p:spPr>
          <a:xfrm>
            <a:off x="4688544" y="3721608"/>
            <a:ext cx="237744" cy="237744"/>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Milestone number E-154"/>
          <p:cNvSpPr txBox="1"/>
          <p:nvPr/>
        </p:nvSpPr>
        <p:spPr>
          <a:xfrm>
            <a:off x="4002744" y="1874520"/>
            <a:ext cx="1609344" cy="347472"/>
          </a:xfrm>
          <a:prstGeom prst="rect">
            <a:avLst/>
          </a:prstGeom>
          <a:noFill/>
        </p:spPr>
        <p:txBody>
          <a:bodyPr wrap="square" lIns="0" rIns="0" tIns="0" bIns="0" anchor="t">
            <a:spAutoFit/>
          </a:bodyPr>
          <a:lstStyle/>
          <a:p>
            <a:pPr algn="ctr"/>
            <a:r>
              <a:rPr sz="1600" b="1" i="0">
                <a:solidFill>
                  <a:schemeClr val="accent2">
                    <a:lumMod val="80000"/>
                  </a:schemeClr>
                </a:solidFill>
                <a:latin typeface="+mj-lt"/>
              </a:rPr>
              <a:t>E-154</a:t>
            </a:r>
          </a:p>
        </p:txBody>
      </p:sp>
      <p:sp>
        <p:nvSpPr>
          <p:cNvPr id="19" name="Milestone text E-154"/>
          <p:cNvSpPr txBox="1"/>
          <p:nvPr/>
        </p:nvSpPr>
        <p:spPr>
          <a:xfrm>
            <a:off x="4002744" y="2258568"/>
            <a:ext cx="1609344" cy="1051560"/>
          </a:xfrm>
          <a:prstGeom prst="rect">
            <a:avLst/>
          </a:prstGeom>
          <a:noFill/>
        </p:spPr>
        <p:txBody>
          <a:bodyPr wrap="square" lIns="0" rIns="0" tIns="0" bIns="0" anchor="t">
            <a:spAutoFit/>
          </a:bodyPr>
          <a:lstStyle/>
          <a:p>
            <a:pPr algn="ctr"/>
            <a:r>
              <a:rPr sz="1400" b="0" i="0">
                <a:solidFill>
                  <a:schemeClr val="tx1"/>
                </a:solidFill>
              </a:rPr>
              <a:t>envelope following completes the RF suite</a:t>
            </a:r>
          </a:p>
        </p:txBody>
      </p:sp>
      <p:sp>
        <p:nvSpPr>
          <p:cNvPr id="20" name="Milestone E-200">
            <a:hlinkClick r:id="rId8"/>
          </p:cNvPr>
          <p:cNvSpPr/>
          <p:nvPr/>
        </p:nvSpPr>
        <p:spPr>
          <a:xfrm>
            <a:off x="5547498" y="3721608"/>
            <a:ext cx="237744" cy="237744"/>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Milestone number E-200"/>
          <p:cNvSpPr txBox="1"/>
          <p:nvPr/>
        </p:nvSpPr>
        <p:spPr>
          <a:xfrm>
            <a:off x="4861698" y="4206240"/>
            <a:ext cx="1609344" cy="347472"/>
          </a:xfrm>
          <a:prstGeom prst="rect">
            <a:avLst/>
          </a:prstGeom>
          <a:noFill/>
        </p:spPr>
        <p:txBody>
          <a:bodyPr wrap="square" lIns="0" rIns="0" tIns="0" bIns="0" anchor="t">
            <a:spAutoFit/>
          </a:bodyPr>
          <a:lstStyle/>
          <a:p>
            <a:pPr algn="ctr"/>
            <a:r>
              <a:rPr sz="1600" b="1" i="0">
                <a:solidFill>
                  <a:schemeClr val="accent2">
                    <a:lumMod val="80000"/>
                  </a:schemeClr>
                </a:solidFill>
                <a:latin typeface="+mj-lt"/>
              </a:rPr>
              <a:t>E-200</a:t>
            </a:r>
          </a:p>
        </p:txBody>
      </p:sp>
      <p:sp>
        <p:nvSpPr>
          <p:cNvPr id="22" name="Milestone text E-200"/>
          <p:cNvSpPr txBox="1"/>
          <p:nvPr/>
        </p:nvSpPr>
        <p:spPr>
          <a:xfrm>
            <a:off x="4861698" y="4590288"/>
            <a:ext cx="1609344" cy="1051560"/>
          </a:xfrm>
          <a:prstGeom prst="rect">
            <a:avLst/>
          </a:prstGeom>
          <a:noFill/>
        </p:spPr>
        <p:txBody>
          <a:bodyPr wrap="square" lIns="0" rIns="0" tIns="0" bIns="0" anchor="t">
            <a:spAutoFit/>
          </a:bodyPr>
          <a:lstStyle/>
          <a:p>
            <a:pPr algn="ctr"/>
            <a:r>
              <a:rPr sz="1400" b="0" i="0">
                <a:solidFill>
                  <a:schemeClr val="tx1"/>
                </a:solidFill>
              </a:rPr>
              <a:t>pre_snp: Touchstone to OSDI</a:t>
            </a:r>
          </a:p>
        </p:txBody>
      </p:sp>
      <p:sp>
        <p:nvSpPr>
          <p:cNvPr id="23" name="Milestone E-364">
            <a:hlinkClick r:id="rId9"/>
          </p:cNvPr>
          <p:cNvSpPr/>
          <p:nvPr/>
        </p:nvSpPr>
        <p:spPr>
          <a:xfrm>
            <a:off x="6406452" y="3721608"/>
            <a:ext cx="237744" cy="237744"/>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Milestone number E-364"/>
          <p:cNvSpPr txBox="1"/>
          <p:nvPr/>
        </p:nvSpPr>
        <p:spPr>
          <a:xfrm>
            <a:off x="5720652" y="1874520"/>
            <a:ext cx="1609344" cy="347472"/>
          </a:xfrm>
          <a:prstGeom prst="rect">
            <a:avLst/>
          </a:prstGeom>
          <a:noFill/>
        </p:spPr>
        <p:txBody>
          <a:bodyPr wrap="square" lIns="0" rIns="0" tIns="0" bIns="0" anchor="t">
            <a:spAutoFit/>
          </a:bodyPr>
          <a:lstStyle/>
          <a:p>
            <a:pPr algn="ctr"/>
            <a:r>
              <a:rPr sz="1600" b="1" i="0">
                <a:solidFill>
                  <a:schemeClr val="accent2">
                    <a:lumMod val="80000"/>
                  </a:schemeClr>
                </a:solidFill>
                <a:latin typeface="+mj-lt"/>
              </a:rPr>
              <a:t>E-364</a:t>
            </a:r>
          </a:p>
        </p:txBody>
      </p:sp>
      <p:sp>
        <p:nvSpPr>
          <p:cNvPr id="25" name="Milestone text E-364"/>
          <p:cNvSpPr txBox="1"/>
          <p:nvPr/>
        </p:nvSpPr>
        <p:spPr>
          <a:xfrm>
            <a:off x="5720652" y="2258568"/>
            <a:ext cx="1609344" cy="1051560"/>
          </a:xfrm>
          <a:prstGeom prst="rect">
            <a:avLst/>
          </a:prstGeom>
          <a:noFill/>
        </p:spPr>
        <p:txBody>
          <a:bodyPr wrap="square" lIns="0" rIns="0" tIns="0" bIns="0" anchor="t">
            <a:spAutoFit/>
          </a:bodyPr>
          <a:lstStyle/>
          <a:p>
            <a:pPr algn="ctr"/>
            <a:r>
              <a:rPr sz="1400" b="0" i="0">
                <a:solidFill>
                  <a:schemeClr val="tx1"/>
                </a:solidFill>
              </a:rPr>
              <a:t>transient noise for OSDI devices</a:t>
            </a:r>
          </a:p>
        </p:txBody>
      </p:sp>
      <p:sp>
        <p:nvSpPr>
          <p:cNvPr id="26" name="Milestone E-530">
            <a:hlinkClick r:id="rId10"/>
          </p:cNvPr>
          <p:cNvSpPr/>
          <p:nvPr/>
        </p:nvSpPr>
        <p:spPr>
          <a:xfrm>
            <a:off x="7265406" y="3721608"/>
            <a:ext cx="237744" cy="23774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Milestone number E-530"/>
          <p:cNvSpPr txBox="1"/>
          <p:nvPr/>
        </p:nvSpPr>
        <p:spPr>
          <a:xfrm>
            <a:off x="6579606" y="4206240"/>
            <a:ext cx="1609344" cy="347472"/>
          </a:xfrm>
          <a:prstGeom prst="rect">
            <a:avLst/>
          </a:prstGeom>
          <a:noFill/>
        </p:spPr>
        <p:txBody>
          <a:bodyPr wrap="square" lIns="0" rIns="0" tIns="0" bIns="0" anchor="t">
            <a:spAutoFit/>
          </a:bodyPr>
          <a:lstStyle/>
          <a:p>
            <a:pPr algn="ctr"/>
            <a:r>
              <a:rPr sz="1600" b="1" i="0">
                <a:solidFill>
                  <a:schemeClr val="accent1">
                    <a:lumMod val="80000"/>
                  </a:schemeClr>
                </a:solidFill>
                <a:latin typeface="+mj-lt"/>
              </a:rPr>
              <a:t>E-530</a:t>
            </a:r>
          </a:p>
        </p:txBody>
      </p:sp>
      <p:sp>
        <p:nvSpPr>
          <p:cNvPr id="28" name="Milestone text E-530"/>
          <p:cNvSpPr txBox="1"/>
          <p:nvPr/>
        </p:nvSpPr>
        <p:spPr>
          <a:xfrm>
            <a:off x="6579606" y="4590288"/>
            <a:ext cx="1609344" cy="1051560"/>
          </a:xfrm>
          <a:prstGeom prst="rect">
            <a:avLst/>
          </a:prstGeom>
          <a:noFill/>
        </p:spPr>
        <p:txBody>
          <a:bodyPr wrap="square" lIns="0" rIns="0" tIns="0" bIns="0" anchor="t">
            <a:spAutoFit/>
          </a:bodyPr>
          <a:lstStyle/>
          <a:p>
            <a:pPr algn="ctr"/>
            <a:r>
              <a:rPr sz="1400" b="0" i="0">
                <a:solidFill>
                  <a:schemeClr val="tx1"/>
                </a:solidFill>
              </a:rPr>
              <a:t>statistics in Verilog-A</a:t>
            </a:r>
          </a:p>
        </p:txBody>
      </p:sp>
      <p:sp>
        <p:nvSpPr>
          <p:cNvPr id="29" name="Milestone E-654">
            <a:hlinkClick r:id="rId11"/>
          </p:cNvPr>
          <p:cNvSpPr/>
          <p:nvPr/>
        </p:nvSpPr>
        <p:spPr>
          <a:xfrm>
            <a:off x="8124360" y="3721608"/>
            <a:ext cx="237744" cy="23774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Milestone number E-654"/>
          <p:cNvSpPr txBox="1"/>
          <p:nvPr/>
        </p:nvSpPr>
        <p:spPr>
          <a:xfrm>
            <a:off x="7438560" y="1874520"/>
            <a:ext cx="1609344" cy="347472"/>
          </a:xfrm>
          <a:prstGeom prst="rect">
            <a:avLst/>
          </a:prstGeom>
          <a:noFill/>
        </p:spPr>
        <p:txBody>
          <a:bodyPr wrap="square" lIns="0" rIns="0" tIns="0" bIns="0" anchor="t">
            <a:spAutoFit/>
          </a:bodyPr>
          <a:lstStyle/>
          <a:p>
            <a:pPr algn="ctr"/>
            <a:r>
              <a:rPr sz="1600" b="1" i="0">
                <a:solidFill>
                  <a:schemeClr val="accent1">
                    <a:lumMod val="80000"/>
                  </a:schemeClr>
                </a:solidFill>
                <a:latin typeface="+mj-lt"/>
              </a:rPr>
              <a:t>E-654</a:t>
            </a:r>
          </a:p>
        </p:txBody>
      </p:sp>
      <p:sp>
        <p:nvSpPr>
          <p:cNvPr id="31" name="Milestone text E-654"/>
          <p:cNvSpPr txBox="1"/>
          <p:nvPr/>
        </p:nvSpPr>
        <p:spPr>
          <a:xfrm>
            <a:off x="7438560" y="2258568"/>
            <a:ext cx="1609344" cy="1051560"/>
          </a:xfrm>
          <a:prstGeom prst="rect">
            <a:avLst/>
          </a:prstGeom>
          <a:noFill/>
        </p:spPr>
        <p:txBody>
          <a:bodyPr wrap="square" lIns="0" rIns="0" tIns="0" bIns="0" anchor="t">
            <a:spAutoFit/>
          </a:bodyPr>
          <a:lstStyle/>
          <a:p>
            <a:pPr algn="ctr"/>
            <a:r>
              <a:rPr sz="1400" b="0" i="0">
                <a:solidFill>
                  <a:schemeClr val="tx1"/>
                </a:solidFill>
              </a:rPr>
              <a:t>corners in the source</a:t>
            </a:r>
          </a:p>
        </p:txBody>
      </p:sp>
      <p:sp>
        <p:nvSpPr>
          <p:cNvPr id="32" name="Milestone E-752">
            <a:hlinkClick r:id="rId12"/>
          </p:cNvPr>
          <p:cNvSpPr/>
          <p:nvPr/>
        </p:nvSpPr>
        <p:spPr>
          <a:xfrm>
            <a:off x="8983314" y="3721608"/>
            <a:ext cx="237744" cy="237744"/>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Milestone number E-752"/>
          <p:cNvSpPr txBox="1"/>
          <p:nvPr/>
        </p:nvSpPr>
        <p:spPr>
          <a:xfrm>
            <a:off x="8297514" y="4206240"/>
            <a:ext cx="1609344" cy="347472"/>
          </a:xfrm>
          <a:prstGeom prst="rect">
            <a:avLst/>
          </a:prstGeom>
          <a:noFill/>
        </p:spPr>
        <p:txBody>
          <a:bodyPr wrap="square" lIns="0" rIns="0" tIns="0" bIns="0" anchor="t">
            <a:spAutoFit/>
          </a:bodyPr>
          <a:lstStyle/>
          <a:p>
            <a:pPr algn="ctr"/>
            <a:r>
              <a:rPr sz="1600" b="1" i="0">
                <a:solidFill>
                  <a:schemeClr val="accent2">
                    <a:lumMod val="80000"/>
                  </a:schemeClr>
                </a:solidFill>
                <a:latin typeface="+mj-lt"/>
              </a:rPr>
              <a:t>E-752</a:t>
            </a:r>
          </a:p>
        </p:txBody>
      </p:sp>
      <p:sp>
        <p:nvSpPr>
          <p:cNvPr id="34" name="Milestone text E-752"/>
          <p:cNvSpPr txBox="1"/>
          <p:nvPr/>
        </p:nvSpPr>
        <p:spPr>
          <a:xfrm>
            <a:off x="8297514" y="4590288"/>
            <a:ext cx="1609344" cy="1051560"/>
          </a:xfrm>
          <a:prstGeom prst="rect">
            <a:avLst/>
          </a:prstGeom>
          <a:noFill/>
        </p:spPr>
        <p:txBody>
          <a:bodyPr wrap="square" lIns="0" rIns="0" tIns="0" bIns="0" anchor="t">
            <a:spAutoFit/>
          </a:bodyPr>
          <a:lstStyle/>
          <a:p>
            <a:pPr algn="ctr"/>
            <a:r>
              <a:rPr sz="1400" b="0" i="0">
                <a:solidFill>
                  <a:schemeClr val="tx1"/>
                </a:solidFill>
              </a:rPr>
              <a:t>PRBS and PAM4 sources</a:t>
            </a:r>
          </a:p>
        </p:txBody>
      </p:sp>
      <p:sp>
        <p:nvSpPr>
          <p:cNvPr id="35" name="Milestone E-765">
            <a:hlinkClick r:id="rId13"/>
          </p:cNvPr>
          <p:cNvSpPr/>
          <p:nvPr/>
        </p:nvSpPr>
        <p:spPr>
          <a:xfrm>
            <a:off x="9842269" y="3721608"/>
            <a:ext cx="237744" cy="237744"/>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Milestone number E-765"/>
          <p:cNvSpPr txBox="1"/>
          <p:nvPr/>
        </p:nvSpPr>
        <p:spPr>
          <a:xfrm>
            <a:off x="9156469" y="1874520"/>
            <a:ext cx="1609344" cy="347472"/>
          </a:xfrm>
          <a:prstGeom prst="rect">
            <a:avLst/>
          </a:prstGeom>
          <a:noFill/>
        </p:spPr>
        <p:txBody>
          <a:bodyPr wrap="square" lIns="0" rIns="0" tIns="0" bIns="0" anchor="t">
            <a:spAutoFit/>
          </a:bodyPr>
          <a:lstStyle/>
          <a:p>
            <a:pPr algn="ctr"/>
            <a:r>
              <a:rPr sz="1600" b="1" i="0">
                <a:solidFill>
                  <a:schemeClr val="accent2">
                    <a:lumMod val="80000"/>
                  </a:schemeClr>
                </a:solidFill>
                <a:latin typeface="+mj-lt"/>
              </a:rPr>
              <a:t>E-765</a:t>
            </a:r>
          </a:p>
        </p:txBody>
      </p:sp>
      <p:sp>
        <p:nvSpPr>
          <p:cNvPr id="37" name="Milestone text E-765"/>
          <p:cNvSpPr txBox="1"/>
          <p:nvPr/>
        </p:nvSpPr>
        <p:spPr>
          <a:xfrm>
            <a:off x="9156469" y="2258568"/>
            <a:ext cx="1609344" cy="1051560"/>
          </a:xfrm>
          <a:prstGeom prst="rect">
            <a:avLst/>
          </a:prstGeom>
          <a:noFill/>
        </p:spPr>
        <p:txBody>
          <a:bodyPr wrap="square" lIns="0" rIns="0" tIns="0" bIns="0" anchor="t">
            <a:spAutoFit/>
          </a:bodyPr>
          <a:lstStyle/>
          <a:p>
            <a:pPr algn="ctr"/>
            <a:r>
              <a:rPr sz="1400" b="0" i="0">
                <a:solidFill>
                  <a:schemeClr val="tx1"/>
                </a:solidFill>
              </a:rPr>
              <a:t>Bayesian optimization</a:t>
            </a:r>
          </a:p>
        </p:txBody>
      </p:sp>
      <p:sp>
        <p:nvSpPr>
          <p:cNvPr id="38" name="Milestone E-908">
            <a:hlinkClick r:id="rId14"/>
          </p:cNvPr>
          <p:cNvSpPr/>
          <p:nvPr/>
        </p:nvSpPr>
        <p:spPr>
          <a:xfrm>
            <a:off x="10701223" y="3721608"/>
            <a:ext cx="237744" cy="237744"/>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Milestone number E-908"/>
          <p:cNvSpPr txBox="1"/>
          <p:nvPr/>
        </p:nvSpPr>
        <p:spPr>
          <a:xfrm>
            <a:off x="10015423" y="4206240"/>
            <a:ext cx="1609344" cy="347472"/>
          </a:xfrm>
          <a:prstGeom prst="rect">
            <a:avLst/>
          </a:prstGeom>
          <a:noFill/>
        </p:spPr>
        <p:txBody>
          <a:bodyPr wrap="square" lIns="0" rIns="0" tIns="0" bIns="0" anchor="t">
            <a:spAutoFit/>
          </a:bodyPr>
          <a:lstStyle/>
          <a:p>
            <a:pPr algn="ctr"/>
            <a:r>
              <a:rPr sz="1600" b="1" i="0">
                <a:solidFill>
                  <a:schemeClr val="accent2">
                    <a:lumMod val="80000"/>
                  </a:schemeClr>
                </a:solidFill>
                <a:latin typeface="+mj-lt"/>
              </a:rPr>
              <a:t>E-908</a:t>
            </a:r>
          </a:p>
        </p:txBody>
      </p:sp>
      <p:sp>
        <p:nvSpPr>
          <p:cNvPr id="40" name="Milestone text E-908"/>
          <p:cNvSpPr txBox="1"/>
          <p:nvPr/>
        </p:nvSpPr>
        <p:spPr>
          <a:xfrm>
            <a:off x="10015423" y="4590288"/>
            <a:ext cx="1609344" cy="1051560"/>
          </a:xfrm>
          <a:prstGeom prst="rect">
            <a:avLst/>
          </a:prstGeom>
          <a:noFill/>
        </p:spPr>
        <p:txBody>
          <a:bodyPr wrap="square" lIns="0" rIns="0" tIns="0" bIns="0" anchor="t">
            <a:spAutoFit/>
          </a:bodyPr>
          <a:lstStyle/>
          <a:p>
            <a:pPr algn="ctr"/>
            <a:r>
              <a:rPr sz="1400" b="0" i="0">
                <a:solidFill>
                  <a:schemeClr val="tx1"/>
                </a:solidFill>
              </a:rPr>
              <a:t>TXL and CPL lossy lines</a:t>
            </a:r>
          </a:p>
        </p:txBody>
      </p:sp>
      <p:sp>
        <p:nvSpPr>
          <p:cNvPr id="41" name="Legend dot compiler"/>
          <p:cNvSpPr/>
          <p:nvPr/>
        </p:nvSpPr>
        <p:spPr>
          <a:xfrm>
            <a:off x="548640" y="5989320"/>
            <a:ext cx="201168" cy="20116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Legend compiler"/>
          <p:cNvSpPr txBox="1"/>
          <p:nvPr/>
        </p:nvSpPr>
        <p:spPr>
          <a:xfrm>
            <a:off x="841247" y="5943600"/>
            <a:ext cx="1097280" cy="274320"/>
          </a:xfrm>
          <a:prstGeom prst="rect">
            <a:avLst/>
          </a:prstGeom>
          <a:noFill/>
        </p:spPr>
        <p:txBody>
          <a:bodyPr wrap="square" lIns="0" rIns="0" tIns="0" bIns="0" anchor="t">
            <a:spAutoFit/>
          </a:bodyPr>
          <a:lstStyle/>
          <a:p>
            <a:pPr algn="l"/>
            <a:r>
              <a:rPr sz="1200" b="0" i="0">
                <a:solidFill>
                  <a:schemeClr val="accent3"/>
                </a:solidFill>
              </a:rPr>
              <a:t>compiler</a:t>
            </a:r>
          </a:p>
        </p:txBody>
      </p:sp>
      <p:sp>
        <p:nvSpPr>
          <p:cNvPr id="43" name="Legend dot simulator"/>
          <p:cNvSpPr/>
          <p:nvPr/>
        </p:nvSpPr>
        <p:spPr>
          <a:xfrm>
            <a:off x="2011680" y="5989320"/>
            <a:ext cx="201168" cy="201168"/>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Legend simulator"/>
          <p:cNvSpPr txBox="1"/>
          <p:nvPr/>
        </p:nvSpPr>
        <p:spPr>
          <a:xfrm>
            <a:off x="2304288" y="5943600"/>
            <a:ext cx="1097280" cy="274320"/>
          </a:xfrm>
          <a:prstGeom prst="rect">
            <a:avLst/>
          </a:prstGeom>
          <a:noFill/>
        </p:spPr>
        <p:txBody>
          <a:bodyPr wrap="square" lIns="0" rIns="0" tIns="0" bIns="0" anchor="t">
            <a:spAutoFit/>
          </a:bodyPr>
          <a:lstStyle/>
          <a:p>
            <a:pPr algn="l"/>
            <a:r>
              <a:rPr sz="1200" b="0" i="0">
                <a:solidFill>
                  <a:schemeClr val="accent3"/>
                </a:solidFill>
              </a:rPr>
              <a:t>simulator</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Five platforms, prebuilt</a:t>
            </a:r>
          </a:p>
        </p:txBody>
      </p:sp>
      <p:sp>
        <p:nvSpPr>
          <p:cNvPr id="3" name="Kicker"/>
          <p:cNvSpPr txBox="1"/>
          <p:nvPr/>
        </p:nvSpPr>
        <p:spPr>
          <a:xfrm>
            <a:off x="548640" y="274320"/>
            <a:ext cx="11094415" cy="274320"/>
          </a:xfrm>
          <a:prstGeom prst="rect">
            <a:avLst/>
          </a:prstGeom>
          <a:noFill/>
        </p:spPr>
        <p:txBody>
          <a:bodyPr wrap="square" lIns="0" rIns="0" tIns="0" bIns="0" anchor="t">
            <a:spAutoFit/>
          </a:bodyPr>
          <a:lstStyle/>
          <a:p>
            <a:pPr algn="l"/>
            <a:r>
              <a:rPr sz="1100" b="1" i="0" spc="120">
                <a:solidFill>
                  <a:schemeClr val="accent4">
                    <a:lumMod val="75000"/>
                  </a:schemeClr>
                </a:solidFill>
              </a:rPr>
              <a:t>BUILDS</a:t>
            </a:r>
          </a:p>
        </p:txBody>
      </p:sp>
      <p:graphicFrame>
        <p:nvGraphicFramePr>
          <p:cNvPr id="4" name="Platform table"/>
          <p:cNvGraphicFramePr>
            <a:graphicFrameLocks noGrp="1"/>
          </p:cNvGraphicFramePr>
          <p:nvPr/>
        </p:nvGraphicFramePr>
        <p:xfrm>
          <a:off x="548640" y="1417320"/>
          <a:ext cx="7315200" cy="3401568"/>
        </p:xfrm>
        <a:graphic>
          <a:graphicData uri="http://schemas.openxmlformats.org/drawingml/2006/table">
            <a:tbl>
              <a:tblPr firstRow="1">
                <a:tableStyleId>{5C22544A-7EE6-4342-B048-85BDC9FD1C3A}</a:tableStyleId>
              </a:tblPr>
              <a:tblGrid>
                <a:gridCol w="1828800"/>
                <a:gridCol w="2971800"/>
                <a:gridCol w="2514600"/>
              </a:tblGrid>
              <a:tr h="566928">
                <a:tc>
                  <a:txBody>
                    <a:bodyPr wrap="square"/>
                    <a:lstStyle/>
                    <a:p>
                      <a:r>
                        <a:rPr sz="1400" b="1">
                          <a:solidFill>
                            <a:schemeClr val="bg1"/>
                          </a:solidFill>
                        </a:rPr>
                        <a:t>Platform</a:t>
                      </a:r>
                    </a:p>
                  </a:txBody>
                  <a:tcPr marL="91440" marR="91440" marT="36576" marB="36576" anchor="ctr">
                    <a:solidFill>
                      <a:schemeClr val="tx2"/>
                    </a:solidFill>
                  </a:tcPr>
                </a:tc>
                <a:tc>
                  <a:txBody>
                    <a:bodyPr wrap="square"/>
                    <a:lstStyle/>
                    <a:p>
                      <a:r>
                        <a:rPr sz="1400" b="1">
                          <a:solidFill>
                            <a:schemeClr val="bg1"/>
                          </a:solidFill>
                        </a:rPr>
                        <a:t>Directory</a:t>
                      </a:r>
                    </a:p>
                  </a:txBody>
                  <a:tcPr marL="91440" marR="91440" marT="36576" marB="36576" anchor="ctr">
                    <a:solidFill>
                      <a:schemeClr val="tx2"/>
                    </a:solidFill>
                  </a:tcPr>
                </a:tc>
                <a:tc>
                  <a:txBody>
                    <a:bodyPr wrap="square"/>
                    <a:lstStyle/>
                    <a:p>
                      <a:r>
                        <a:rPr sz="1400" b="1">
                          <a:solidFill>
                            <a:schemeClr val="bg1"/>
                          </a:solidFill>
                        </a:rPr>
                        <a:t>Notes</a:t>
                      </a:r>
                    </a:p>
                  </a:txBody>
                  <a:tcPr marL="91440" marR="91440" marT="36576" marB="36576" anchor="ctr">
                    <a:solidFill>
                      <a:schemeClr val="tx2"/>
                    </a:solidFill>
                  </a:tcPr>
                </a:tc>
              </a:tr>
              <a:tr h="566928">
                <a:tc>
                  <a:txBody>
                    <a:bodyPr wrap="square"/>
                    <a:lstStyle/>
                    <a:p>
                      <a:r>
                        <a:rPr sz="1400" b="0">
                          <a:solidFill>
                            <a:schemeClr val="tx1"/>
                          </a:solidFill>
                        </a:rPr>
                        <a:t>Linux x86-64</a:t>
                      </a:r>
                    </a:p>
                  </a:txBody>
                  <a:tcPr marL="91440" marR="91440" marT="36576" marB="36576" anchor="ctr">
                    <a:solidFill>
                      <a:schemeClr val="bg1"/>
                    </a:solidFill>
                  </a:tcPr>
                </a:tc>
                <a:tc>
                  <a:txBody>
                    <a:bodyPr wrap="square"/>
                    <a:lstStyle/>
                    <a:p>
                      <a:r>
                        <a:rPr sz="1400" b="0">
                          <a:solidFill>
                            <a:schemeClr val="tx1"/>
                          </a:solidFill>
                          <a:latin typeface="Courier New"/>
                        </a:rPr>
                        <a:t>bin/linux/intel/</a:t>
                      </a:r>
                    </a:p>
                  </a:txBody>
                  <a:tcPr marL="91440" marR="91440" marT="36576" marB="36576" anchor="ctr">
                    <a:solidFill>
                      <a:schemeClr val="bg1"/>
                    </a:solidFill>
                  </a:tcPr>
                </a:tc>
                <a:tc>
                  <a:txBody>
                    <a:bodyPr wrap="square"/>
                    <a:lstStyle/>
                    <a:p>
                      <a:r>
                        <a:rPr sz="1400" b="0">
                          <a:solidFill>
                            <a:schemeClr val="tx1"/>
                          </a:solidFill>
                        </a:rPr>
                        <a:t>X11 and readline</a:t>
                      </a:r>
                    </a:p>
                  </a:txBody>
                  <a:tcPr marL="91440" marR="91440" marT="36576" marB="36576" anchor="ctr">
                    <a:solidFill>
                      <a:schemeClr val="bg1"/>
                    </a:solidFill>
                  </a:tcPr>
                </a:tc>
              </a:tr>
              <a:tr h="566928">
                <a:tc>
                  <a:txBody>
                    <a:bodyPr wrap="square"/>
                    <a:lstStyle/>
                    <a:p>
                      <a:r>
                        <a:rPr sz="1400" b="0">
                          <a:solidFill>
                            <a:schemeClr val="tx1"/>
                          </a:solidFill>
                        </a:rPr>
                        <a:t>Linux ARM64</a:t>
                      </a:r>
                    </a:p>
                  </a:txBody>
                  <a:tcPr marL="91440" marR="91440" marT="36576" marB="36576" anchor="ctr">
                    <a:solidFill>
                      <a:schemeClr val="bg2"/>
                    </a:solidFill>
                  </a:tcPr>
                </a:tc>
                <a:tc>
                  <a:txBody>
                    <a:bodyPr wrap="square"/>
                    <a:lstStyle/>
                    <a:p>
                      <a:r>
                        <a:rPr sz="1400" b="0">
                          <a:solidFill>
                            <a:schemeClr val="tx1"/>
                          </a:solidFill>
                          <a:latin typeface="Courier New"/>
                        </a:rPr>
                        <a:t>bin/linux/arm/</a:t>
                      </a:r>
                    </a:p>
                  </a:txBody>
                  <a:tcPr marL="91440" marR="91440" marT="36576" marB="36576" anchor="ctr">
                    <a:solidFill>
                      <a:schemeClr val="bg2"/>
                    </a:solidFill>
                  </a:tcPr>
                </a:tc>
                <a:tc>
                  <a:txBody>
                    <a:bodyPr wrap="square"/>
                    <a:lstStyle/>
                    <a:p>
                      <a:r>
                        <a:rPr sz="1400" b="0">
                          <a:solidFill>
                            <a:schemeClr val="tx1"/>
                          </a:solidFill>
                        </a:rPr>
                        <a:t>X11 and readline</a:t>
                      </a:r>
                    </a:p>
                  </a:txBody>
                  <a:tcPr marL="91440" marR="91440" marT="36576" marB="36576" anchor="ctr">
                    <a:solidFill>
                      <a:schemeClr val="bg2"/>
                    </a:solidFill>
                  </a:tcPr>
                </a:tc>
              </a:tr>
              <a:tr h="566928">
                <a:tc>
                  <a:txBody>
                    <a:bodyPr wrap="square"/>
                    <a:lstStyle/>
                    <a:p>
                      <a:r>
                        <a:rPr sz="1400" b="0">
                          <a:solidFill>
                            <a:schemeClr val="tx1"/>
                          </a:solidFill>
                        </a:rPr>
                        <a:t>macOS Apple Silicon</a:t>
                      </a:r>
                    </a:p>
                  </a:txBody>
                  <a:tcPr marL="91440" marR="91440" marT="36576" marB="36576" anchor="ctr">
                    <a:solidFill>
                      <a:schemeClr val="bg1"/>
                    </a:solidFill>
                  </a:tcPr>
                </a:tc>
                <a:tc>
                  <a:txBody>
                    <a:bodyPr wrap="square"/>
                    <a:lstStyle/>
                    <a:p>
                      <a:r>
                        <a:rPr sz="1400" b="0">
                          <a:solidFill>
                            <a:schemeClr val="tx1"/>
                          </a:solidFill>
                          <a:latin typeface="Courier New"/>
                        </a:rPr>
                        <a:t>bin/macos/apple-silicon/</a:t>
                      </a:r>
                    </a:p>
                  </a:txBody>
                  <a:tcPr marL="91440" marR="91440" marT="36576" marB="36576" anchor="ctr">
                    <a:solidFill>
                      <a:schemeClr val="bg1"/>
                    </a:solidFill>
                  </a:tcPr>
                </a:tc>
                <a:tc>
                  <a:txBody>
                    <a:bodyPr wrap="square"/>
                    <a:lstStyle/>
                    <a:p>
                      <a:r>
                        <a:rPr sz="1400" b="0">
                          <a:solidFill>
                            <a:schemeClr val="tx1"/>
                          </a:solidFill>
                        </a:rPr>
                        <a:t>XQuartz, Homebrew readline</a:t>
                      </a:r>
                    </a:p>
                  </a:txBody>
                  <a:tcPr marL="91440" marR="91440" marT="36576" marB="36576" anchor="ctr">
                    <a:solidFill>
                      <a:schemeClr val="bg1"/>
                    </a:solidFill>
                  </a:tcPr>
                </a:tc>
              </a:tr>
              <a:tr h="566928">
                <a:tc>
                  <a:txBody>
                    <a:bodyPr wrap="square"/>
                    <a:lstStyle/>
                    <a:p>
                      <a:r>
                        <a:rPr sz="1400" b="0">
                          <a:solidFill>
                            <a:schemeClr val="tx1"/>
                          </a:solidFill>
                        </a:rPr>
                        <a:t>macOS Intel</a:t>
                      </a:r>
                    </a:p>
                  </a:txBody>
                  <a:tcPr marL="91440" marR="91440" marT="36576" marB="36576" anchor="ctr">
                    <a:solidFill>
                      <a:schemeClr val="bg2"/>
                    </a:solidFill>
                  </a:tcPr>
                </a:tc>
                <a:tc>
                  <a:txBody>
                    <a:bodyPr wrap="square"/>
                    <a:lstStyle/>
                    <a:p>
                      <a:r>
                        <a:rPr sz="1400" b="0">
                          <a:solidFill>
                            <a:schemeClr val="tx1"/>
                          </a:solidFill>
                          <a:latin typeface="Courier New"/>
                        </a:rPr>
                        <a:t>bin/macos/intel/</a:t>
                      </a:r>
                    </a:p>
                  </a:txBody>
                  <a:tcPr marL="91440" marR="91440" marT="36576" marB="36576" anchor="ctr">
                    <a:solidFill>
                      <a:schemeClr val="bg2"/>
                    </a:solidFill>
                  </a:tcPr>
                </a:tc>
                <a:tc>
                  <a:txBody>
                    <a:bodyPr wrap="square"/>
                    <a:lstStyle/>
                    <a:p>
                      <a:r>
                        <a:rPr sz="1400" b="0">
                          <a:solidFill>
                            <a:schemeClr val="tx1"/>
                          </a:solidFill>
                        </a:rPr>
                        <a:t>XQuartz, Homebrew readline</a:t>
                      </a:r>
                    </a:p>
                  </a:txBody>
                  <a:tcPr marL="91440" marR="91440" marT="36576" marB="36576" anchor="ctr">
                    <a:solidFill>
                      <a:schemeClr val="bg2"/>
                    </a:solidFill>
                  </a:tcPr>
                </a:tc>
              </a:tr>
              <a:tr h="566928">
                <a:tc>
                  <a:txBody>
                    <a:bodyPr wrap="square"/>
                    <a:lstStyle/>
                    <a:p>
                      <a:r>
                        <a:rPr sz="1400" b="0">
                          <a:solidFill>
                            <a:schemeClr val="tx1"/>
                          </a:solidFill>
                        </a:rPr>
                        <a:t>Windows x86-64</a:t>
                      </a:r>
                    </a:p>
                  </a:txBody>
                  <a:tcPr marL="91440" marR="91440" marT="36576" marB="36576" anchor="ctr">
                    <a:solidFill>
                      <a:schemeClr val="bg1"/>
                    </a:solidFill>
                  </a:tcPr>
                </a:tc>
                <a:tc>
                  <a:txBody>
                    <a:bodyPr wrap="square"/>
                    <a:lstStyle/>
                    <a:p>
                      <a:r>
                        <a:rPr sz="1400" b="0">
                          <a:solidFill>
                            <a:schemeClr val="tx1"/>
                          </a:solidFill>
                          <a:latin typeface="Courier New"/>
                        </a:rPr>
                        <a:t>bin/windows/intel/</a:t>
                      </a:r>
                    </a:p>
                  </a:txBody>
                  <a:tcPr marL="91440" marR="91440" marT="36576" marB="36576" anchor="ctr">
                    <a:solidFill>
                      <a:schemeClr val="bg1"/>
                    </a:solidFill>
                  </a:tcPr>
                </a:tc>
                <a:tc>
                  <a:txBody>
                    <a:bodyPr wrap="square"/>
                    <a:lstStyle/>
                    <a:p>
                      <a:r>
                        <a:rPr sz="1400" b="0">
                          <a:solidFill>
                            <a:schemeClr val="tx1"/>
                          </a:solidFill>
                        </a:rPr>
                        <a:t>DLLs bundled; MSVC link.exe to compile Verilog-A</a:t>
                      </a:r>
                    </a:p>
                  </a:txBody>
                  <a:tcPr marL="91440" marR="91440" marT="36576" marB="36576" anchor="ctr">
                    <a:solidFill>
                      <a:schemeClr val="bg1"/>
                    </a:solidFill>
                  </a:tcPr>
                </a:tc>
              </a:tr>
            </a:tbl>
          </a:graphicData>
        </a:graphic>
      </p:graphicFrame>
      <p:sp>
        <p:nvSpPr>
          <p:cNvPr id="5" name="Code panel"/>
          <p:cNvSpPr/>
          <p:nvPr/>
        </p:nvSpPr>
        <p:spPr>
          <a:xfrm>
            <a:off x="548640" y="5074920"/>
            <a:ext cx="7315200" cy="1188719"/>
          </a:xfrm>
          <a:prstGeom prst="roundRect">
            <a:avLst>
              <a:gd name="adj" fmla="val 4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Code title"/>
          <p:cNvSpPr txBox="1"/>
          <p:nvPr/>
        </p:nvSpPr>
        <p:spPr>
          <a:xfrm>
            <a:off x="777240" y="5239512"/>
            <a:ext cx="6858000" cy="274320"/>
          </a:xfrm>
          <a:prstGeom prst="rect">
            <a:avLst/>
          </a:prstGeom>
          <a:noFill/>
        </p:spPr>
        <p:txBody>
          <a:bodyPr wrap="square" lIns="0" rIns="0" tIns="0" bIns="0" anchor="t">
            <a:spAutoFit/>
          </a:bodyPr>
          <a:lstStyle/>
          <a:p>
            <a:pPr algn="l"/>
            <a:r>
              <a:rPr sz="1200" b="1" i="0">
                <a:solidFill>
                  <a:schemeClr val="accent6"/>
                </a:solidFill>
              </a:rPr>
              <a:t>In every platform directory</a:t>
            </a:r>
          </a:p>
        </p:txBody>
      </p:sp>
      <p:sp>
        <p:nvSpPr>
          <p:cNvPr id="7" name="Code"/>
          <p:cNvSpPr txBox="1"/>
          <p:nvPr/>
        </p:nvSpPr>
        <p:spPr>
          <a:xfrm>
            <a:off x="777240" y="5605272"/>
            <a:ext cx="6858000" cy="521207"/>
          </a:xfrm>
          <a:prstGeom prst="rect">
            <a:avLst/>
          </a:prstGeom>
          <a:noFill/>
        </p:spPr>
        <p:txBody>
          <a:bodyPr wrap="square" lIns="0" rIns="0" tIns="0" bIns="0" anchor="t">
            <a:spAutoFit/>
          </a:bodyPr>
          <a:lstStyle/>
          <a:p>
            <a:pPr algn="l">
              <a:lnSpc>
                <a:spcPct val="100000"/>
              </a:lnSpc>
            </a:pPr>
            <a:r>
              <a:rPr sz="1300" b="0" i="0">
                <a:solidFill>
                  <a:schemeClr val="bg1"/>
                </a:solidFill>
                <a:latin typeface="Courier New"/>
              </a:rPr>
              <a:t>ngspice  openvaf-r  codemodels/*.cm  scripts/spinit</a:t>
            </a:r>
          </a:p>
        </p:txBody>
      </p:sp>
      <p:sp>
        <p:nvSpPr>
          <p:cNvPr id="8" name="Card From source"/>
          <p:cNvSpPr/>
          <p:nvPr/>
        </p:nvSpPr>
        <p:spPr>
          <a:xfrm>
            <a:off x="8138160" y="1417320"/>
            <a:ext cx="3504895" cy="1493519"/>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Card title From source"/>
          <p:cNvSpPr txBox="1"/>
          <p:nvPr/>
        </p:nvSpPr>
        <p:spPr>
          <a:xfrm>
            <a:off x="8302752" y="1536192"/>
            <a:ext cx="3175711" cy="292608"/>
          </a:xfrm>
          <a:prstGeom prst="rect">
            <a:avLst/>
          </a:prstGeom>
          <a:noFill/>
        </p:spPr>
        <p:txBody>
          <a:bodyPr wrap="square" lIns="0" rIns="0" tIns="0" bIns="0" anchor="ctr">
            <a:spAutoFit/>
          </a:bodyPr>
          <a:lstStyle/>
          <a:p>
            <a:pPr algn="l"/>
            <a:r>
              <a:rPr sz="1500" b="1" i="0">
                <a:solidFill>
                  <a:schemeClr val="tx2"/>
                </a:solidFill>
              </a:rPr>
              <a:t>From source</a:t>
            </a:r>
          </a:p>
        </p:txBody>
      </p:sp>
      <p:sp>
        <p:nvSpPr>
          <p:cNvPr id="10" name="Card body From source"/>
          <p:cNvSpPr txBox="1"/>
          <p:nvPr/>
        </p:nvSpPr>
        <p:spPr>
          <a:xfrm>
            <a:off x="8302752" y="1874519"/>
            <a:ext cx="3175711" cy="944879"/>
          </a:xfrm>
          <a:prstGeom prst="rect">
            <a:avLst/>
          </a:prstGeom>
          <a:noFill/>
        </p:spPr>
        <p:txBody>
          <a:bodyPr wrap="square" lIns="0" rIns="0" tIns="0" bIns="0" anchor="t">
            <a:spAutoFit/>
          </a:bodyPr>
          <a:lstStyle/>
          <a:p>
            <a:pPr algn="l"/>
            <a:r>
              <a:rPr sz="1400" b="0" i="0">
                <a:solidFill>
                  <a:schemeClr val="tx1"/>
                </a:solidFill>
              </a:rPr>
              <a:t>openvaf-r: Rust and exactly LLVM 18. ngspice-46: configure and make, handbook section 1.3.</a:t>
            </a:r>
          </a:p>
        </p:txBody>
      </p:sp>
      <p:sp>
        <p:nvSpPr>
          <p:cNvPr id="11" name="Card XSPICE"/>
          <p:cNvSpPr/>
          <p:nvPr/>
        </p:nvSpPr>
        <p:spPr>
          <a:xfrm>
            <a:off x="8138160" y="3093719"/>
            <a:ext cx="3504895" cy="1493519"/>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Card title XSPICE"/>
          <p:cNvSpPr txBox="1"/>
          <p:nvPr/>
        </p:nvSpPr>
        <p:spPr>
          <a:xfrm>
            <a:off x="8302752" y="3212591"/>
            <a:ext cx="3175711" cy="292608"/>
          </a:xfrm>
          <a:prstGeom prst="rect">
            <a:avLst/>
          </a:prstGeom>
          <a:noFill/>
        </p:spPr>
        <p:txBody>
          <a:bodyPr wrap="square" lIns="0" rIns="0" tIns="0" bIns="0" anchor="ctr">
            <a:spAutoFit/>
          </a:bodyPr>
          <a:lstStyle/>
          <a:p>
            <a:pPr algn="l"/>
            <a:r>
              <a:rPr sz="1500" b="1" i="0">
                <a:solidFill>
                  <a:schemeClr val="tx2"/>
                </a:solidFill>
              </a:rPr>
              <a:t>XSPICE</a:t>
            </a:r>
          </a:p>
        </p:txBody>
      </p:sp>
      <p:sp>
        <p:nvSpPr>
          <p:cNvPr id="13" name="Card body XSPICE"/>
          <p:cNvSpPr txBox="1"/>
          <p:nvPr/>
        </p:nvSpPr>
        <p:spPr>
          <a:xfrm>
            <a:off x="8302752" y="3550919"/>
            <a:ext cx="3175711" cy="652271"/>
          </a:xfrm>
          <a:prstGeom prst="rect">
            <a:avLst/>
          </a:prstGeom>
          <a:noFill/>
        </p:spPr>
        <p:txBody>
          <a:bodyPr wrap="square" lIns="0" rIns="0" tIns="0" bIns="0" anchor="t">
            <a:spAutoFit/>
          </a:bodyPr>
          <a:lstStyle/>
          <a:p>
            <a:pPr algn="l"/>
            <a:r>
              <a:rPr sz="1400" b="0" i="0">
                <a:solidFill>
                  <a:schemeClr val="tx1"/>
                </a:solidFill>
              </a:rPr>
              <a:t>Code models under codemodels/ with a portable spinit; set SPICE_LIB_DIR to load them.</a:t>
            </a:r>
          </a:p>
        </p:txBody>
      </p:sp>
      <p:sp>
        <p:nvSpPr>
          <p:cNvPr id="14" name="Chip E-223">
            <a:hlinkClick r:id="rId3"/>
          </p:cNvPr>
          <p:cNvSpPr/>
          <p:nvPr/>
        </p:nvSpPr>
        <p:spPr>
          <a:xfrm>
            <a:off x="8302752" y="4258055"/>
            <a:ext cx="662940" cy="219456"/>
          </a:xfrm>
          <a:prstGeom prst="roundRect">
            <a:avLst>
              <a:gd name="adj" fmla="val 50000"/>
            </a:avLst>
          </a:prstGeom>
          <a:solidFill>
            <a:schemeClr val="accent4">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4">
                    <a:lumMod val="65000"/>
                  </a:schemeClr>
                </a:solidFill>
              </a:rPr>
              <a:t>E-223</a:t>
            </a:r>
          </a:p>
        </p:txBody>
      </p:sp>
      <p:sp>
        <p:nvSpPr>
          <p:cNvPr id="15" name="Card Windows linking"/>
          <p:cNvSpPr/>
          <p:nvPr/>
        </p:nvSpPr>
        <p:spPr>
          <a:xfrm>
            <a:off x="8138160" y="4770119"/>
            <a:ext cx="3504895" cy="1493519"/>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Card title Windows linking"/>
          <p:cNvSpPr txBox="1"/>
          <p:nvPr/>
        </p:nvSpPr>
        <p:spPr>
          <a:xfrm>
            <a:off x="8302752" y="4888991"/>
            <a:ext cx="3175711" cy="292608"/>
          </a:xfrm>
          <a:prstGeom prst="rect">
            <a:avLst/>
          </a:prstGeom>
          <a:noFill/>
        </p:spPr>
        <p:txBody>
          <a:bodyPr wrap="square" lIns="0" rIns="0" tIns="0" bIns="0" anchor="ctr">
            <a:spAutoFit/>
          </a:bodyPr>
          <a:lstStyle/>
          <a:p>
            <a:pPr algn="l"/>
            <a:r>
              <a:rPr sz="1500" b="1" i="0">
                <a:solidFill>
                  <a:schemeClr val="tx2"/>
                </a:solidFill>
              </a:rPr>
              <a:t>Windows linking</a:t>
            </a:r>
          </a:p>
        </p:txBody>
      </p:sp>
      <p:sp>
        <p:nvSpPr>
          <p:cNvPr id="17" name="Card body Windows linking"/>
          <p:cNvSpPr txBox="1"/>
          <p:nvPr/>
        </p:nvSpPr>
        <p:spPr>
          <a:xfrm>
            <a:off x="8302752" y="5227319"/>
            <a:ext cx="3175711" cy="652271"/>
          </a:xfrm>
          <a:prstGeom prst="rect">
            <a:avLst/>
          </a:prstGeom>
          <a:noFill/>
        </p:spPr>
        <p:txBody>
          <a:bodyPr wrap="square" lIns="0" rIns="0" tIns="0" bIns="0" anchor="t">
            <a:spAutoFit/>
          </a:bodyPr>
          <a:lstStyle/>
          <a:p>
            <a:pPr algn="l"/>
            <a:r>
              <a:rPr sz="1400" b="0" i="0">
                <a:solidFill>
                  <a:schemeClr val="tx1"/>
                </a:solidFill>
              </a:rPr>
              <a:t>Every model links with MSVC on COFF since the weak-symbol fix.</a:t>
            </a:r>
          </a:p>
        </p:txBody>
      </p:sp>
      <p:sp>
        <p:nvSpPr>
          <p:cNvPr id="18" name="Chip E-769">
            <a:hlinkClick r:id="rId4"/>
          </p:cNvPr>
          <p:cNvSpPr/>
          <p:nvPr/>
        </p:nvSpPr>
        <p:spPr>
          <a:xfrm>
            <a:off x="8302752" y="5934455"/>
            <a:ext cx="662940" cy="219456"/>
          </a:xfrm>
          <a:prstGeom prst="roundRect">
            <a:avLst>
              <a:gd name="adj" fmla="val 50000"/>
            </a:avLst>
          </a:prstGeom>
          <a:solidFill>
            <a:schemeClr val="accent4">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a:solidFill>
                  <a:schemeClr val="accent4">
                    <a:lumMod val="65000"/>
                  </a:schemeClr>
                </a:solidFill>
              </a:rPr>
              <a:t>E-769</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Using it</a:t>
            </a:r>
          </a:p>
        </p:txBody>
      </p:sp>
      <p:sp>
        <p:nvSpPr>
          <p:cNvPr id="3" name="Text Placeholder 2"/>
          <p:cNvSpPr>
            <a:spLocks noGrp="1"/>
          </p:cNvSpPr>
          <p:nvPr>
            <p:ph type="body" idx="1"/>
          </p:nvPr>
        </p:nvSpPr>
        <p:spPr/>
        <p:txBody>
          <a:bodyPr/>
          <a:lstStyle/>
          <a:p>
            <a:r>
              <a:t>Part 4 · Getting started in four steps, the scope and known limits, and the documentation.</a:t>
            </a:r>
          </a:p>
        </p:txBody>
      </p:sp>
      <p:sp>
        <p:nvSpPr>
          <p:cNvPr id="4" name="Stat 609"/>
          <p:cNvSpPr/>
          <p:nvPr/>
        </p:nvSpPr>
        <p:spPr>
          <a:xfrm>
            <a:off x="8229600" y="2377440"/>
            <a:ext cx="3383280" cy="2103120"/>
          </a:xfrm>
          <a:prstGeom prst="roundRect">
            <a:avLst>
              <a:gd name="adj" fmla="val 6000"/>
            </a:avLst>
          </a:prstGeom>
          <a:solidFill>
            <a:schemeClr val="tx2">
              <a:lumMod val="88000"/>
              <a:lumOff val="1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Stat number 609"/>
          <p:cNvSpPr txBox="1"/>
          <p:nvPr/>
        </p:nvSpPr>
        <p:spPr>
          <a:xfrm>
            <a:off x="8458200" y="2560320"/>
            <a:ext cx="2926080" cy="868680"/>
          </a:xfrm>
          <a:prstGeom prst="rect">
            <a:avLst/>
          </a:prstGeom>
          <a:noFill/>
        </p:spPr>
        <p:txBody>
          <a:bodyPr wrap="square" lIns="0" rIns="0" tIns="0" bIns="0" anchor="t">
            <a:spAutoFit/>
          </a:bodyPr>
          <a:lstStyle/>
          <a:p>
            <a:pPr algn="l"/>
            <a:r>
              <a:rPr sz="6000" b="1" i="0">
                <a:solidFill>
                  <a:schemeClr val="accent6"/>
                </a:solidFill>
                <a:latin typeface="+mj-lt"/>
              </a:rPr>
              <a:t>609</a:t>
            </a:r>
          </a:p>
        </p:txBody>
      </p:sp>
      <p:sp>
        <p:nvSpPr>
          <p:cNvPr id="6" name="Stat label 609"/>
          <p:cNvSpPr txBox="1"/>
          <p:nvPr/>
        </p:nvSpPr>
        <p:spPr>
          <a:xfrm>
            <a:off x="8458200" y="3512820"/>
            <a:ext cx="2926080" cy="784859"/>
          </a:xfrm>
          <a:prstGeom prst="rect">
            <a:avLst/>
          </a:prstGeom>
          <a:noFill/>
        </p:spPr>
        <p:txBody>
          <a:bodyPr wrap="square" lIns="0" rIns="0" tIns="0" bIns="0" anchor="t">
            <a:spAutoFit/>
          </a:bodyPr>
          <a:lstStyle/>
          <a:p>
            <a:pPr algn="l"/>
            <a:r>
              <a:rPr sz="1600" b="0" i="0">
                <a:solidFill>
                  <a:schemeClr val="bg1"/>
                </a:solidFill>
              </a:rPr>
              <a:t>example folders, each a working reference for a feature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Getting started in four steps</a:t>
            </a:r>
          </a:p>
        </p:txBody>
      </p:sp>
      <p:sp>
        <p:nvSpPr>
          <p:cNvPr id="3" name="Kicker"/>
          <p:cNvSpPr txBox="1"/>
          <p:nvPr/>
        </p:nvSpPr>
        <p:spPr>
          <a:xfrm>
            <a:off x="548640" y="274320"/>
            <a:ext cx="11094415" cy="274320"/>
          </a:xfrm>
          <a:prstGeom prst="rect">
            <a:avLst/>
          </a:prstGeom>
          <a:noFill/>
        </p:spPr>
        <p:txBody>
          <a:bodyPr wrap="square" lIns="0" rIns="0" tIns="0" bIns="0" anchor="t">
            <a:spAutoFit/>
          </a:bodyPr>
          <a:lstStyle/>
          <a:p>
            <a:pPr algn="l"/>
            <a:r>
              <a:rPr sz="1100" b="1" i="0" spc="120">
                <a:solidFill>
                  <a:schemeClr val="accent3">
                    <a:lumMod val="75000"/>
                  </a:schemeClr>
                </a:solidFill>
              </a:rPr>
              <a:t>QUICK START</a:t>
            </a:r>
          </a:p>
        </p:txBody>
      </p:sp>
      <p:sp>
        <p:nvSpPr>
          <p:cNvPr id="4" name="Step number 1"/>
          <p:cNvSpPr/>
          <p:nvPr/>
        </p:nvSpPr>
        <p:spPr>
          <a:xfrm>
            <a:off x="548640" y="1417320"/>
            <a:ext cx="640080" cy="640080"/>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2200" b="1">
                <a:solidFill>
                  <a:schemeClr val="bg1"/>
                </a:solidFill>
              </a:rPr>
              <a:t>1</a:t>
            </a:r>
          </a:p>
        </p:txBody>
      </p:sp>
      <p:sp>
        <p:nvSpPr>
          <p:cNvPr id="5" name="Step title Get the binaries"/>
          <p:cNvSpPr txBox="1"/>
          <p:nvPr/>
        </p:nvSpPr>
        <p:spPr>
          <a:xfrm>
            <a:off x="1325880" y="1527048"/>
            <a:ext cx="1790623" cy="411480"/>
          </a:xfrm>
          <a:prstGeom prst="rect">
            <a:avLst/>
          </a:prstGeom>
          <a:noFill/>
        </p:spPr>
        <p:txBody>
          <a:bodyPr wrap="square" lIns="0" rIns="0" tIns="0" bIns="0" anchor="t">
            <a:spAutoFit/>
          </a:bodyPr>
          <a:lstStyle/>
          <a:p>
            <a:pPr algn="l"/>
            <a:r>
              <a:rPr sz="1700" b="1" i="0">
                <a:solidFill>
                  <a:schemeClr val="tx2"/>
                </a:solidFill>
              </a:rPr>
              <a:t>Get the binaries</a:t>
            </a:r>
          </a:p>
        </p:txBody>
      </p:sp>
      <p:sp>
        <p:nvSpPr>
          <p:cNvPr id="6" name="Step code panel Get the binaries"/>
          <p:cNvSpPr/>
          <p:nvPr/>
        </p:nvSpPr>
        <p:spPr>
          <a:xfrm>
            <a:off x="548640" y="2286000"/>
            <a:ext cx="2567863" cy="1463040"/>
          </a:xfrm>
          <a:prstGeom prst="roundRect">
            <a:avLst>
              <a:gd name="adj" fmla="val 4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Step code Get the binaries"/>
          <p:cNvSpPr txBox="1"/>
          <p:nvPr/>
        </p:nvSpPr>
        <p:spPr>
          <a:xfrm>
            <a:off x="731520" y="2423160"/>
            <a:ext cx="2202103" cy="1234440"/>
          </a:xfrm>
          <a:prstGeom prst="rect">
            <a:avLst/>
          </a:prstGeom>
          <a:noFill/>
        </p:spPr>
        <p:txBody>
          <a:bodyPr wrap="square" lIns="0" rIns="0" tIns="0" bIns="0" anchor="t">
            <a:spAutoFit/>
          </a:bodyPr>
          <a:lstStyle/>
          <a:p>
            <a:pPr algn="l">
              <a:lnSpc>
                <a:spcPct val="100000"/>
              </a:lnSpc>
            </a:pPr>
            <a:r>
              <a:rPr sz="1200" b="0" i="0">
                <a:solidFill>
                  <a:schemeClr val="bg1"/>
                </a:solidFill>
                <a:latin typeface="Courier New"/>
              </a:rPr>
              <a:t>bin/&lt;os&gt;/&lt;arch&gt;/</a:t>
            </a:r>
          </a:p>
          <a:p>
            <a:pPr algn="l">
              <a:lnSpc>
                <a:spcPct val="100000"/>
              </a:lnSpc>
            </a:pPr>
            <a:r>
              <a:rPr sz="1200" b="0" i="0">
                <a:solidFill>
                  <a:schemeClr val="bg1"/>
                </a:solidFill>
                <a:latin typeface="Courier New"/>
              </a:rPr>
              <a:t>  ngspice</a:t>
            </a:r>
          </a:p>
          <a:p>
            <a:pPr algn="l">
              <a:lnSpc>
                <a:spcPct val="100000"/>
              </a:lnSpc>
            </a:pPr>
            <a:r>
              <a:rPr sz="1200" b="0" i="0">
                <a:solidFill>
                  <a:schemeClr val="bg1"/>
                </a:solidFill>
                <a:latin typeface="Courier New"/>
              </a:rPr>
              <a:t>  openvaf-r</a:t>
            </a:r>
          </a:p>
          <a:p>
            <a:pPr algn="l">
              <a:lnSpc>
                <a:spcPct val="100000"/>
              </a:lnSpc>
            </a:pPr>
            <a:r>
              <a:rPr sz="1200" b="0" i="0">
                <a:solidFill>
                  <a:schemeClr val="bg1"/>
                </a:solidFill>
                <a:latin typeface="Courier New"/>
              </a:rPr>
              <a:t>  codemodels/</a:t>
            </a:r>
          </a:p>
        </p:txBody>
      </p:sp>
      <p:sp>
        <p:nvSpPr>
          <p:cNvPr id="8" name="Step note Get the binaries"/>
          <p:cNvSpPr txBox="1"/>
          <p:nvPr/>
        </p:nvSpPr>
        <p:spPr>
          <a:xfrm>
            <a:off x="548640" y="3886200"/>
            <a:ext cx="2567863" cy="548640"/>
          </a:xfrm>
          <a:prstGeom prst="rect">
            <a:avLst/>
          </a:prstGeom>
          <a:noFill/>
        </p:spPr>
        <p:txBody>
          <a:bodyPr wrap="square" lIns="0" rIns="0" tIns="0" bIns="0" anchor="t">
            <a:spAutoFit/>
          </a:bodyPr>
          <a:lstStyle/>
          <a:p>
            <a:pPr algn="l"/>
            <a:r>
              <a:rPr sz="1400" b="0" i="0">
                <a:solidFill>
                  <a:schemeClr val="tx1"/>
                </a:solidFill>
              </a:rPr>
              <a:t>Prebuilt for five platforms, or build from source</a:t>
            </a:r>
          </a:p>
        </p:txBody>
      </p:sp>
      <p:sp>
        <p:nvSpPr>
          <p:cNvPr id="9" name="Step number 2"/>
          <p:cNvSpPr/>
          <p:nvPr/>
        </p:nvSpPr>
        <p:spPr>
          <a:xfrm>
            <a:off x="3390823" y="1417320"/>
            <a:ext cx="640080" cy="640080"/>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2200" b="1">
                <a:solidFill>
                  <a:schemeClr val="bg1"/>
                </a:solidFill>
              </a:rPr>
              <a:t>2</a:t>
            </a:r>
          </a:p>
        </p:txBody>
      </p:sp>
      <p:sp>
        <p:nvSpPr>
          <p:cNvPr id="10" name="Step title Compile a model"/>
          <p:cNvSpPr txBox="1"/>
          <p:nvPr/>
        </p:nvSpPr>
        <p:spPr>
          <a:xfrm>
            <a:off x="4168063" y="1527048"/>
            <a:ext cx="1790623" cy="411480"/>
          </a:xfrm>
          <a:prstGeom prst="rect">
            <a:avLst/>
          </a:prstGeom>
          <a:noFill/>
        </p:spPr>
        <p:txBody>
          <a:bodyPr wrap="square" lIns="0" rIns="0" tIns="0" bIns="0" anchor="t">
            <a:spAutoFit/>
          </a:bodyPr>
          <a:lstStyle/>
          <a:p>
            <a:pPr algn="l"/>
            <a:r>
              <a:rPr sz="1700" b="1" i="0">
                <a:solidFill>
                  <a:schemeClr val="tx2"/>
                </a:solidFill>
              </a:rPr>
              <a:t>Compile a model</a:t>
            </a:r>
          </a:p>
        </p:txBody>
      </p:sp>
      <p:sp>
        <p:nvSpPr>
          <p:cNvPr id="11" name="Step code panel Compile a model"/>
          <p:cNvSpPr/>
          <p:nvPr/>
        </p:nvSpPr>
        <p:spPr>
          <a:xfrm>
            <a:off x="3390823" y="2286000"/>
            <a:ext cx="2567863" cy="1463040"/>
          </a:xfrm>
          <a:prstGeom prst="roundRect">
            <a:avLst>
              <a:gd name="adj" fmla="val 4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Step code Compile a model"/>
          <p:cNvSpPr txBox="1"/>
          <p:nvPr/>
        </p:nvSpPr>
        <p:spPr>
          <a:xfrm>
            <a:off x="3573703" y="2423160"/>
            <a:ext cx="2202103" cy="1234440"/>
          </a:xfrm>
          <a:prstGeom prst="rect">
            <a:avLst/>
          </a:prstGeom>
          <a:noFill/>
        </p:spPr>
        <p:txBody>
          <a:bodyPr wrap="square" lIns="0" rIns="0" tIns="0" bIns="0" anchor="t">
            <a:spAutoFit/>
          </a:bodyPr>
          <a:lstStyle/>
          <a:p>
            <a:pPr algn="l">
              <a:lnSpc>
                <a:spcPct val="100000"/>
              </a:lnSpc>
            </a:pPr>
            <a:r>
              <a:rPr sz="1200" b="0" i="0">
                <a:solidFill>
                  <a:schemeClr val="bg1"/>
                </a:solidFill>
                <a:latin typeface="Courier New"/>
              </a:rPr>
              <a:t>openvaf-r myres.va \</a:t>
            </a:r>
          </a:p>
          <a:p>
            <a:pPr algn="l">
              <a:lnSpc>
                <a:spcPct val="100000"/>
              </a:lnSpc>
            </a:pPr>
            <a:r>
              <a:rPr sz="1200" b="0" i="0">
                <a:solidFill>
                  <a:schemeClr val="bg1"/>
                </a:solidFill>
                <a:latin typeface="Courier New"/>
              </a:rPr>
              <a:t>  -o myres.osdi</a:t>
            </a:r>
          </a:p>
        </p:txBody>
      </p:sp>
      <p:sp>
        <p:nvSpPr>
          <p:cNvPr id="13" name="Step note Compile a model"/>
          <p:cNvSpPr txBox="1"/>
          <p:nvPr/>
        </p:nvSpPr>
        <p:spPr>
          <a:xfrm>
            <a:off x="3390823" y="3886200"/>
            <a:ext cx="2567863" cy="548640"/>
          </a:xfrm>
          <a:prstGeom prst="rect">
            <a:avLst/>
          </a:prstGeom>
          <a:noFill/>
        </p:spPr>
        <p:txBody>
          <a:bodyPr wrap="square" lIns="0" rIns="0" tIns="0" bIns="0" anchor="t">
            <a:spAutoFit/>
          </a:bodyPr>
          <a:lstStyle/>
          <a:p>
            <a:pPr algn="l"/>
            <a:r>
              <a:rPr sz="1400" b="0" i="0">
                <a:solidFill>
                  <a:schemeClr val="tx1"/>
                </a:solidFill>
              </a:rPr>
              <a:t>-I adds include paths and -D defines a macro</a:t>
            </a:r>
          </a:p>
        </p:txBody>
      </p:sp>
      <p:sp>
        <p:nvSpPr>
          <p:cNvPr id="14" name="Step number 3"/>
          <p:cNvSpPr/>
          <p:nvPr/>
        </p:nvSpPr>
        <p:spPr>
          <a:xfrm>
            <a:off x="6233007" y="1417320"/>
            <a:ext cx="640080" cy="640080"/>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2200" b="1">
                <a:solidFill>
                  <a:schemeClr val="bg1"/>
                </a:solidFill>
              </a:rPr>
              <a:t>3</a:t>
            </a:r>
          </a:p>
        </p:txBody>
      </p:sp>
      <p:sp>
        <p:nvSpPr>
          <p:cNvPr id="15" name="Step title Load it in a deck"/>
          <p:cNvSpPr txBox="1"/>
          <p:nvPr/>
        </p:nvSpPr>
        <p:spPr>
          <a:xfrm>
            <a:off x="7010247" y="1527048"/>
            <a:ext cx="1790623" cy="411480"/>
          </a:xfrm>
          <a:prstGeom prst="rect">
            <a:avLst/>
          </a:prstGeom>
          <a:noFill/>
        </p:spPr>
        <p:txBody>
          <a:bodyPr wrap="square" lIns="0" rIns="0" tIns="0" bIns="0" anchor="t">
            <a:spAutoFit/>
          </a:bodyPr>
          <a:lstStyle/>
          <a:p>
            <a:pPr algn="l"/>
            <a:r>
              <a:rPr sz="1700" b="1" i="0">
                <a:solidFill>
                  <a:schemeClr val="tx2"/>
                </a:solidFill>
              </a:rPr>
              <a:t>Load it in a deck</a:t>
            </a:r>
          </a:p>
        </p:txBody>
      </p:sp>
      <p:sp>
        <p:nvSpPr>
          <p:cNvPr id="16" name="Step code panel Load it in a deck"/>
          <p:cNvSpPr/>
          <p:nvPr/>
        </p:nvSpPr>
        <p:spPr>
          <a:xfrm>
            <a:off x="6233007" y="2286000"/>
            <a:ext cx="2567863" cy="1463040"/>
          </a:xfrm>
          <a:prstGeom prst="roundRect">
            <a:avLst>
              <a:gd name="adj" fmla="val 4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Step code Load it in a deck"/>
          <p:cNvSpPr txBox="1"/>
          <p:nvPr/>
        </p:nvSpPr>
        <p:spPr>
          <a:xfrm>
            <a:off x="6415887" y="2423160"/>
            <a:ext cx="2202103" cy="1234440"/>
          </a:xfrm>
          <a:prstGeom prst="rect">
            <a:avLst/>
          </a:prstGeom>
          <a:noFill/>
        </p:spPr>
        <p:txBody>
          <a:bodyPr wrap="square" lIns="0" rIns="0" tIns="0" bIns="0" anchor="t">
            <a:spAutoFit/>
          </a:bodyPr>
          <a:lstStyle/>
          <a:p>
            <a:pPr algn="l">
              <a:lnSpc>
                <a:spcPct val="100000"/>
              </a:lnSpc>
            </a:pPr>
            <a:r>
              <a:rPr sz="1200" b="0" i="0">
                <a:solidFill>
                  <a:schemeClr val="bg1"/>
                </a:solidFill>
                <a:latin typeface="Courier New"/>
              </a:rPr>
              <a:t>n1 in mid ra</a:t>
            </a:r>
          </a:p>
          <a:p>
            <a:pPr algn="l">
              <a:lnSpc>
                <a:spcPct val="100000"/>
              </a:lnSpc>
            </a:pPr>
            <a:r>
              <a:rPr sz="1200" b="0" i="0">
                <a:solidFill>
                  <a:schemeClr val="bg1"/>
                </a:solidFill>
                <a:latin typeface="Courier New"/>
              </a:rPr>
              <a:t>.model ra myres(r=1k)</a:t>
            </a:r>
          </a:p>
          <a:p>
            <a:pPr algn="l">
              <a:lnSpc>
                <a:spcPct val="100000"/>
              </a:lnSpc>
            </a:pPr>
            <a:r>
              <a:rPr sz="1200" b="0" i="0">
                <a:solidFill>
                  <a:schemeClr val="bg1"/>
                </a:solidFill>
                <a:latin typeface="Courier New"/>
              </a:rPr>
              <a:t>.control</a:t>
            </a:r>
          </a:p>
          <a:p>
            <a:pPr algn="l">
              <a:lnSpc>
                <a:spcPct val="100000"/>
              </a:lnSpc>
            </a:pPr>
            <a:r>
              <a:rPr sz="1200" b="0" i="0">
                <a:solidFill>
                  <a:schemeClr val="bg1"/>
                </a:solidFill>
                <a:latin typeface="Courier New"/>
              </a:rPr>
              <a:t>pre_osdi myres.osdi</a:t>
            </a:r>
          </a:p>
          <a:p>
            <a:pPr algn="l">
              <a:lnSpc>
                <a:spcPct val="100000"/>
              </a:lnSpc>
            </a:pPr>
            <a:r>
              <a:rPr sz="1200" b="0" i="0">
                <a:solidFill>
                  <a:schemeClr val="bg1"/>
                </a:solidFill>
                <a:latin typeface="Courier New"/>
              </a:rPr>
              <a:t>.endc</a:t>
            </a:r>
          </a:p>
        </p:txBody>
      </p:sp>
      <p:sp>
        <p:nvSpPr>
          <p:cNvPr id="18" name="Step note Load it in a deck"/>
          <p:cNvSpPr txBox="1"/>
          <p:nvPr/>
        </p:nvSpPr>
        <p:spPr>
          <a:xfrm>
            <a:off x="6233007" y="3886200"/>
            <a:ext cx="2567863" cy="548640"/>
          </a:xfrm>
          <a:prstGeom prst="rect">
            <a:avLst/>
          </a:prstGeom>
          <a:noFill/>
        </p:spPr>
        <p:txBody>
          <a:bodyPr wrap="square" lIns="0" rIns="0" tIns="0" bIns="0" anchor="t">
            <a:spAutoFit/>
          </a:bodyPr>
          <a:lstStyle/>
          <a:p>
            <a:pPr algn="l"/>
            <a:r>
              <a:rPr sz="1400" b="0" i="0">
                <a:solidFill>
                  <a:schemeClr val="tx1"/>
                </a:solidFill>
              </a:rPr>
              <a:t>N devices; the card names the module</a:t>
            </a:r>
          </a:p>
        </p:txBody>
      </p:sp>
      <p:sp>
        <p:nvSpPr>
          <p:cNvPr id="19" name="Step number 4"/>
          <p:cNvSpPr/>
          <p:nvPr/>
        </p:nvSpPr>
        <p:spPr>
          <a:xfrm>
            <a:off x="9075191" y="1417320"/>
            <a:ext cx="640080" cy="640080"/>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2200" b="1">
                <a:solidFill>
                  <a:schemeClr val="bg1"/>
                </a:solidFill>
              </a:rPr>
              <a:t>4</a:t>
            </a:r>
          </a:p>
        </p:txBody>
      </p:sp>
      <p:sp>
        <p:nvSpPr>
          <p:cNvPr id="20" name="Step title Run and explore"/>
          <p:cNvSpPr txBox="1"/>
          <p:nvPr/>
        </p:nvSpPr>
        <p:spPr>
          <a:xfrm>
            <a:off x="9852431" y="1527048"/>
            <a:ext cx="1790623" cy="411480"/>
          </a:xfrm>
          <a:prstGeom prst="rect">
            <a:avLst/>
          </a:prstGeom>
          <a:noFill/>
        </p:spPr>
        <p:txBody>
          <a:bodyPr wrap="square" lIns="0" rIns="0" tIns="0" bIns="0" anchor="t">
            <a:spAutoFit/>
          </a:bodyPr>
          <a:lstStyle/>
          <a:p>
            <a:pPr algn="l"/>
            <a:r>
              <a:rPr sz="1700" b="1" i="0">
                <a:solidFill>
                  <a:schemeClr val="tx2"/>
                </a:solidFill>
              </a:rPr>
              <a:t>Run and explore</a:t>
            </a:r>
          </a:p>
        </p:txBody>
      </p:sp>
      <p:sp>
        <p:nvSpPr>
          <p:cNvPr id="21" name="Step code panel Run and explore"/>
          <p:cNvSpPr/>
          <p:nvPr/>
        </p:nvSpPr>
        <p:spPr>
          <a:xfrm>
            <a:off x="9075191" y="2286000"/>
            <a:ext cx="2567863" cy="1463040"/>
          </a:xfrm>
          <a:prstGeom prst="roundRect">
            <a:avLst>
              <a:gd name="adj" fmla="val 4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Step code Run and explore"/>
          <p:cNvSpPr txBox="1"/>
          <p:nvPr/>
        </p:nvSpPr>
        <p:spPr>
          <a:xfrm>
            <a:off x="9258071" y="2423160"/>
            <a:ext cx="2202103" cy="1234440"/>
          </a:xfrm>
          <a:prstGeom prst="rect">
            <a:avLst/>
          </a:prstGeom>
          <a:noFill/>
        </p:spPr>
        <p:txBody>
          <a:bodyPr wrap="square" lIns="0" rIns="0" tIns="0" bIns="0" anchor="t">
            <a:spAutoFit/>
          </a:bodyPr>
          <a:lstStyle/>
          <a:p>
            <a:pPr algn="l">
              <a:lnSpc>
                <a:spcPct val="100000"/>
              </a:lnSpc>
            </a:pPr>
            <a:r>
              <a:rPr sz="1200" b="0" i="0">
                <a:solidFill>
                  <a:schemeClr val="bg1"/>
                </a:solidFill>
                <a:latin typeface="Courier New"/>
              </a:rPr>
              <a:t>ngspice -b divider.cir</a:t>
            </a:r>
          </a:p>
          <a:p>
            <a:pPr algn="l">
              <a:lnSpc>
                <a:spcPct val="100000"/>
              </a:lnSpc>
            </a:pPr>
            <a:r>
              <a:rPr sz="1200" b="0" i="0">
                <a:solidFill>
                  <a:schemeClr val="bg1"/>
                </a:solidFill>
                <a:latin typeface="Courier New"/>
              </a:rPr>
              <a:t>python3 examples/</a:t>
            </a:r>
          </a:p>
          <a:p>
            <a:pPr algn="l">
              <a:lnSpc>
                <a:spcPct val="100000"/>
              </a:lnSpc>
            </a:pPr>
            <a:r>
              <a:rPr sz="1200" b="0" i="0">
                <a:solidFill>
                  <a:schemeClr val="bg1"/>
                </a:solidFill>
                <a:latin typeface="Courier New"/>
              </a:rPr>
              <a:t>  dowhile_examples/</a:t>
            </a:r>
          </a:p>
          <a:p>
            <a:pPr algn="l">
              <a:lnSpc>
                <a:spcPct val="100000"/>
              </a:lnSpc>
            </a:pPr>
            <a:r>
              <a:rPr sz="1200" b="0" i="0">
                <a:solidFill>
                  <a:schemeClr val="bg1"/>
                </a:solidFill>
                <a:latin typeface="Courier New"/>
              </a:rPr>
              <a:t>  verify_dowhile.py</a:t>
            </a:r>
          </a:p>
        </p:txBody>
      </p:sp>
      <p:sp>
        <p:nvSpPr>
          <p:cNvPr id="23" name="Step note Run and explore"/>
          <p:cNvSpPr txBox="1"/>
          <p:nvPr/>
        </p:nvSpPr>
        <p:spPr>
          <a:xfrm>
            <a:off x="9075191" y="3886200"/>
            <a:ext cx="2567863" cy="548640"/>
          </a:xfrm>
          <a:prstGeom prst="rect">
            <a:avLst/>
          </a:prstGeom>
          <a:noFill/>
        </p:spPr>
        <p:txBody>
          <a:bodyPr wrap="square" lIns="0" rIns="0" tIns="0" bIns="0" anchor="t">
            <a:spAutoFit/>
          </a:bodyPr>
          <a:lstStyle/>
          <a:p>
            <a:pPr algn="l"/>
            <a:r>
              <a:rPr sz="1400" b="0" i="0">
                <a:solidFill>
                  <a:schemeClr val="tx1"/>
                </a:solidFill>
              </a:rPr>
              <a:t>Each verify script checks exact numbers</a:t>
            </a:r>
          </a:p>
        </p:txBody>
      </p:sp>
      <p:sp>
        <p:nvSpPr>
          <p:cNvPr id="24" name="Code panel"/>
          <p:cNvSpPr/>
          <p:nvPr/>
        </p:nvSpPr>
        <p:spPr>
          <a:xfrm>
            <a:off x="548640" y="4572000"/>
            <a:ext cx="5852160" cy="1691639"/>
          </a:xfrm>
          <a:prstGeom prst="roundRect">
            <a:avLst>
              <a:gd name="adj" fmla="val 4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Code title"/>
          <p:cNvSpPr txBox="1"/>
          <p:nvPr/>
        </p:nvSpPr>
        <p:spPr>
          <a:xfrm>
            <a:off x="777240" y="4736592"/>
            <a:ext cx="5394960" cy="274320"/>
          </a:xfrm>
          <a:prstGeom prst="rect">
            <a:avLst/>
          </a:prstGeom>
          <a:noFill/>
        </p:spPr>
        <p:txBody>
          <a:bodyPr wrap="square" lIns="0" rIns="0" tIns="0" bIns="0" anchor="t">
            <a:spAutoFit/>
          </a:bodyPr>
          <a:lstStyle/>
          <a:p>
            <a:pPr algn="l"/>
            <a:r>
              <a:rPr sz="1200" b="1" i="0">
                <a:solidFill>
                  <a:schemeClr val="accent6"/>
                </a:solidFill>
              </a:rPr>
              <a:t>myres.va, the model the steps use</a:t>
            </a:r>
          </a:p>
        </p:txBody>
      </p:sp>
      <p:sp>
        <p:nvSpPr>
          <p:cNvPr id="26" name="Code"/>
          <p:cNvSpPr txBox="1"/>
          <p:nvPr/>
        </p:nvSpPr>
        <p:spPr>
          <a:xfrm>
            <a:off x="777240" y="5102352"/>
            <a:ext cx="5394960" cy="1024127"/>
          </a:xfrm>
          <a:prstGeom prst="rect">
            <a:avLst/>
          </a:prstGeom>
          <a:noFill/>
        </p:spPr>
        <p:txBody>
          <a:bodyPr wrap="square" lIns="0" rIns="0" tIns="0" bIns="0" anchor="t">
            <a:spAutoFit/>
          </a:bodyPr>
          <a:lstStyle/>
          <a:p>
            <a:pPr algn="l">
              <a:lnSpc>
                <a:spcPct val="100000"/>
              </a:lnSpc>
            </a:pPr>
            <a:r>
              <a:rPr sz="1200" b="0" i="0">
                <a:solidFill>
                  <a:schemeClr val="bg1"/>
                </a:solidFill>
                <a:latin typeface="Courier New"/>
              </a:rPr>
              <a:t>`include "disciplines.vams"</a:t>
            </a:r>
          </a:p>
          <a:p>
            <a:pPr algn="l">
              <a:lnSpc>
                <a:spcPct val="100000"/>
              </a:lnSpc>
            </a:pPr>
            <a:r>
              <a:rPr sz="1200" b="0" i="0">
                <a:solidFill>
                  <a:schemeClr val="bg1"/>
                </a:solidFill>
                <a:latin typeface="Courier New"/>
              </a:rPr>
              <a:t>module myres(p, n);</a:t>
            </a:r>
          </a:p>
          <a:p>
            <a:pPr algn="l">
              <a:lnSpc>
                <a:spcPct val="100000"/>
              </a:lnSpc>
            </a:pPr>
            <a:r>
              <a:rPr sz="1200" b="0" i="0">
                <a:solidFill>
                  <a:schemeClr val="bg1"/>
                </a:solidFill>
                <a:latin typeface="Courier New"/>
              </a:rPr>
              <a:t>  inout p, n; electrical p, n;</a:t>
            </a:r>
          </a:p>
          <a:p>
            <a:pPr algn="l">
              <a:lnSpc>
                <a:spcPct val="100000"/>
              </a:lnSpc>
            </a:pPr>
            <a:r>
              <a:rPr sz="1200" b="0" i="0">
                <a:solidFill>
                  <a:schemeClr val="bg1"/>
                </a:solidFill>
                <a:latin typeface="Courier New"/>
              </a:rPr>
              <a:t>  parameter real r = 1k from (0:inf);</a:t>
            </a:r>
          </a:p>
          <a:p>
            <a:pPr algn="l">
              <a:lnSpc>
                <a:spcPct val="100000"/>
              </a:lnSpc>
            </a:pPr>
            <a:r>
              <a:rPr sz="1200" b="0" i="0">
                <a:solidFill>
                  <a:schemeClr val="bg1"/>
                </a:solidFill>
                <a:latin typeface="Courier New"/>
              </a:rPr>
              <a:t>  analog I(p, n) &lt;+ V(p, n) / r;</a:t>
            </a:r>
          </a:p>
          <a:p>
            <a:pPr algn="l">
              <a:lnSpc>
                <a:spcPct val="100000"/>
              </a:lnSpc>
            </a:pPr>
            <a:r>
              <a:rPr sz="1200" b="0" i="0">
                <a:solidFill>
                  <a:schemeClr val="bg1"/>
                </a:solidFill>
                <a:latin typeface="Courier New"/>
              </a:rPr>
              <a:t>endmodule</a:t>
            </a:r>
          </a:p>
        </p:txBody>
      </p:sp>
      <p:sp>
        <p:nvSpPr>
          <p:cNvPr id="27" name="Code panel"/>
          <p:cNvSpPr/>
          <p:nvPr/>
        </p:nvSpPr>
        <p:spPr>
          <a:xfrm>
            <a:off x="6675120" y="4572000"/>
            <a:ext cx="4967935" cy="1691639"/>
          </a:xfrm>
          <a:prstGeom prst="roundRect">
            <a:avLst>
              <a:gd name="adj" fmla="val 4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Code title"/>
          <p:cNvSpPr txBox="1"/>
          <p:nvPr/>
        </p:nvSpPr>
        <p:spPr>
          <a:xfrm>
            <a:off x="6903720" y="4736592"/>
            <a:ext cx="4510735" cy="274320"/>
          </a:xfrm>
          <a:prstGeom prst="rect">
            <a:avLst/>
          </a:prstGeom>
          <a:noFill/>
        </p:spPr>
        <p:txBody>
          <a:bodyPr wrap="square" lIns="0" rIns="0" tIns="0" bIns="0" anchor="t">
            <a:spAutoFit/>
          </a:bodyPr>
          <a:lstStyle/>
          <a:p>
            <a:pPr algn="l"/>
            <a:r>
              <a:rPr sz="1200" b="1" i="0">
                <a:solidFill>
                  <a:schemeClr val="accent6"/>
                </a:solidFill>
              </a:rPr>
              <a:t>What the run prints</a:t>
            </a:r>
          </a:p>
        </p:txBody>
      </p:sp>
      <p:sp>
        <p:nvSpPr>
          <p:cNvPr id="29" name="Code"/>
          <p:cNvSpPr txBox="1"/>
          <p:nvPr/>
        </p:nvSpPr>
        <p:spPr>
          <a:xfrm>
            <a:off x="6903720" y="5102352"/>
            <a:ext cx="4510735" cy="1024127"/>
          </a:xfrm>
          <a:prstGeom prst="rect">
            <a:avLst/>
          </a:prstGeom>
          <a:noFill/>
        </p:spPr>
        <p:txBody>
          <a:bodyPr wrap="square" lIns="0" rIns="0" tIns="0" bIns="0" anchor="t">
            <a:spAutoFit/>
          </a:bodyPr>
          <a:lstStyle/>
          <a:p>
            <a:pPr algn="l">
              <a:lnSpc>
                <a:spcPct val="100000"/>
              </a:lnSpc>
            </a:pPr>
            <a:r>
              <a:rPr sz="1200" b="0" i="0">
                <a:solidFill>
                  <a:schemeClr val="bg1"/>
                </a:solidFill>
                <a:latin typeface="Courier New"/>
              </a:rPr>
              <a:t>$ ngspice -b divider.cir</a:t>
            </a:r>
          </a:p>
          <a:p>
            <a:pPr algn="l">
              <a:lnSpc>
                <a:spcPct val="100000"/>
              </a:lnSpc>
            </a:pPr>
            <a:r>
              <a:rPr sz="1200" b="0" i="0">
                <a:solidFill>
                  <a:schemeClr val="bg1"/>
                </a:solidFill>
                <a:latin typeface="Courier New"/>
              </a:rPr>
              <a:t>v(mid) = 1.000000e+00</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Scope and known limits</a:t>
            </a:r>
          </a:p>
        </p:txBody>
      </p:sp>
      <p:sp>
        <p:nvSpPr>
          <p:cNvPr id="3" name="Kicker"/>
          <p:cNvSpPr txBox="1"/>
          <p:nvPr/>
        </p:nvSpPr>
        <p:spPr>
          <a:xfrm>
            <a:off x="548640" y="274320"/>
            <a:ext cx="11094415" cy="274320"/>
          </a:xfrm>
          <a:prstGeom prst="rect">
            <a:avLst/>
          </a:prstGeom>
          <a:noFill/>
        </p:spPr>
        <p:txBody>
          <a:bodyPr wrap="square" lIns="0" rIns="0" tIns="0" bIns="0" anchor="t">
            <a:spAutoFit/>
          </a:bodyPr>
          <a:lstStyle/>
          <a:p>
            <a:pPr algn="l"/>
            <a:r>
              <a:rPr sz="1100" b="1" i="0" spc="120">
                <a:solidFill>
                  <a:schemeClr val="accent5">
                    <a:lumMod val="75000"/>
                  </a:schemeClr>
                </a:solidFill>
              </a:rPr>
              <a:t>WHAT IT DOES NOT DO</a:t>
            </a:r>
          </a:p>
        </p:txBody>
      </p:sp>
      <p:sp>
        <p:nvSpPr>
          <p:cNvPr id="4" name="Limits Out of scope by design"/>
          <p:cNvSpPr/>
          <p:nvPr/>
        </p:nvSpPr>
        <p:spPr>
          <a:xfrm>
            <a:off x="548640" y="1417320"/>
            <a:ext cx="3515258" cy="484632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Limits dot Out of scope by design"/>
          <p:cNvSpPr/>
          <p:nvPr/>
        </p:nvSpPr>
        <p:spPr>
          <a:xfrm>
            <a:off x="777240" y="1691640"/>
            <a:ext cx="292608" cy="292608"/>
          </a:xfrm>
          <a:prstGeom prst="ellipse">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Limits title Out of scope by design"/>
          <p:cNvSpPr txBox="1"/>
          <p:nvPr/>
        </p:nvSpPr>
        <p:spPr>
          <a:xfrm>
            <a:off x="1207007" y="1645920"/>
            <a:ext cx="2646578" cy="384048"/>
          </a:xfrm>
          <a:prstGeom prst="rect">
            <a:avLst/>
          </a:prstGeom>
          <a:noFill/>
        </p:spPr>
        <p:txBody>
          <a:bodyPr wrap="square" lIns="0" rIns="0" tIns="0" bIns="0" anchor="t">
            <a:spAutoFit/>
          </a:bodyPr>
          <a:lstStyle/>
          <a:p>
            <a:pPr algn="l"/>
            <a:r>
              <a:rPr sz="1800" b="1" i="0">
                <a:solidFill>
                  <a:schemeClr val="tx2"/>
                </a:solidFill>
              </a:rPr>
              <a:t>Out of scope by design</a:t>
            </a:r>
          </a:p>
        </p:txBody>
      </p:sp>
      <p:sp>
        <p:nvSpPr>
          <p:cNvPr id="7" name="Limits bullets Out of scope by design"/>
          <p:cNvSpPr txBox="1"/>
          <p:nvPr/>
        </p:nvSpPr>
        <p:spPr>
          <a:xfrm>
            <a:off x="777240" y="2331720"/>
            <a:ext cx="3058058" cy="3703320"/>
          </a:xfrm>
          <a:prstGeom prst="rect">
            <a:avLst/>
          </a:prstGeom>
          <a:noFill/>
        </p:spPr>
        <p:txBody>
          <a:bodyPr wrap="square" lIns="0" rIns="0" tIns="0" bIns="0" anchor="t">
            <a:spAutoFit/>
          </a:bodyPr>
          <a:lstStyle/>
          <a:p>
            <a:pPr algn="l" marL="201168" indent="-201168">
              <a:spcAft>
                <a:spcPts val="1200"/>
              </a:spcAft>
              <a:buClr>
                <a:schemeClr val="accent3"/>
              </a:buClr>
              <a:buFont typeface="Arial"/>
              <a:buChar char="•"/>
            </a:pPr>
            <a:r>
              <a:rPr sz="1600" b="0" i="0">
                <a:solidFill>
                  <a:schemeClr val="tx1"/>
                </a:solidFill>
              </a:rPr>
              <a:t>Digital and mixed-signal Verilog-AMS: the Annex C boundary</a:t>
            </a:r>
          </a:p>
          <a:p>
            <a:pPr algn="l" marL="201168" indent="-201168">
              <a:spcAft>
                <a:spcPts val="1200"/>
              </a:spcAft>
              <a:buClr>
                <a:schemeClr val="accent3"/>
              </a:buClr>
              <a:buFont typeface="Arial"/>
              <a:buChar char="•"/>
            </a:pPr>
            <a:r>
              <a:rPr sz="1600" b="0" i="0">
                <a:solidFill>
                  <a:schemeClr val="tx1"/>
                </a:solidFill>
              </a:rPr>
              <a:t>SPICE primitives instantiated from Verilog-A: put them in the netlist</a:t>
            </a:r>
          </a:p>
          <a:p>
            <a:pPr algn="l" marL="201168" indent="-201168">
              <a:spcAft>
                <a:spcPts val="1200"/>
              </a:spcAft>
              <a:buClr>
                <a:schemeClr val="accent3"/>
              </a:buClr>
              <a:buFont typeface="Arial"/>
              <a:buChar char="•"/>
            </a:pPr>
            <a:r>
              <a:rPr sz="1600" b="0" i="0">
                <a:solidFill>
                  <a:schemeClr val="tx1"/>
                </a:solidFill>
              </a:rPr>
              <a:t>Vector branches over whole buses: declare per-bit branches</a:t>
            </a:r>
          </a:p>
          <a:p>
            <a:pPr algn="l" marL="201168" indent="-201168">
              <a:spcAft>
                <a:spcPts val="1200"/>
              </a:spcAft>
              <a:buClr>
                <a:schemeClr val="accent3"/>
              </a:buClr>
              <a:buFont typeface="Arial"/>
              <a:buChar char="•"/>
            </a:pPr>
            <a:r>
              <a:rPr sz="1600" b="0" i="0">
                <a:solidFill>
                  <a:schemeClr val="tx1"/>
                </a:solidFill>
              </a:rPr>
              <a:t>`default_discipline and out-of-module discipline declarations</a:t>
            </a:r>
          </a:p>
        </p:txBody>
      </p:sp>
      <p:sp>
        <p:nvSpPr>
          <p:cNvPr id="8" name="Limits Design decisions"/>
          <p:cNvSpPr/>
          <p:nvPr/>
        </p:nvSpPr>
        <p:spPr>
          <a:xfrm>
            <a:off x="4338218" y="1417320"/>
            <a:ext cx="3515258" cy="484632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Limits dot Design decisions"/>
          <p:cNvSpPr/>
          <p:nvPr/>
        </p:nvSpPr>
        <p:spPr>
          <a:xfrm>
            <a:off x="4566818" y="1691640"/>
            <a:ext cx="292608" cy="292608"/>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Limits title Design decisions"/>
          <p:cNvSpPr txBox="1"/>
          <p:nvPr/>
        </p:nvSpPr>
        <p:spPr>
          <a:xfrm>
            <a:off x="4996586" y="1645920"/>
            <a:ext cx="2646578" cy="384048"/>
          </a:xfrm>
          <a:prstGeom prst="rect">
            <a:avLst/>
          </a:prstGeom>
          <a:noFill/>
        </p:spPr>
        <p:txBody>
          <a:bodyPr wrap="square" lIns="0" rIns="0" tIns="0" bIns="0" anchor="t">
            <a:spAutoFit/>
          </a:bodyPr>
          <a:lstStyle/>
          <a:p>
            <a:pPr algn="l"/>
            <a:r>
              <a:rPr sz="1800" b="1" i="0">
                <a:solidFill>
                  <a:schemeClr val="tx2"/>
                </a:solidFill>
              </a:rPr>
              <a:t>Design decisions</a:t>
            </a:r>
          </a:p>
        </p:txBody>
      </p:sp>
      <p:sp>
        <p:nvSpPr>
          <p:cNvPr id="11" name="Limits bullets Design decisions"/>
          <p:cNvSpPr txBox="1"/>
          <p:nvPr/>
        </p:nvSpPr>
        <p:spPr>
          <a:xfrm>
            <a:off x="4566818" y="2331720"/>
            <a:ext cx="3058058" cy="3703320"/>
          </a:xfrm>
          <a:prstGeom prst="rect">
            <a:avLst/>
          </a:prstGeom>
          <a:noFill/>
        </p:spPr>
        <p:txBody>
          <a:bodyPr wrap="square" lIns="0" rIns="0" tIns="0" bIns="0" anchor="t">
            <a:spAutoFit/>
          </a:bodyPr>
          <a:lstStyle/>
          <a:p>
            <a:pPr algn="l" marL="201168" indent="-201168">
              <a:spcAft>
                <a:spcPts val="1200"/>
              </a:spcAft>
              <a:buClr>
                <a:schemeClr val="accent3"/>
              </a:buClr>
              <a:buFont typeface="Arial"/>
              <a:buChar char="•"/>
            </a:pPr>
            <a:r>
              <a:rPr sz="1600" b="0" i="0">
                <a:solidFill>
                  <a:schemeClr val="tx1"/>
                </a:solidFill>
              </a:rPr>
              <a:t>Structure binds at compile time: a generate bound cannot read a parameter</a:t>
            </a:r>
          </a:p>
          <a:p>
            <a:pPr algn="l" marL="201168" indent="-201168">
              <a:spcAft>
                <a:spcPts val="1200"/>
              </a:spcAft>
              <a:buClr>
                <a:schemeClr val="accent3"/>
              </a:buClr>
              <a:buFont typeface="Arial"/>
              <a:buChar char="•"/>
            </a:pPr>
            <a:r>
              <a:rPr sz="1600" b="0" i="0">
                <a:solidFill>
                  <a:schemeClr val="tx1"/>
                </a:solidFill>
              </a:rPr>
              <a:t>An untyped parameter takes its default's type</a:t>
            </a:r>
          </a:p>
          <a:p>
            <a:pPr algn="l" marL="201168" indent="-201168">
              <a:spcAft>
                <a:spcPts val="1200"/>
              </a:spcAft>
              <a:buClr>
                <a:schemeClr val="accent3"/>
              </a:buClr>
              <a:buFont typeface="Arial"/>
              <a:buChar char="•"/>
            </a:pPr>
            <a:r>
              <a:rPr sz="1600" b="0" i="0">
                <a:solidFill>
                  <a:schemeClr val="tx1"/>
                </a:solidFill>
              </a:rPr>
              <a:t>limexp is stateless, a documented decision</a:t>
            </a:r>
          </a:p>
          <a:p>
            <a:pPr algn="l" marL="201168" indent="-201168">
              <a:spcAft>
                <a:spcPts val="1200"/>
              </a:spcAft>
              <a:buClr>
                <a:schemeClr val="accent3"/>
              </a:buClr>
              <a:buFont typeface="Arial"/>
              <a:buChar char="•"/>
            </a:pPr>
            <a:r>
              <a:rPr sz="1600" b="0" i="0">
                <a:solidFill>
                  <a:schemeClr val="tx1"/>
                </a:solidFill>
              </a:rPr>
              <a:t>$simprobe returns its default; node aliases return 0</a:t>
            </a:r>
          </a:p>
        </p:txBody>
      </p:sp>
      <p:sp>
        <p:nvSpPr>
          <p:cNvPr id="12" name="Limits Open findings, stock devices"/>
          <p:cNvSpPr/>
          <p:nvPr/>
        </p:nvSpPr>
        <p:spPr>
          <a:xfrm>
            <a:off x="8127796" y="1417320"/>
            <a:ext cx="3515258" cy="484632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Limits dot Open findings, stock devices"/>
          <p:cNvSpPr/>
          <p:nvPr/>
        </p:nvSpPr>
        <p:spPr>
          <a:xfrm>
            <a:off x="8356396" y="1691640"/>
            <a:ext cx="292608" cy="292608"/>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Limits title Open findings, stock devices"/>
          <p:cNvSpPr txBox="1"/>
          <p:nvPr/>
        </p:nvSpPr>
        <p:spPr>
          <a:xfrm>
            <a:off x="8786164" y="1645920"/>
            <a:ext cx="2646578" cy="384048"/>
          </a:xfrm>
          <a:prstGeom prst="rect">
            <a:avLst/>
          </a:prstGeom>
          <a:noFill/>
        </p:spPr>
        <p:txBody>
          <a:bodyPr wrap="square" lIns="0" rIns="0" tIns="0" bIns="0" anchor="t">
            <a:spAutoFit/>
          </a:bodyPr>
          <a:lstStyle/>
          <a:p>
            <a:pPr algn="l"/>
            <a:r>
              <a:rPr sz="1800" b="1" i="0">
                <a:solidFill>
                  <a:schemeClr val="tx2"/>
                </a:solidFill>
              </a:rPr>
              <a:t>Open findings, stock devices</a:t>
            </a:r>
          </a:p>
        </p:txBody>
      </p:sp>
      <p:sp>
        <p:nvSpPr>
          <p:cNvPr id="15" name="Limits bullets Open findings, stock devices"/>
          <p:cNvSpPr txBox="1"/>
          <p:nvPr/>
        </p:nvSpPr>
        <p:spPr>
          <a:xfrm>
            <a:off x="8356396" y="2331720"/>
            <a:ext cx="3058058" cy="3703320"/>
          </a:xfrm>
          <a:prstGeom prst="rect">
            <a:avLst/>
          </a:prstGeom>
          <a:noFill/>
        </p:spPr>
        <p:txBody>
          <a:bodyPr wrap="square" lIns="0" rIns="0" tIns="0" bIns="0" anchor="t">
            <a:spAutoFit/>
          </a:bodyPr>
          <a:lstStyle/>
          <a:p>
            <a:pPr algn="l" marL="201168" indent="-201168">
              <a:spcAft>
                <a:spcPts val="1200"/>
              </a:spcAft>
              <a:buClr>
                <a:schemeClr val="accent3"/>
              </a:buClr>
              <a:buFont typeface="Arial"/>
              <a:buChar char="•"/>
            </a:pPr>
            <a:r>
              <a:rPr sz="1600" b="0" i="0">
                <a:solidFill>
                  <a:schemeClr val="tx1"/>
                </a:solidFill>
              </a:rPr>
              <a:t>.disto gives zeros for devices without a distortion routine</a:t>
            </a:r>
          </a:p>
          <a:p>
            <a:pPr algn="l" marL="201168" indent="-201168">
              <a:spcAft>
                <a:spcPts val="1200"/>
              </a:spcAft>
              <a:buClr>
                <a:schemeClr val="accent3"/>
              </a:buClr>
              <a:buFont typeface="Arial"/>
              <a:buChar char="•"/>
            </a:pPr>
            <a:r>
              <a:rPr sz="1600" b="0" i="0">
                <a:solidFill>
                  <a:schemeClr val="tx1"/>
                </a:solidFill>
              </a:rPr>
              <a:t>The built-in BJT's .disto with rb or tr</a:t>
            </a:r>
          </a:p>
          <a:p>
            <a:pPr algn="l" marL="201168" indent="-201168">
              <a:spcAft>
                <a:spcPts val="1200"/>
              </a:spcAft>
              <a:buClr>
                <a:schemeClr val="accent3"/>
              </a:buClr>
              <a:buFont typeface="Arial"/>
              <a:buChar char="•"/>
            </a:pPr>
            <a:r>
              <a:rPr sz="1600" b="0" i="0">
                <a:solidFill>
                  <a:schemeClr val="tx1"/>
                </a:solidFill>
              </a:rPr>
              <a:t>TXL has no AC model; CPL loses its resistance below its RC corner</a:t>
            </a:r>
          </a:p>
          <a:p>
            <a:pPr algn="l" marL="201168" indent="-201168">
              <a:spcAft>
                <a:spcPts val="1200"/>
              </a:spcAft>
              <a:buClr>
                <a:schemeClr val="accent3"/>
              </a:buClr>
              <a:buFont typeface="Arial"/>
              <a:buChar char="•"/>
            </a:pPr>
            <a:r>
              <a:rPr sz="1600" b="0" i="0">
                <a:solidFill>
                  <a:schemeClr val="tx1"/>
                </a:solidFill>
              </a:rPr>
              <a:t>LTRA can stop with 'timestep too small' on a long lossy line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Where to read more</a:t>
            </a:r>
          </a:p>
        </p:txBody>
      </p:sp>
      <p:sp>
        <p:nvSpPr>
          <p:cNvPr id="3" name="Kicker"/>
          <p:cNvSpPr txBox="1"/>
          <p:nvPr/>
        </p:nvSpPr>
        <p:spPr>
          <a:xfrm>
            <a:off x="548640" y="274320"/>
            <a:ext cx="11094415" cy="274320"/>
          </a:xfrm>
          <a:prstGeom prst="rect">
            <a:avLst/>
          </a:prstGeom>
          <a:noFill/>
        </p:spPr>
        <p:txBody>
          <a:bodyPr wrap="square" lIns="0" rIns="0" tIns="0" bIns="0" anchor="t">
            <a:spAutoFit/>
          </a:bodyPr>
          <a:lstStyle/>
          <a:p>
            <a:pPr algn="l"/>
            <a:r>
              <a:rPr sz="1100" b="1" i="0" spc="120">
                <a:solidFill>
                  <a:schemeClr val="accent3">
                    <a:lumMod val="75000"/>
                  </a:schemeClr>
                </a:solidFill>
              </a:rPr>
              <a:t>DOCUMENTATION</a:t>
            </a:r>
          </a:p>
        </p:txBody>
      </p:sp>
      <p:sp>
        <p:nvSpPr>
          <p:cNvPr id="4" name="Doc Feature catalog">
            <a:hlinkClick r:id="rId3"/>
          </p:cNvPr>
          <p:cNvSpPr/>
          <p:nvPr/>
        </p:nvSpPr>
        <p:spPr>
          <a:xfrm>
            <a:off x="548640" y="1417320"/>
            <a:ext cx="2602153" cy="230886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Doc dot Feature catalog"/>
          <p:cNvSpPr/>
          <p:nvPr/>
        </p:nvSpPr>
        <p:spPr>
          <a:xfrm>
            <a:off x="749808" y="1645920"/>
            <a:ext cx="274320" cy="27432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Doc title Feature catalog"/>
          <p:cNvSpPr txBox="1"/>
          <p:nvPr/>
        </p:nvSpPr>
        <p:spPr>
          <a:xfrm>
            <a:off x="1143000" y="1600200"/>
            <a:ext cx="1824913" cy="365760"/>
          </a:xfrm>
          <a:prstGeom prst="rect">
            <a:avLst/>
          </a:prstGeom>
          <a:noFill/>
        </p:spPr>
        <p:txBody>
          <a:bodyPr wrap="square" lIns="0" rIns="0" tIns="0" bIns="0" anchor="t">
            <a:spAutoFit/>
          </a:bodyPr>
          <a:lstStyle/>
          <a:p>
            <a:pPr algn="l"/>
            <a:r>
              <a:rPr sz="1700" b="1" i="0">
                <a:solidFill>
                  <a:schemeClr val="tx2"/>
                </a:solidFill>
              </a:rPr>
              <a:t>Feature catalog</a:t>
            </a:r>
          </a:p>
        </p:txBody>
      </p:sp>
      <p:sp>
        <p:nvSpPr>
          <p:cNvPr id="7" name="Doc path Feature catalog"/>
          <p:cNvSpPr txBox="1"/>
          <p:nvPr/>
        </p:nvSpPr>
        <p:spPr>
          <a:xfrm>
            <a:off x="749808" y="2148840"/>
            <a:ext cx="2199817" cy="594360"/>
          </a:xfrm>
          <a:prstGeom prst="rect">
            <a:avLst/>
          </a:prstGeom>
          <a:noFill/>
        </p:spPr>
        <p:txBody>
          <a:bodyPr wrap="square" lIns="0" rIns="0" tIns="0" bIns="0" anchor="t">
            <a:spAutoFit/>
          </a:bodyPr>
          <a:lstStyle/>
          <a:p>
            <a:pPr algn="l"/>
            <a:r>
              <a:rPr sz="1200" b="0" i="0">
                <a:solidFill>
                  <a:schemeClr val="accent1">
                    <a:lumMod val="70000"/>
                  </a:schemeClr>
                </a:solidFill>
                <a:latin typeface="Courier New"/>
              </a:rPr>
              <a:t>docs/index.html</a:t>
            </a:r>
          </a:p>
        </p:txBody>
      </p:sp>
      <p:sp>
        <p:nvSpPr>
          <p:cNvPr id="8" name="Doc text Feature catalog"/>
          <p:cNvSpPr txBox="1"/>
          <p:nvPr/>
        </p:nvSpPr>
        <p:spPr>
          <a:xfrm>
            <a:off x="749808" y="2788920"/>
            <a:ext cx="2199817" cy="754380"/>
          </a:xfrm>
          <a:prstGeom prst="rect">
            <a:avLst/>
          </a:prstGeom>
          <a:noFill/>
        </p:spPr>
        <p:txBody>
          <a:bodyPr wrap="square" lIns="0" rIns="0" tIns="0" bIns="0" anchor="t">
            <a:spAutoFit/>
          </a:bodyPr>
          <a:lstStyle/>
          <a:p>
            <a:pPr algn="l"/>
            <a:r>
              <a:rPr sz="1400" b="0" i="0">
                <a:solidFill>
                  <a:schemeClr val="tx1"/>
                </a:solidFill>
              </a:rPr>
              <a:t>every enhancement in 19 areas, searchable</a:t>
            </a:r>
          </a:p>
        </p:txBody>
      </p:sp>
      <p:sp>
        <p:nvSpPr>
          <p:cNvPr id="9" name="Doc User handbook">
            <a:hlinkClick r:id="rId4"/>
          </p:cNvPr>
          <p:cNvSpPr/>
          <p:nvPr/>
        </p:nvSpPr>
        <p:spPr>
          <a:xfrm>
            <a:off x="3379393" y="1417320"/>
            <a:ext cx="2602153" cy="230886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Doc dot User handbook"/>
          <p:cNvSpPr/>
          <p:nvPr/>
        </p:nvSpPr>
        <p:spPr>
          <a:xfrm>
            <a:off x="3580561" y="1645920"/>
            <a:ext cx="274320" cy="27432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Doc title User handbook"/>
          <p:cNvSpPr txBox="1"/>
          <p:nvPr/>
        </p:nvSpPr>
        <p:spPr>
          <a:xfrm>
            <a:off x="3973753" y="1600200"/>
            <a:ext cx="1824913" cy="365760"/>
          </a:xfrm>
          <a:prstGeom prst="rect">
            <a:avLst/>
          </a:prstGeom>
          <a:noFill/>
        </p:spPr>
        <p:txBody>
          <a:bodyPr wrap="square" lIns="0" rIns="0" tIns="0" bIns="0" anchor="t">
            <a:spAutoFit/>
          </a:bodyPr>
          <a:lstStyle/>
          <a:p>
            <a:pPr algn="l"/>
            <a:r>
              <a:rPr sz="1700" b="1" i="0">
                <a:solidFill>
                  <a:schemeClr val="tx2"/>
                </a:solidFill>
              </a:rPr>
              <a:t>User handbook</a:t>
            </a:r>
          </a:p>
        </p:txBody>
      </p:sp>
      <p:sp>
        <p:nvSpPr>
          <p:cNvPr id="12" name="Doc path User handbook"/>
          <p:cNvSpPr txBox="1"/>
          <p:nvPr/>
        </p:nvSpPr>
        <p:spPr>
          <a:xfrm>
            <a:off x="3580561" y="2148840"/>
            <a:ext cx="2199817" cy="594360"/>
          </a:xfrm>
          <a:prstGeom prst="rect">
            <a:avLst/>
          </a:prstGeom>
          <a:noFill/>
        </p:spPr>
        <p:txBody>
          <a:bodyPr wrap="square" lIns="0" rIns="0" tIns="0" bIns="0" anchor="t">
            <a:spAutoFit/>
          </a:bodyPr>
          <a:lstStyle/>
          <a:p>
            <a:pPr algn="l"/>
            <a:r>
              <a:rPr sz="1200" b="0" i="0">
                <a:solidFill>
                  <a:schemeClr val="accent1">
                    <a:lumMod val="70000"/>
                  </a:schemeClr>
                </a:solidFill>
                <a:latin typeface="Courier New"/>
              </a:rPr>
              <a:t>docs/handbook/</a:t>
            </a:r>
          </a:p>
        </p:txBody>
      </p:sp>
      <p:sp>
        <p:nvSpPr>
          <p:cNvPr id="13" name="Doc text User handbook"/>
          <p:cNvSpPr txBox="1"/>
          <p:nvPr/>
        </p:nvSpPr>
        <p:spPr>
          <a:xfrm>
            <a:off x="3580561" y="2788920"/>
            <a:ext cx="2199817" cy="754380"/>
          </a:xfrm>
          <a:prstGeom prst="rect">
            <a:avLst/>
          </a:prstGeom>
          <a:noFill/>
        </p:spPr>
        <p:txBody>
          <a:bodyPr wrap="square" lIns="0" rIns="0" tIns="0" bIns="0" anchor="t">
            <a:spAutoFit/>
          </a:bodyPr>
          <a:lstStyle/>
          <a:p>
            <a:pPr algn="l"/>
            <a:r>
              <a:rPr sz="1400" b="0" i="0">
                <a:solidFill>
                  <a:schemeClr val="tx1"/>
                </a:solidFill>
              </a:rPr>
              <a:t>start, language matrix, workflows, limits; PDF too</a:t>
            </a:r>
          </a:p>
        </p:txBody>
      </p:sp>
      <p:sp>
        <p:nvSpPr>
          <p:cNvPr id="14" name="Doc LRM compliance">
            <a:hlinkClick r:id="rId5"/>
          </p:cNvPr>
          <p:cNvSpPr/>
          <p:nvPr/>
        </p:nvSpPr>
        <p:spPr>
          <a:xfrm>
            <a:off x="6210147" y="1417320"/>
            <a:ext cx="2602153" cy="230886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Doc dot LRM compliance"/>
          <p:cNvSpPr/>
          <p:nvPr/>
        </p:nvSpPr>
        <p:spPr>
          <a:xfrm>
            <a:off x="6411315" y="1645920"/>
            <a:ext cx="274320" cy="27432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Doc title LRM compliance"/>
          <p:cNvSpPr txBox="1"/>
          <p:nvPr/>
        </p:nvSpPr>
        <p:spPr>
          <a:xfrm>
            <a:off x="6804507" y="1600200"/>
            <a:ext cx="1824913" cy="365760"/>
          </a:xfrm>
          <a:prstGeom prst="rect">
            <a:avLst/>
          </a:prstGeom>
          <a:noFill/>
        </p:spPr>
        <p:txBody>
          <a:bodyPr wrap="square" lIns="0" rIns="0" tIns="0" bIns="0" anchor="t">
            <a:spAutoFit/>
          </a:bodyPr>
          <a:lstStyle/>
          <a:p>
            <a:pPr algn="l"/>
            <a:r>
              <a:rPr sz="1700" b="1" i="0">
                <a:solidFill>
                  <a:schemeClr val="tx2"/>
                </a:solidFill>
              </a:rPr>
              <a:t>LRM compliance</a:t>
            </a:r>
          </a:p>
        </p:txBody>
      </p:sp>
      <p:sp>
        <p:nvSpPr>
          <p:cNvPr id="17" name="Doc path LRM compliance"/>
          <p:cNvSpPr txBox="1"/>
          <p:nvPr/>
        </p:nvSpPr>
        <p:spPr>
          <a:xfrm>
            <a:off x="6411315" y="2148840"/>
            <a:ext cx="2199817" cy="594360"/>
          </a:xfrm>
          <a:prstGeom prst="rect">
            <a:avLst/>
          </a:prstGeom>
          <a:noFill/>
        </p:spPr>
        <p:txBody>
          <a:bodyPr wrap="square" lIns="0" rIns="0" tIns="0" bIns="0" anchor="t">
            <a:spAutoFit/>
          </a:bodyPr>
          <a:lstStyle/>
          <a:p>
            <a:pPr algn="l"/>
            <a:r>
              <a:rPr sz="1200" b="0" i="0">
                <a:solidFill>
                  <a:schemeClr val="accent1">
                    <a:lumMod val="70000"/>
                  </a:schemeClr>
                </a:solidFill>
                <a:latin typeface="Courier New"/>
              </a:rPr>
              <a:t>docs/compliance/</a:t>
            </a:r>
          </a:p>
        </p:txBody>
      </p:sp>
      <p:sp>
        <p:nvSpPr>
          <p:cNvPr id="18" name="Doc text LRM compliance"/>
          <p:cNvSpPr txBox="1"/>
          <p:nvPr/>
        </p:nvSpPr>
        <p:spPr>
          <a:xfrm>
            <a:off x="6411315" y="2788920"/>
            <a:ext cx="2199817" cy="754380"/>
          </a:xfrm>
          <a:prstGeom prst="rect">
            <a:avLst/>
          </a:prstGeom>
          <a:noFill/>
        </p:spPr>
        <p:txBody>
          <a:bodyPr wrap="square" lIns="0" rIns="0" tIns="0" bIns="0" anchor="t">
            <a:spAutoFit/>
          </a:bodyPr>
          <a:lstStyle/>
          <a:p>
            <a:pPr algn="l"/>
            <a:r>
              <a:rPr sz="1400" b="0" i="0">
                <a:solidFill>
                  <a:schemeClr val="tx1"/>
                </a:solidFill>
              </a:rPr>
              <a:t>clause by clause, with verified code examples</a:t>
            </a:r>
          </a:p>
        </p:txBody>
      </p:sp>
      <p:sp>
        <p:nvSpPr>
          <p:cNvPr id="19" name="Doc Change reports">
            <a:hlinkClick r:id="rId6"/>
          </p:cNvPr>
          <p:cNvSpPr/>
          <p:nvPr/>
        </p:nvSpPr>
        <p:spPr>
          <a:xfrm>
            <a:off x="9040901" y="1417320"/>
            <a:ext cx="2602153" cy="230886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Doc dot Change reports"/>
          <p:cNvSpPr/>
          <p:nvPr/>
        </p:nvSpPr>
        <p:spPr>
          <a:xfrm>
            <a:off x="9242069" y="1645920"/>
            <a:ext cx="274320" cy="27432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Doc title Change reports"/>
          <p:cNvSpPr txBox="1"/>
          <p:nvPr/>
        </p:nvSpPr>
        <p:spPr>
          <a:xfrm>
            <a:off x="9635261" y="1600200"/>
            <a:ext cx="1824913" cy="365760"/>
          </a:xfrm>
          <a:prstGeom prst="rect">
            <a:avLst/>
          </a:prstGeom>
          <a:noFill/>
        </p:spPr>
        <p:txBody>
          <a:bodyPr wrap="square" lIns="0" rIns="0" tIns="0" bIns="0" anchor="t">
            <a:spAutoFit/>
          </a:bodyPr>
          <a:lstStyle/>
          <a:p>
            <a:pPr algn="l"/>
            <a:r>
              <a:rPr sz="1700" b="1" i="0">
                <a:solidFill>
                  <a:schemeClr val="tx2"/>
                </a:solidFill>
              </a:rPr>
              <a:t>Change reports</a:t>
            </a:r>
          </a:p>
        </p:txBody>
      </p:sp>
      <p:sp>
        <p:nvSpPr>
          <p:cNvPr id="22" name="Doc path Change reports"/>
          <p:cNvSpPr txBox="1"/>
          <p:nvPr/>
        </p:nvSpPr>
        <p:spPr>
          <a:xfrm>
            <a:off x="9242069" y="2148840"/>
            <a:ext cx="2199817" cy="594360"/>
          </a:xfrm>
          <a:prstGeom prst="rect">
            <a:avLst/>
          </a:prstGeom>
          <a:noFill/>
        </p:spPr>
        <p:txBody>
          <a:bodyPr wrap="square" lIns="0" rIns="0" tIns="0" bIns="0" anchor="t">
            <a:spAutoFit/>
          </a:bodyPr>
          <a:lstStyle/>
          <a:p>
            <a:pPr algn="l"/>
            <a:r>
              <a:rPr sz="1200" b="0" i="0">
                <a:solidFill>
                  <a:schemeClr val="accent1">
                    <a:lumMod val="70000"/>
                  </a:schemeClr>
                </a:solidFill>
                <a:latin typeface="Courier New"/>
              </a:rPr>
              <a:t>docs/change_log/</a:t>
            </a:r>
          </a:p>
        </p:txBody>
      </p:sp>
      <p:sp>
        <p:nvSpPr>
          <p:cNvPr id="23" name="Doc text Change reports"/>
          <p:cNvSpPr txBox="1"/>
          <p:nvPr/>
        </p:nvSpPr>
        <p:spPr>
          <a:xfrm>
            <a:off x="9242069" y="2788920"/>
            <a:ext cx="2199817" cy="754380"/>
          </a:xfrm>
          <a:prstGeom prst="rect">
            <a:avLst/>
          </a:prstGeom>
          <a:noFill/>
        </p:spPr>
        <p:txBody>
          <a:bodyPr wrap="square" lIns="0" rIns="0" tIns="0" bIns="0" anchor="t">
            <a:spAutoFit/>
          </a:bodyPr>
          <a:lstStyle/>
          <a:p>
            <a:pPr algn="l"/>
            <a:r>
              <a:rPr sz="1400" b="0" i="0">
                <a:solidFill>
                  <a:schemeClr val="tx1"/>
                </a:solidFill>
              </a:rPr>
              <a:t>every change to either tool, by subsystem</a:t>
            </a:r>
          </a:p>
        </p:txBody>
      </p:sp>
      <p:sp>
        <p:nvSpPr>
          <p:cNvPr id="24" name="Doc Compiler internals">
            <a:hlinkClick r:id="rId7"/>
          </p:cNvPr>
          <p:cNvSpPr/>
          <p:nvPr/>
        </p:nvSpPr>
        <p:spPr>
          <a:xfrm>
            <a:off x="548640" y="3954780"/>
            <a:ext cx="2602153" cy="230886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Doc dot Compiler internals"/>
          <p:cNvSpPr/>
          <p:nvPr/>
        </p:nvSpPr>
        <p:spPr>
          <a:xfrm>
            <a:off x="749808" y="4183380"/>
            <a:ext cx="274320" cy="274320"/>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Doc title Compiler internals"/>
          <p:cNvSpPr txBox="1"/>
          <p:nvPr/>
        </p:nvSpPr>
        <p:spPr>
          <a:xfrm>
            <a:off x="1143000" y="4137660"/>
            <a:ext cx="1824913" cy="365760"/>
          </a:xfrm>
          <a:prstGeom prst="rect">
            <a:avLst/>
          </a:prstGeom>
          <a:noFill/>
        </p:spPr>
        <p:txBody>
          <a:bodyPr wrap="square" lIns="0" rIns="0" tIns="0" bIns="0" anchor="t">
            <a:spAutoFit/>
          </a:bodyPr>
          <a:lstStyle/>
          <a:p>
            <a:pPr algn="l"/>
            <a:r>
              <a:rPr sz="1700" b="1" i="0">
                <a:solidFill>
                  <a:schemeClr val="tx2"/>
                </a:solidFill>
              </a:rPr>
              <a:t>Compiler internals</a:t>
            </a:r>
          </a:p>
        </p:txBody>
      </p:sp>
      <p:sp>
        <p:nvSpPr>
          <p:cNvPr id="27" name="Doc path Compiler internals"/>
          <p:cNvSpPr txBox="1"/>
          <p:nvPr/>
        </p:nvSpPr>
        <p:spPr>
          <a:xfrm>
            <a:off x="749808" y="4686300"/>
            <a:ext cx="2199817" cy="594360"/>
          </a:xfrm>
          <a:prstGeom prst="rect">
            <a:avLst/>
          </a:prstGeom>
          <a:noFill/>
        </p:spPr>
        <p:txBody>
          <a:bodyPr wrap="square" lIns="0" rIns="0" tIns="0" bIns="0" anchor="t">
            <a:spAutoFit/>
          </a:bodyPr>
          <a:lstStyle/>
          <a:p>
            <a:pPr algn="l"/>
            <a:r>
              <a:rPr sz="1200" b="0" i="0">
                <a:solidFill>
                  <a:schemeClr val="accent2">
                    <a:lumMod val="70000"/>
                  </a:schemeClr>
                </a:solidFill>
                <a:latin typeface="Courier New"/>
              </a:rPr>
              <a:t>docs/internals/</a:t>
            </a:r>
          </a:p>
          <a:p>
            <a:pPr algn="l"/>
            <a:r>
              <a:rPr sz="1200" b="0" i="0">
                <a:solidFill>
                  <a:schemeClr val="accent2">
                    <a:lumMod val="70000"/>
                  </a:schemeClr>
                </a:solidFill>
                <a:latin typeface="Courier New"/>
              </a:rPr>
              <a:t>openvaf_internals/</a:t>
            </a:r>
          </a:p>
        </p:txBody>
      </p:sp>
      <p:sp>
        <p:nvSpPr>
          <p:cNvPr id="28" name="Doc text Compiler internals"/>
          <p:cNvSpPr txBox="1"/>
          <p:nvPr/>
        </p:nvSpPr>
        <p:spPr>
          <a:xfrm>
            <a:off x="749808" y="5326380"/>
            <a:ext cx="2199817" cy="754380"/>
          </a:xfrm>
          <a:prstGeom prst="rect">
            <a:avLst/>
          </a:prstGeom>
          <a:noFill/>
        </p:spPr>
        <p:txBody>
          <a:bodyPr wrap="square" lIns="0" rIns="0" tIns="0" bIns="0" anchor="t">
            <a:spAutoFit/>
          </a:bodyPr>
          <a:lstStyle/>
          <a:p>
            <a:pPr algn="l"/>
            <a:r>
              <a:rPr sz="1400" b="0" i="0">
                <a:solidFill>
                  <a:schemeClr val="tx1"/>
                </a:solidFill>
              </a:rPr>
              <a:t>lexing to OSDI, robustness, compile time</a:t>
            </a:r>
          </a:p>
        </p:txBody>
      </p:sp>
      <p:sp>
        <p:nvSpPr>
          <p:cNvPr id="29" name="Doc Simulator internals">
            <a:hlinkClick r:id="rId8"/>
          </p:cNvPr>
          <p:cNvSpPr/>
          <p:nvPr/>
        </p:nvSpPr>
        <p:spPr>
          <a:xfrm>
            <a:off x="3379393" y="3954780"/>
            <a:ext cx="2602153" cy="230886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Doc dot Simulator internals"/>
          <p:cNvSpPr/>
          <p:nvPr/>
        </p:nvSpPr>
        <p:spPr>
          <a:xfrm>
            <a:off x="3580561" y="4183380"/>
            <a:ext cx="274320" cy="274320"/>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Doc title Simulator internals"/>
          <p:cNvSpPr txBox="1"/>
          <p:nvPr/>
        </p:nvSpPr>
        <p:spPr>
          <a:xfrm>
            <a:off x="3973753" y="4137660"/>
            <a:ext cx="1824913" cy="365760"/>
          </a:xfrm>
          <a:prstGeom prst="rect">
            <a:avLst/>
          </a:prstGeom>
          <a:noFill/>
        </p:spPr>
        <p:txBody>
          <a:bodyPr wrap="square" lIns="0" rIns="0" tIns="0" bIns="0" anchor="t">
            <a:spAutoFit/>
          </a:bodyPr>
          <a:lstStyle/>
          <a:p>
            <a:pPr algn="l"/>
            <a:r>
              <a:rPr sz="1700" b="1" i="0">
                <a:solidFill>
                  <a:schemeClr val="tx2"/>
                </a:solidFill>
              </a:rPr>
              <a:t>Simulator internals</a:t>
            </a:r>
          </a:p>
        </p:txBody>
      </p:sp>
      <p:sp>
        <p:nvSpPr>
          <p:cNvPr id="32" name="Doc path Simulator internals"/>
          <p:cNvSpPr txBox="1"/>
          <p:nvPr/>
        </p:nvSpPr>
        <p:spPr>
          <a:xfrm>
            <a:off x="3580561" y="4686300"/>
            <a:ext cx="2199817" cy="594360"/>
          </a:xfrm>
          <a:prstGeom prst="rect">
            <a:avLst/>
          </a:prstGeom>
          <a:noFill/>
        </p:spPr>
        <p:txBody>
          <a:bodyPr wrap="square" lIns="0" rIns="0" tIns="0" bIns="0" anchor="t">
            <a:spAutoFit/>
          </a:bodyPr>
          <a:lstStyle/>
          <a:p>
            <a:pPr algn="l"/>
            <a:r>
              <a:rPr sz="1200" b="0" i="0">
                <a:solidFill>
                  <a:schemeClr val="accent2">
                    <a:lumMod val="70000"/>
                  </a:schemeClr>
                </a:solidFill>
                <a:latin typeface="Courier New"/>
              </a:rPr>
              <a:t>docs/internals/</a:t>
            </a:r>
          </a:p>
          <a:p>
            <a:pPr algn="l"/>
            <a:r>
              <a:rPr sz="1200" b="0" i="0">
                <a:solidFill>
                  <a:schemeClr val="accent2">
                    <a:lumMod val="70000"/>
                  </a:schemeClr>
                </a:solidFill>
                <a:latin typeface="Courier New"/>
              </a:rPr>
              <a:t>ngspice_internals/</a:t>
            </a:r>
          </a:p>
        </p:txBody>
      </p:sp>
      <p:sp>
        <p:nvSpPr>
          <p:cNvPr id="33" name="Doc text Simulator internals"/>
          <p:cNvSpPr txBox="1"/>
          <p:nvPr/>
        </p:nvSpPr>
        <p:spPr>
          <a:xfrm>
            <a:off x="3580561" y="5326380"/>
            <a:ext cx="2199817" cy="754380"/>
          </a:xfrm>
          <a:prstGeom prst="rect">
            <a:avLst/>
          </a:prstGeom>
          <a:noFill/>
        </p:spPr>
        <p:txBody>
          <a:bodyPr wrap="square" lIns="0" rIns="0" tIns="0" bIns="0" anchor="t">
            <a:spAutoFit/>
          </a:bodyPr>
          <a:lstStyle/>
          <a:p>
            <a:pPr algn="l"/>
            <a:r>
              <a:rPr sz="1400" b="0" i="0">
                <a:solidFill>
                  <a:schemeClr val="tx1"/>
                </a:solidFill>
              </a:rPr>
              <a:t>parser to Newton loop; the gap analysis</a:t>
            </a:r>
          </a:p>
        </p:txBody>
      </p:sp>
      <p:sp>
        <p:nvSpPr>
          <p:cNvPr id="34" name="Doc Topic guides">
            <a:hlinkClick r:id="rId9"/>
          </p:cNvPr>
          <p:cNvSpPr/>
          <p:nvPr/>
        </p:nvSpPr>
        <p:spPr>
          <a:xfrm>
            <a:off x="6210147" y="3954780"/>
            <a:ext cx="2602153" cy="230886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Doc dot Topic guides"/>
          <p:cNvSpPr/>
          <p:nvPr/>
        </p:nvSpPr>
        <p:spPr>
          <a:xfrm>
            <a:off x="6411315" y="4183380"/>
            <a:ext cx="274320" cy="274320"/>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Doc title Topic guides"/>
          <p:cNvSpPr txBox="1"/>
          <p:nvPr/>
        </p:nvSpPr>
        <p:spPr>
          <a:xfrm>
            <a:off x="6804507" y="4137660"/>
            <a:ext cx="1824913" cy="365760"/>
          </a:xfrm>
          <a:prstGeom prst="rect">
            <a:avLst/>
          </a:prstGeom>
          <a:noFill/>
        </p:spPr>
        <p:txBody>
          <a:bodyPr wrap="square" lIns="0" rIns="0" tIns="0" bIns="0" anchor="t">
            <a:spAutoFit/>
          </a:bodyPr>
          <a:lstStyle/>
          <a:p>
            <a:pPr algn="l"/>
            <a:r>
              <a:rPr sz="1700" b="1" i="0">
                <a:solidFill>
                  <a:schemeClr val="tx2"/>
                </a:solidFill>
              </a:rPr>
              <a:t>Topic guides</a:t>
            </a:r>
          </a:p>
        </p:txBody>
      </p:sp>
      <p:sp>
        <p:nvSpPr>
          <p:cNvPr id="37" name="Doc path Topic guides"/>
          <p:cNvSpPr txBox="1"/>
          <p:nvPr/>
        </p:nvSpPr>
        <p:spPr>
          <a:xfrm>
            <a:off x="6411315" y="4686300"/>
            <a:ext cx="2199817" cy="594360"/>
          </a:xfrm>
          <a:prstGeom prst="rect">
            <a:avLst/>
          </a:prstGeom>
          <a:noFill/>
        </p:spPr>
        <p:txBody>
          <a:bodyPr wrap="square" lIns="0" rIns="0" tIns="0" bIns="0" anchor="t">
            <a:spAutoFit/>
          </a:bodyPr>
          <a:lstStyle/>
          <a:p>
            <a:pPr algn="l"/>
            <a:r>
              <a:rPr sz="1200" b="0" i="0">
                <a:solidFill>
                  <a:schemeClr val="accent2">
                    <a:lumMod val="70000"/>
                  </a:schemeClr>
                </a:solidFill>
                <a:latin typeface="Courier New"/>
              </a:rPr>
              <a:t>docs/internals/</a:t>
            </a:r>
          </a:p>
          <a:p>
            <a:pPr algn="l"/>
            <a:r>
              <a:rPr sz="1200" b="0" i="0">
                <a:solidFill>
                  <a:schemeClr val="accent2">
                    <a:lumMod val="70000"/>
                  </a:schemeClr>
                </a:solidFill>
                <a:latin typeface="Courier New"/>
              </a:rPr>
              <a:t>ngspice_internals/</a:t>
            </a:r>
          </a:p>
        </p:txBody>
      </p:sp>
      <p:sp>
        <p:nvSpPr>
          <p:cNvPr id="38" name="Doc text Topic guides"/>
          <p:cNvSpPr txBox="1"/>
          <p:nvPr/>
        </p:nvSpPr>
        <p:spPr>
          <a:xfrm>
            <a:off x="6411315" y="5326380"/>
            <a:ext cx="2199817" cy="754380"/>
          </a:xfrm>
          <a:prstGeom prst="rect">
            <a:avLst/>
          </a:prstGeom>
          <a:noFill/>
        </p:spPr>
        <p:txBody>
          <a:bodyPr wrap="square" lIns="0" rIns="0" tIns="0" bIns="0" anchor="t">
            <a:spAutoFit/>
          </a:bodyPr>
          <a:lstStyle/>
          <a:p>
            <a:pPr algn="l"/>
            <a:r>
              <a:rPr sz="1400" b="0" i="0">
                <a:solidFill>
                  <a:schemeClr val="tx1"/>
                </a:solidFill>
              </a:rPr>
              <a:t>statistics, transient noise, temperature</a:t>
            </a:r>
          </a:p>
        </p:txBody>
      </p:sp>
      <p:sp>
        <p:nvSpPr>
          <p:cNvPr id="39" name="Doc Hunts &amp; proposals">
            <a:hlinkClick r:id="rId10"/>
          </p:cNvPr>
          <p:cNvSpPr/>
          <p:nvPr/>
        </p:nvSpPr>
        <p:spPr>
          <a:xfrm>
            <a:off x="9040901" y="3954780"/>
            <a:ext cx="2602153" cy="230886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Doc dot Hunts &amp; proposals"/>
          <p:cNvSpPr/>
          <p:nvPr/>
        </p:nvSpPr>
        <p:spPr>
          <a:xfrm>
            <a:off x="9242069" y="4183380"/>
            <a:ext cx="274320" cy="274320"/>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Doc title Hunts &amp; proposals"/>
          <p:cNvSpPr txBox="1"/>
          <p:nvPr/>
        </p:nvSpPr>
        <p:spPr>
          <a:xfrm>
            <a:off x="9635261" y="4137660"/>
            <a:ext cx="1824913" cy="365760"/>
          </a:xfrm>
          <a:prstGeom prst="rect">
            <a:avLst/>
          </a:prstGeom>
          <a:noFill/>
        </p:spPr>
        <p:txBody>
          <a:bodyPr wrap="square" lIns="0" rIns="0" tIns="0" bIns="0" anchor="t">
            <a:spAutoFit/>
          </a:bodyPr>
          <a:lstStyle/>
          <a:p>
            <a:pPr algn="l"/>
            <a:r>
              <a:rPr sz="1700" b="1" i="0">
                <a:solidFill>
                  <a:schemeClr val="tx2"/>
                </a:solidFill>
              </a:rPr>
              <a:t>Hunts &amp; proposals</a:t>
            </a:r>
          </a:p>
        </p:txBody>
      </p:sp>
      <p:sp>
        <p:nvSpPr>
          <p:cNvPr id="42" name="Doc path Hunts &amp; proposals"/>
          <p:cNvSpPr txBox="1"/>
          <p:nvPr/>
        </p:nvSpPr>
        <p:spPr>
          <a:xfrm>
            <a:off x="9242069" y="4686300"/>
            <a:ext cx="2199817" cy="594360"/>
          </a:xfrm>
          <a:prstGeom prst="rect">
            <a:avLst/>
          </a:prstGeom>
          <a:noFill/>
        </p:spPr>
        <p:txBody>
          <a:bodyPr wrap="square" lIns="0" rIns="0" tIns="0" bIns="0" anchor="t">
            <a:spAutoFit/>
          </a:bodyPr>
          <a:lstStyle/>
          <a:p>
            <a:pPr algn="l"/>
            <a:r>
              <a:rPr sz="1200" b="0" i="0">
                <a:solidFill>
                  <a:schemeClr val="accent2">
                    <a:lumMod val="70000"/>
                  </a:schemeClr>
                </a:solidFill>
                <a:latin typeface="Courier New"/>
              </a:rPr>
              <a:t>docs/bug_hunts/</a:t>
            </a:r>
          </a:p>
          <a:p>
            <a:pPr algn="l"/>
            <a:r>
              <a:rPr sz="1200" b="0" i="0">
                <a:solidFill>
                  <a:schemeClr val="accent2">
                    <a:lumMod val="70000"/>
                  </a:schemeClr>
                </a:solidFill>
                <a:latin typeface="Courier New"/>
              </a:rPr>
              <a:t>docs/proposals/</a:t>
            </a:r>
          </a:p>
        </p:txBody>
      </p:sp>
      <p:sp>
        <p:nvSpPr>
          <p:cNvPr id="43" name="Doc text Hunts &amp; proposals"/>
          <p:cNvSpPr txBox="1"/>
          <p:nvPr/>
        </p:nvSpPr>
        <p:spPr>
          <a:xfrm>
            <a:off x="9242069" y="5326380"/>
            <a:ext cx="2199817" cy="754380"/>
          </a:xfrm>
          <a:prstGeom prst="rect">
            <a:avLst/>
          </a:prstGeom>
          <a:noFill/>
        </p:spPr>
        <p:txBody>
          <a:bodyPr wrap="square" lIns="0" rIns="0" tIns="0" bIns="0" anchor="t">
            <a:spAutoFit/>
          </a:bodyPr>
          <a:lstStyle/>
          <a:p>
            <a:pPr algn="l"/>
            <a:r>
              <a:rPr sz="1400" b="0" i="0">
                <a:solidFill>
                  <a:schemeClr val="tx1"/>
                </a:solidFill>
              </a:rPr>
              <a:t>49 campaign pages, 7 proposals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One toolchain, verified end to end</a:t>
            </a:r>
          </a:p>
        </p:txBody>
      </p:sp>
      <p:sp>
        <p:nvSpPr>
          <p:cNvPr id="3" name="Subtitle 2">
            <a:hlinkClick r:id="rId3"/>
          </p:cNvPr>
          <p:cNvSpPr>
            <a:spLocks noGrp="1"/>
          </p:cNvSpPr>
          <p:nvPr>
            <p:ph type="subTitle" idx="1"/>
          </p:nvPr>
        </p:nvSpPr>
        <p:spPr/>
        <p:txBody>
          <a:bodyPr/>
          <a:lstStyle/>
          <a:p>
            <a:r>
              <a:t>github.com/javaNoviceProgrammer/</a:t>
            </a:r>
          </a:p>
          <a:p>
            <a:r>
              <a:t>Ngspice_OpenVAF_Enhancements</a:t>
            </a:r>
          </a:p>
        </p:txBody>
      </p:sp>
      <p:sp>
        <p:nvSpPr>
          <p:cNvPr id="4" name="Closing openvaf-r"/>
          <p:cNvSpPr/>
          <p:nvPr/>
        </p:nvSpPr>
        <p:spPr>
          <a:xfrm>
            <a:off x="7315200" y="1783080"/>
            <a:ext cx="4325112" cy="914400"/>
          </a:xfrm>
          <a:prstGeom prst="roundRect">
            <a:avLst>
              <a:gd name="adj" fmla="val 6000"/>
            </a:avLst>
          </a:prstGeom>
          <a:solidFill>
            <a:schemeClr val="tx2">
              <a:lumMod val="88000"/>
              <a:lumOff val="1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Closing title openvaf-r"/>
          <p:cNvSpPr txBox="1"/>
          <p:nvPr/>
        </p:nvSpPr>
        <p:spPr>
          <a:xfrm>
            <a:off x="7543800" y="1874519"/>
            <a:ext cx="3931920" cy="329184"/>
          </a:xfrm>
          <a:prstGeom prst="rect">
            <a:avLst/>
          </a:prstGeom>
          <a:noFill/>
        </p:spPr>
        <p:txBody>
          <a:bodyPr wrap="square" lIns="0" rIns="0" tIns="0" bIns="0" anchor="t">
            <a:spAutoFit/>
          </a:bodyPr>
          <a:lstStyle/>
          <a:p>
            <a:pPr algn="l"/>
            <a:r>
              <a:rPr sz="1700" b="1" i="0">
                <a:solidFill>
                  <a:schemeClr val="accent1"/>
                </a:solidFill>
              </a:rPr>
              <a:t>openvaf-r</a:t>
            </a:r>
          </a:p>
        </p:txBody>
      </p:sp>
      <p:sp>
        <p:nvSpPr>
          <p:cNvPr id="6" name="Closing text openvaf-r"/>
          <p:cNvSpPr txBox="1"/>
          <p:nvPr/>
        </p:nvSpPr>
        <p:spPr>
          <a:xfrm>
            <a:off x="7543800" y="2203704"/>
            <a:ext cx="3931920" cy="457200"/>
          </a:xfrm>
          <a:prstGeom prst="rect">
            <a:avLst/>
          </a:prstGeom>
          <a:noFill/>
        </p:spPr>
        <p:txBody>
          <a:bodyPr wrap="square" lIns="0" rIns="0" tIns="0" bIns="0" anchor="t">
            <a:spAutoFit/>
          </a:bodyPr>
          <a:lstStyle/>
          <a:p>
            <a:pPr algn="l"/>
            <a:r>
              <a:rPr sz="1300" b="0" i="0">
                <a:solidFill>
                  <a:schemeClr val="bg1"/>
                </a:solidFill>
              </a:rPr>
              <a:t>compiles the Verilog-A language: values and derivatives</a:t>
            </a:r>
          </a:p>
        </p:txBody>
      </p:sp>
      <p:sp>
        <p:nvSpPr>
          <p:cNvPr id="7" name="Closing ngspice-46"/>
          <p:cNvSpPr/>
          <p:nvPr/>
        </p:nvSpPr>
        <p:spPr>
          <a:xfrm>
            <a:off x="7315200" y="2880360"/>
            <a:ext cx="4325112" cy="914400"/>
          </a:xfrm>
          <a:prstGeom prst="roundRect">
            <a:avLst>
              <a:gd name="adj" fmla="val 6000"/>
            </a:avLst>
          </a:prstGeom>
          <a:solidFill>
            <a:schemeClr val="tx2">
              <a:lumMod val="88000"/>
              <a:lumOff val="1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losing title ngspice-46"/>
          <p:cNvSpPr txBox="1"/>
          <p:nvPr/>
        </p:nvSpPr>
        <p:spPr>
          <a:xfrm>
            <a:off x="7543800" y="2971800"/>
            <a:ext cx="3931920" cy="329184"/>
          </a:xfrm>
          <a:prstGeom prst="rect">
            <a:avLst/>
          </a:prstGeom>
          <a:noFill/>
        </p:spPr>
        <p:txBody>
          <a:bodyPr wrap="square" lIns="0" rIns="0" tIns="0" bIns="0" anchor="t">
            <a:spAutoFit/>
          </a:bodyPr>
          <a:lstStyle/>
          <a:p>
            <a:pPr algn="l"/>
            <a:r>
              <a:rPr sz="1700" b="1" i="0">
                <a:solidFill>
                  <a:schemeClr val="accent2"/>
                </a:solidFill>
              </a:rPr>
              <a:t>ngspice-46</a:t>
            </a:r>
          </a:p>
        </p:txBody>
      </p:sp>
      <p:sp>
        <p:nvSpPr>
          <p:cNvPr id="9" name="Closing text ngspice-46"/>
          <p:cNvSpPr txBox="1"/>
          <p:nvPr/>
        </p:nvSpPr>
        <p:spPr>
          <a:xfrm>
            <a:off x="7543800" y="3300984"/>
            <a:ext cx="3931920" cy="457200"/>
          </a:xfrm>
          <a:prstGeom prst="rect">
            <a:avLst/>
          </a:prstGeom>
          <a:noFill/>
        </p:spPr>
        <p:txBody>
          <a:bodyPr wrap="square" lIns="0" rIns="0" tIns="0" bIns="0" anchor="t">
            <a:spAutoFit/>
          </a:bodyPr>
          <a:lstStyle/>
          <a:p>
            <a:pPr algn="l"/>
            <a:r>
              <a:rPr sz="1300" b="0" i="0">
                <a:solidFill>
                  <a:schemeClr val="bg1"/>
                </a:solidFill>
              </a:rPr>
              <a:t>runs those models through every analysis, RF and statistics included</a:t>
            </a:r>
          </a:p>
        </p:txBody>
      </p:sp>
      <p:sp>
        <p:nvSpPr>
          <p:cNvPr id="10" name="Closing 596 suites"/>
          <p:cNvSpPr/>
          <p:nvPr/>
        </p:nvSpPr>
        <p:spPr>
          <a:xfrm>
            <a:off x="7315200" y="3977639"/>
            <a:ext cx="4325112" cy="914400"/>
          </a:xfrm>
          <a:prstGeom prst="roundRect">
            <a:avLst>
              <a:gd name="adj" fmla="val 6000"/>
            </a:avLst>
          </a:prstGeom>
          <a:solidFill>
            <a:schemeClr val="tx2">
              <a:lumMod val="88000"/>
              <a:lumOff val="1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Closing title 596 suites"/>
          <p:cNvSpPr txBox="1"/>
          <p:nvPr/>
        </p:nvSpPr>
        <p:spPr>
          <a:xfrm>
            <a:off x="7543800" y="4069079"/>
            <a:ext cx="3931920" cy="329184"/>
          </a:xfrm>
          <a:prstGeom prst="rect">
            <a:avLst/>
          </a:prstGeom>
          <a:noFill/>
        </p:spPr>
        <p:txBody>
          <a:bodyPr wrap="square" lIns="0" rIns="0" tIns="0" bIns="0" anchor="t">
            <a:spAutoFit/>
          </a:bodyPr>
          <a:lstStyle/>
          <a:p>
            <a:pPr algn="l"/>
            <a:r>
              <a:rPr sz="1700" b="1" i="0">
                <a:solidFill>
                  <a:schemeClr val="accent4"/>
                </a:solidFill>
              </a:rPr>
              <a:t>596 suites</a:t>
            </a:r>
          </a:p>
        </p:txBody>
      </p:sp>
      <p:sp>
        <p:nvSpPr>
          <p:cNvPr id="12" name="Closing text 596 suites"/>
          <p:cNvSpPr txBox="1"/>
          <p:nvPr/>
        </p:nvSpPr>
        <p:spPr>
          <a:xfrm>
            <a:off x="7543800" y="4398264"/>
            <a:ext cx="3931920" cy="457200"/>
          </a:xfrm>
          <a:prstGeom prst="rect">
            <a:avLst/>
          </a:prstGeom>
          <a:noFill/>
        </p:spPr>
        <p:txBody>
          <a:bodyPr wrap="square" lIns="0" rIns="0" tIns="0" bIns="0" anchor="t">
            <a:spAutoFit/>
          </a:bodyPr>
          <a:lstStyle/>
          <a:p>
            <a:pPr algn="l"/>
            <a:r>
              <a:rPr sz="1300" b="0" i="0">
                <a:solidFill>
                  <a:schemeClr val="bg1"/>
                </a:solidFill>
              </a:rPr>
              <a:t>and five CI platforms check every change; each change has a write-up</a:t>
            </a:r>
          </a:p>
        </p:txBody>
      </p:sp>
    </p:spTree>
  </p:cSld>
  <p:clrMapOvr>
    <a:masterClrMapping/>
  </p:clrMapOvr>
</p:sld>
</file>

<file path=ppt/theme/theme1.xml><?xml version="1.0" encoding="utf-8"?>
<a:theme xmlns:a="http://schemas.openxmlformats.org/drawingml/2006/main" name="Ngspice OpenVAF">
  <a:themeElements>
    <a:clrScheme name="Ngspice OpenVAF">
      <a:dk1>
        <a:srgbClr val="1B2533"/>
      </a:dk1>
      <a:lt1>
        <a:srgbClr val="FFFFFF"/>
      </a:lt1>
      <a:dk2>
        <a:srgbClr val="0E1A2B"/>
      </a:dk2>
      <a:lt2>
        <a:srgbClr val="EEF2F6"/>
      </a:lt2>
      <a:accent1>
        <a:srgbClr val="00A39A"/>
      </a:accent1>
      <a:accent2>
        <a:srgbClr val="F28C28"/>
      </a:accent2>
      <a:accent3>
        <a:srgbClr val="5B6B7F"/>
      </a:accent3>
      <a:accent4>
        <a:srgbClr val="2E9E5B"/>
      </a:accent4>
      <a:accent5>
        <a:srgbClr val="D64545"/>
      </a:accent5>
      <a:accent6>
        <a:srgbClr val="FFC857"/>
      </a:accent6>
      <a:hlink>
        <a:srgbClr val="007F78"/>
      </a:hlink>
      <a:folHlink>
        <a:srgbClr val="5B6B7F"/>
      </a:folHlink>
    </a:clrScheme>
    <a:fontScheme name="Ngspice OpenVAF">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Enhanced ngspice + openvaf-r: features</dc:title>
  <dc:subject>Every feature of the enhanced ngspice-46 and openvaf-r toolchain</dc:subject>
  <dc:creator>Meisam Bahadori</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